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66" r:id="rId4"/>
    <p:sldId id="258" r:id="rId5"/>
    <p:sldId id="267" r:id="rId6"/>
    <p:sldId id="259" r:id="rId7"/>
    <p:sldId id="261" r:id="rId8"/>
    <p:sldId id="268" r:id="rId9"/>
    <p:sldId id="277" r:id="rId10"/>
    <p:sldId id="276" r:id="rId11"/>
    <p:sldId id="270" r:id="rId12"/>
    <p:sldId id="271" r:id="rId13"/>
    <p:sldId id="273" r:id="rId14"/>
    <p:sldId id="272" r:id="rId15"/>
    <p:sldId id="275" r:id="rId16"/>
    <p:sldId id="274" r:id="rId17"/>
    <p:sldId id="278" r:id="rId18"/>
    <p:sldId id="269" r:id="rId19"/>
    <p:sldId id="281" r:id="rId20"/>
    <p:sldId id="285" r:id="rId21"/>
    <p:sldId id="260" r:id="rId22"/>
    <p:sldId id="282" r:id="rId23"/>
    <p:sldId id="283" r:id="rId24"/>
    <p:sldId id="287" r:id="rId25"/>
    <p:sldId id="291" r:id="rId26"/>
    <p:sldId id="286" r:id="rId27"/>
    <p:sldId id="290" r:id="rId28"/>
    <p:sldId id="265" r:id="rId29"/>
  </p:sldIdLst>
  <p:sldSz cx="18288000" cy="10287000"/>
  <p:notesSz cx="6858000" cy="9144000"/>
  <p:embeddedFontLst>
    <p:embeddedFont>
      <p:font typeface="Bernoru SemiCondensed" panose="020B0604020202020204" charset="0"/>
      <p:regular r:id="rId30"/>
    </p:embeddedFont>
    <p:embeddedFont>
      <p:font typeface="Genty" panose="020B0604020202020204" charset="0"/>
      <p:regular r:id="rId31"/>
    </p:embeddedFont>
    <p:embeddedFont>
      <p:font typeface="Nunito Sans" pitchFamily="2" charset="0"/>
      <p:regular r:id="rId32"/>
      <p:bold r:id="rId33"/>
      <p:italic r:id="rId34"/>
      <p:boldItalic r:id="rId35"/>
    </p:embeddedFont>
    <p:embeddedFont>
      <p:font typeface="Nunito Sans Bold" charset="0"/>
      <p:regular r:id="rId36"/>
      <p:bold r:id="rId37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32067D5-38E3-B3E6-ED59-E793E537973A}" v="8" dt="2025-05-20T17:38:03.584"/>
    <p1510:client id="{AA2E69F8-4E3B-BF3F-8FA1-431BAA3B6397}" v="48" dt="2025-05-20T19:16:44.117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>
        <p:scale>
          <a:sx n="33" d="100"/>
          <a:sy n="33" d="100"/>
        </p:scale>
        <p:origin x="2856" y="1410"/>
      </p:cViewPr>
      <p:guideLst>
        <p:guide orient="horz" pos="2160"/>
        <p:guide pos="288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viewProps" Target="viewProps.xml"/><Relationship Id="rId21" Type="http://schemas.openxmlformats.org/officeDocument/2006/relationships/slide" Target="slides/slide20.xml"/><Relationship Id="rId34" Type="http://schemas.openxmlformats.org/officeDocument/2006/relationships/font" Target="fonts/font5.fntdata"/><Relationship Id="rId42" Type="http://schemas.microsoft.com/office/2016/11/relationships/changesInfo" Target="changesInfos/changesInfo1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slide" Target="slides/slide28.xml"/><Relationship Id="rId41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font" Target="fonts/font3.fntdata"/><Relationship Id="rId37" Type="http://schemas.openxmlformats.org/officeDocument/2006/relationships/font" Target="fonts/font8.fntdata"/><Relationship Id="rId40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font" Target="fonts/font7.fntdata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2.fntdata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font" Target="fonts/font1.fntdata"/><Relationship Id="rId35" Type="http://schemas.openxmlformats.org/officeDocument/2006/relationships/font" Target="fonts/font6.fntdata"/><Relationship Id="rId43" Type="http://schemas.microsoft.com/office/2015/10/relationships/revisionInfo" Target="revisionInfo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font" Target="fonts/font4.fntdata"/><Relationship Id="rId38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ohua Akter" userId="ca2da16246e9bec5" providerId="Windows Live" clId="Web-{AA2E69F8-4E3B-BF3F-8FA1-431BAA3B6397}"/>
    <pc:docChg chg="modSld modMainMaster">
      <pc:chgData name="Mohua Akter" userId="ca2da16246e9bec5" providerId="Windows Live" clId="Web-{AA2E69F8-4E3B-BF3F-8FA1-431BAA3B6397}" dt="2025-05-20T19:16:44.117" v="27"/>
      <pc:docMkLst>
        <pc:docMk/>
      </pc:docMkLst>
      <pc:sldChg chg="modTransition">
        <pc:chgData name="Mohua Akter" userId="ca2da16246e9bec5" providerId="Windows Live" clId="Web-{AA2E69F8-4E3B-BF3F-8FA1-431BAA3B6397}" dt="2025-05-20T19:16:44.117" v="27"/>
        <pc:sldMkLst>
          <pc:docMk/>
          <pc:sldMk cId="0" sldId="256"/>
        </pc:sldMkLst>
      </pc:sldChg>
      <pc:sldChg chg="modTransition">
        <pc:chgData name="Mohua Akter" userId="ca2da16246e9bec5" providerId="Windows Live" clId="Web-{AA2E69F8-4E3B-BF3F-8FA1-431BAA3B6397}" dt="2025-05-20T19:16:44.117" v="27"/>
        <pc:sldMkLst>
          <pc:docMk/>
          <pc:sldMk cId="0" sldId="257"/>
        </pc:sldMkLst>
      </pc:sldChg>
      <pc:sldChg chg="modTransition">
        <pc:chgData name="Mohua Akter" userId="ca2da16246e9bec5" providerId="Windows Live" clId="Web-{AA2E69F8-4E3B-BF3F-8FA1-431BAA3B6397}" dt="2025-05-20T19:16:44.117" v="27"/>
        <pc:sldMkLst>
          <pc:docMk/>
          <pc:sldMk cId="0" sldId="258"/>
        </pc:sldMkLst>
      </pc:sldChg>
      <pc:sldChg chg="modTransition">
        <pc:chgData name="Mohua Akter" userId="ca2da16246e9bec5" providerId="Windows Live" clId="Web-{AA2E69F8-4E3B-BF3F-8FA1-431BAA3B6397}" dt="2025-05-20T19:16:44.117" v="27"/>
        <pc:sldMkLst>
          <pc:docMk/>
          <pc:sldMk cId="0" sldId="259"/>
        </pc:sldMkLst>
      </pc:sldChg>
      <pc:sldChg chg="modTransition">
        <pc:chgData name="Mohua Akter" userId="ca2da16246e9bec5" providerId="Windows Live" clId="Web-{AA2E69F8-4E3B-BF3F-8FA1-431BAA3B6397}" dt="2025-05-20T19:16:44.117" v="27"/>
        <pc:sldMkLst>
          <pc:docMk/>
          <pc:sldMk cId="0" sldId="260"/>
        </pc:sldMkLst>
      </pc:sldChg>
      <pc:sldChg chg="modTransition">
        <pc:chgData name="Mohua Akter" userId="ca2da16246e9bec5" providerId="Windows Live" clId="Web-{AA2E69F8-4E3B-BF3F-8FA1-431BAA3B6397}" dt="2025-05-20T19:16:44.117" v="27"/>
        <pc:sldMkLst>
          <pc:docMk/>
          <pc:sldMk cId="0" sldId="261"/>
        </pc:sldMkLst>
      </pc:sldChg>
      <pc:sldChg chg="modTransition">
        <pc:chgData name="Mohua Akter" userId="ca2da16246e9bec5" providerId="Windows Live" clId="Web-{AA2E69F8-4E3B-BF3F-8FA1-431BAA3B6397}" dt="2025-05-20T19:16:44.117" v="27"/>
        <pc:sldMkLst>
          <pc:docMk/>
          <pc:sldMk cId="0" sldId="265"/>
        </pc:sldMkLst>
      </pc:sldChg>
      <pc:sldChg chg="modTransition">
        <pc:chgData name="Mohua Akter" userId="ca2da16246e9bec5" providerId="Windows Live" clId="Web-{AA2E69F8-4E3B-BF3F-8FA1-431BAA3B6397}" dt="2025-05-20T19:16:44.117" v="27"/>
        <pc:sldMkLst>
          <pc:docMk/>
          <pc:sldMk cId="400510105" sldId="266"/>
        </pc:sldMkLst>
      </pc:sldChg>
      <pc:sldChg chg="modTransition">
        <pc:chgData name="Mohua Akter" userId="ca2da16246e9bec5" providerId="Windows Live" clId="Web-{AA2E69F8-4E3B-BF3F-8FA1-431BAA3B6397}" dt="2025-05-20T19:16:44.117" v="27"/>
        <pc:sldMkLst>
          <pc:docMk/>
          <pc:sldMk cId="3918894648" sldId="267"/>
        </pc:sldMkLst>
      </pc:sldChg>
      <pc:sldChg chg="modTransition">
        <pc:chgData name="Mohua Akter" userId="ca2da16246e9bec5" providerId="Windows Live" clId="Web-{AA2E69F8-4E3B-BF3F-8FA1-431BAA3B6397}" dt="2025-05-20T19:16:44.117" v="27"/>
        <pc:sldMkLst>
          <pc:docMk/>
          <pc:sldMk cId="1552801738" sldId="268"/>
        </pc:sldMkLst>
      </pc:sldChg>
      <pc:sldChg chg="modTransition">
        <pc:chgData name="Mohua Akter" userId="ca2da16246e9bec5" providerId="Windows Live" clId="Web-{AA2E69F8-4E3B-BF3F-8FA1-431BAA3B6397}" dt="2025-05-20T19:16:44.117" v="27"/>
        <pc:sldMkLst>
          <pc:docMk/>
          <pc:sldMk cId="1760507516" sldId="269"/>
        </pc:sldMkLst>
      </pc:sldChg>
      <pc:sldChg chg="modSp modTransition">
        <pc:chgData name="Mohua Akter" userId="ca2da16246e9bec5" providerId="Windows Live" clId="Web-{AA2E69F8-4E3B-BF3F-8FA1-431BAA3B6397}" dt="2025-05-20T19:16:44.117" v="27"/>
        <pc:sldMkLst>
          <pc:docMk/>
          <pc:sldMk cId="1764878852" sldId="270"/>
        </pc:sldMkLst>
        <pc:spChg chg="mod">
          <ac:chgData name="Mohua Akter" userId="ca2da16246e9bec5" providerId="Windows Live" clId="Web-{AA2E69F8-4E3B-BF3F-8FA1-431BAA3B6397}" dt="2025-05-20T19:15:22.241" v="6" actId="20577"/>
          <ac:spMkLst>
            <pc:docMk/>
            <pc:sldMk cId="1764878852" sldId="270"/>
            <ac:spMk id="9" creationId="{E11DE819-A280-E1E3-3546-941A54B43DDA}"/>
          </ac:spMkLst>
        </pc:spChg>
      </pc:sldChg>
      <pc:sldChg chg="modSp modTransition">
        <pc:chgData name="Mohua Akter" userId="ca2da16246e9bec5" providerId="Windows Live" clId="Web-{AA2E69F8-4E3B-BF3F-8FA1-431BAA3B6397}" dt="2025-05-20T19:16:44.117" v="27"/>
        <pc:sldMkLst>
          <pc:docMk/>
          <pc:sldMk cId="4122702217" sldId="271"/>
        </pc:sldMkLst>
        <pc:spChg chg="mod">
          <ac:chgData name="Mohua Akter" userId="ca2da16246e9bec5" providerId="Windows Live" clId="Web-{AA2E69F8-4E3B-BF3F-8FA1-431BAA3B6397}" dt="2025-05-20T19:15:30.569" v="8" actId="20577"/>
          <ac:spMkLst>
            <pc:docMk/>
            <pc:sldMk cId="4122702217" sldId="271"/>
            <ac:spMk id="9" creationId="{17718FB1-EFA5-8271-E1E2-F5D967BCBA27}"/>
          </ac:spMkLst>
        </pc:spChg>
      </pc:sldChg>
      <pc:sldChg chg="modSp modTransition">
        <pc:chgData name="Mohua Akter" userId="ca2da16246e9bec5" providerId="Windows Live" clId="Web-{AA2E69F8-4E3B-BF3F-8FA1-431BAA3B6397}" dt="2025-05-20T19:16:44.117" v="27"/>
        <pc:sldMkLst>
          <pc:docMk/>
          <pc:sldMk cId="3894032989" sldId="272"/>
        </pc:sldMkLst>
        <pc:spChg chg="mod">
          <ac:chgData name="Mohua Akter" userId="ca2da16246e9bec5" providerId="Windows Live" clId="Web-{AA2E69F8-4E3B-BF3F-8FA1-431BAA3B6397}" dt="2025-05-20T19:15:48.288" v="12" actId="20577"/>
          <ac:spMkLst>
            <pc:docMk/>
            <pc:sldMk cId="3894032989" sldId="272"/>
            <ac:spMk id="9" creationId="{F072CB69-4845-9285-6C56-E6559BE0336C}"/>
          </ac:spMkLst>
        </pc:spChg>
      </pc:sldChg>
      <pc:sldChg chg="modSp modTransition">
        <pc:chgData name="Mohua Akter" userId="ca2da16246e9bec5" providerId="Windows Live" clId="Web-{AA2E69F8-4E3B-BF3F-8FA1-431BAA3B6397}" dt="2025-05-20T19:16:44.117" v="27"/>
        <pc:sldMkLst>
          <pc:docMk/>
          <pc:sldMk cId="3099433775" sldId="273"/>
        </pc:sldMkLst>
        <pc:spChg chg="mod">
          <ac:chgData name="Mohua Akter" userId="ca2da16246e9bec5" providerId="Windows Live" clId="Web-{AA2E69F8-4E3B-BF3F-8FA1-431BAA3B6397}" dt="2025-05-20T19:15:38.835" v="10" actId="20577"/>
          <ac:spMkLst>
            <pc:docMk/>
            <pc:sldMk cId="3099433775" sldId="273"/>
            <ac:spMk id="11" creationId="{23A4F0E8-F5B4-4186-E2E0-033855EFE7FD}"/>
          </ac:spMkLst>
        </pc:spChg>
      </pc:sldChg>
      <pc:sldChg chg="modSp modTransition">
        <pc:chgData name="Mohua Akter" userId="ca2da16246e9bec5" providerId="Windows Live" clId="Web-{AA2E69F8-4E3B-BF3F-8FA1-431BAA3B6397}" dt="2025-05-20T19:16:44.117" v="27"/>
        <pc:sldMkLst>
          <pc:docMk/>
          <pc:sldMk cId="1699309968" sldId="274"/>
        </pc:sldMkLst>
        <pc:spChg chg="mod">
          <ac:chgData name="Mohua Akter" userId="ca2da16246e9bec5" providerId="Windows Live" clId="Web-{AA2E69F8-4E3B-BF3F-8FA1-431BAA3B6397}" dt="2025-05-20T19:16:03.648" v="17" actId="20577"/>
          <ac:spMkLst>
            <pc:docMk/>
            <pc:sldMk cId="1699309968" sldId="274"/>
            <ac:spMk id="9" creationId="{47D331B3-0EB6-C81A-BD9F-30B57FE03F5D}"/>
          </ac:spMkLst>
        </pc:spChg>
      </pc:sldChg>
      <pc:sldChg chg="modSp modTransition">
        <pc:chgData name="Mohua Akter" userId="ca2da16246e9bec5" providerId="Windows Live" clId="Web-{AA2E69F8-4E3B-BF3F-8FA1-431BAA3B6397}" dt="2025-05-20T19:16:44.117" v="27"/>
        <pc:sldMkLst>
          <pc:docMk/>
          <pc:sldMk cId="3856285951" sldId="275"/>
        </pc:sldMkLst>
        <pc:spChg chg="mod">
          <ac:chgData name="Mohua Akter" userId="ca2da16246e9bec5" providerId="Windows Live" clId="Web-{AA2E69F8-4E3B-BF3F-8FA1-431BAA3B6397}" dt="2025-05-20T19:15:56.101" v="14" actId="20577"/>
          <ac:spMkLst>
            <pc:docMk/>
            <pc:sldMk cId="3856285951" sldId="275"/>
            <ac:spMk id="9" creationId="{5F6CDEE7-1B7B-8097-B52D-A02CE723F690}"/>
          </ac:spMkLst>
        </pc:spChg>
      </pc:sldChg>
      <pc:sldChg chg="modSp modTransition">
        <pc:chgData name="Mohua Akter" userId="ca2da16246e9bec5" providerId="Windows Live" clId="Web-{AA2E69F8-4E3B-BF3F-8FA1-431BAA3B6397}" dt="2025-05-20T19:16:44.117" v="27"/>
        <pc:sldMkLst>
          <pc:docMk/>
          <pc:sldMk cId="1751228965" sldId="276"/>
        </pc:sldMkLst>
        <pc:spChg chg="mod">
          <ac:chgData name="Mohua Akter" userId="ca2da16246e9bec5" providerId="Windows Live" clId="Web-{AA2E69F8-4E3B-BF3F-8FA1-431BAA3B6397}" dt="2025-05-20T19:15:10.913" v="3" actId="20577"/>
          <ac:spMkLst>
            <pc:docMk/>
            <pc:sldMk cId="1751228965" sldId="276"/>
            <ac:spMk id="9" creationId="{159584F9-2DE8-A43C-AB6D-773C30DB372D}"/>
          </ac:spMkLst>
        </pc:spChg>
      </pc:sldChg>
      <pc:sldChg chg="modSp modTransition">
        <pc:chgData name="Mohua Akter" userId="ca2da16246e9bec5" providerId="Windows Live" clId="Web-{AA2E69F8-4E3B-BF3F-8FA1-431BAA3B6397}" dt="2025-05-20T19:16:44.117" v="27"/>
        <pc:sldMkLst>
          <pc:docMk/>
          <pc:sldMk cId="691079443" sldId="277"/>
        </pc:sldMkLst>
        <pc:spChg chg="mod">
          <ac:chgData name="Mohua Akter" userId="ca2da16246e9bec5" providerId="Windows Live" clId="Web-{AA2E69F8-4E3B-BF3F-8FA1-431BAA3B6397}" dt="2025-05-20T19:15:05.444" v="1" actId="20577"/>
          <ac:spMkLst>
            <pc:docMk/>
            <pc:sldMk cId="691079443" sldId="277"/>
            <ac:spMk id="9" creationId="{04940C59-08CA-1C71-0010-302F7264E19D}"/>
          </ac:spMkLst>
        </pc:spChg>
      </pc:sldChg>
      <pc:sldChg chg="modTransition">
        <pc:chgData name="Mohua Akter" userId="ca2da16246e9bec5" providerId="Windows Live" clId="Web-{AA2E69F8-4E3B-BF3F-8FA1-431BAA3B6397}" dt="2025-05-20T19:16:44.117" v="27"/>
        <pc:sldMkLst>
          <pc:docMk/>
          <pc:sldMk cId="4164496090" sldId="278"/>
        </pc:sldMkLst>
      </pc:sldChg>
      <pc:sldChg chg="modTransition">
        <pc:chgData name="Mohua Akter" userId="ca2da16246e9bec5" providerId="Windows Live" clId="Web-{AA2E69F8-4E3B-BF3F-8FA1-431BAA3B6397}" dt="2025-05-20T19:16:44.117" v="27"/>
        <pc:sldMkLst>
          <pc:docMk/>
          <pc:sldMk cId="3715888412" sldId="281"/>
        </pc:sldMkLst>
      </pc:sldChg>
      <pc:sldChg chg="modTransition">
        <pc:chgData name="Mohua Akter" userId="ca2da16246e9bec5" providerId="Windows Live" clId="Web-{AA2E69F8-4E3B-BF3F-8FA1-431BAA3B6397}" dt="2025-05-20T19:16:44.117" v="27"/>
        <pc:sldMkLst>
          <pc:docMk/>
          <pc:sldMk cId="2663577565" sldId="282"/>
        </pc:sldMkLst>
      </pc:sldChg>
      <pc:sldChg chg="modTransition">
        <pc:chgData name="Mohua Akter" userId="ca2da16246e9bec5" providerId="Windows Live" clId="Web-{AA2E69F8-4E3B-BF3F-8FA1-431BAA3B6397}" dt="2025-05-20T19:16:44.117" v="27"/>
        <pc:sldMkLst>
          <pc:docMk/>
          <pc:sldMk cId="130260468" sldId="283"/>
        </pc:sldMkLst>
      </pc:sldChg>
      <pc:sldChg chg="modTransition">
        <pc:chgData name="Mohua Akter" userId="ca2da16246e9bec5" providerId="Windows Live" clId="Web-{AA2E69F8-4E3B-BF3F-8FA1-431BAA3B6397}" dt="2025-05-20T19:16:44.117" v="27"/>
        <pc:sldMkLst>
          <pc:docMk/>
          <pc:sldMk cId="1508899096" sldId="285"/>
        </pc:sldMkLst>
      </pc:sldChg>
      <pc:sldChg chg="modTransition">
        <pc:chgData name="Mohua Akter" userId="ca2da16246e9bec5" providerId="Windows Live" clId="Web-{AA2E69F8-4E3B-BF3F-8FA1-431BAA3B6397}" dt="2025-05-20T19:16:44.117" v="27"/>
        <pc:sldMkLst>
          <pc:docMk/>
          <pc:sldMk cId="420463881" sldId="286"/>
        </pc:sldMkLst>
      </pc:sldChg>
      <pc:sldChg chg="modTransition">
        <pc:chgData name="Mohua Akter" userId="ca2da16246e9bec5" providerId="Windows Live" clId="Web-{AA2E69F8-4E3B-BF3F-8FA1-431BAA3B6397}" dt="2025-05-20T19:16:44.117" v="27"/>
        <pc:sldMkLst>
          <pc:docMk/>
          <pc:sldMk cId="2470879709" sldId="287"/>
        </pc:sldMkLst>
      </pc:sldChg>
      <pc:sldChg chg="modSp modTransition">
        <pc:chgData name="Mohua Akter" userId="ca2da16246e9bec5" providerId="Windows Live" clId="Web-{AA2E69F8-4E3B-BF3F-8FA1-431BAA3B6397}" dt="2025-05-20T19:16:44.117" v="27"/>
        <pc:sldMkLst>
          <pc:docMk/>
          <pc:sldMk cId="936213044" sldId="290"/>
        </pc:sldMkLst>
        <pc:spChg chg="mod">
          <ac:chgData name="Mohua Akter" userId="ca2da16246e9bec5" providerId="Windows Live" clId="Web-{AA2E69F8-4E3B-BF3F-8FA1-431BAA3B6397}" dt="2025-05-20T19:16:25.398" v="20" actId="20577"/>
          <ac:spMkLst>
            <pc:docMk/>
            <pc:sldMk cId="936213044" sldId="290"/>
            <ac:spMk id="3" creationId="{B98DFAA8-C8B1-F869-78D0-7DBD43841446}"/>
          </ac:spMkLst>
        </pc:spChg>
      </pc:sldChg>
      <pc:sldMasterChg chg="modTransition modSldLayout">
        <pc:chgData name="Mohua Akter" userId="ca2da16246e9bec5" providerId="Windows Live" clId="Web-{AA2E69F8-4E3B-BF3F-8FA1-431BAA3B6397}" dt="2025-05-20T19:16:44.117" v="27"/>
        <pc:sldMasterMkLst>
          <pc:docMk/>
          <pc:sldMasterMk cId="0" sldId="2147483648"/>
        </pc:sldMasterMkLst>
        <pc:sldLayoutChg chg="modTransition">
          <pc:chgData name="Mohua Akter" userId="ca2da16246e9bec5" providerId="Windows Live" clId="Web-{AA2E69F8-4E3B-BF3F-8FA1-431BAA3B6397}" dt="2025-05-20T19:16:44.117" v="27"/>
          <pc:sldLayoutMkLst>
            <pc:docMk/>
            <pc:sldMasterMk cId="0" sldId="2147483648"/>
            <pc:sldLayoutMk cId="0" sldId="2147483649"/>
          </pc:sldLayoutMkLst>
        </pc:sldLayoutChg>
        <pc:sldLayoutChg chg="modTransition">
          <pc:chgData name="Mohua Akter" userId="ca2da16246e9bec5" providerId="Windows Live" clId="Web-{AA2E69F8-4E3B-BF3F-8FA1-431BAA3B6397}" dt="2025-05-20T19:16:44.117" v="27"/>
          <pc:sldLayoutMkLst>
            <pc:docMk/>
            <pc:sldMasterMk cId="0" sldId="2147483648"/>
            <pc:sldLayoutMk cId="0" sldId="2147483650"/>
          </pc:sldLayoutMkLst>
        </pc:sldLayoutChg>
        <pc:sldLayoutChg chg="modTransition">
          <pc:chgData name="Mohua Akter" userId="ca2da16246e9bec5" providerId="Windows Live" clId="Web-{AA2E69F8-4E3B-BF3F-8FA1-431BAA3B6397}" dt="2025-05-20T19:16:44.117" v="27"/>
          <pc:sldLayoutMkLst>
            <pc:docMk/>
            <pc:sldMasterMk cId="0" sldId="2147483648"/>
            <pc:sldLayoutMk cId="0" sldId="2147483651"/>
          </pc:sldLayoutMkLst>
        </pc:sldLayoutChg>
        <pc:sldLayoutChg chg="modTransition">
          <pc:chgData name="Mohua Akter" userId="ca2da16246e9bec5" providerId="Windows Live" clId="Web-{AA2E69F8-4E3B-BF3F-8FA1-431BAA3B6397}" dt="2025-05-20T19:16:44.117" v="27"/>
          <pc:sldLayoutMkLst>
            <pc:docMk/>
            <pc:sldMasterMk cId="0" sldId="2147483648"/>
            <pc:sldLayoutMk cId="0" sldId="2147483652"/>
          </pc:sldLayoutMkLst>
        </pc:sldLayoutChg>
        <pc:sldLayoutChg chg="modTransition">
          <pc:chgData name="Mohua Akter" userId="ca2da16246e9bec5" providerId="Windows Live" clId="Web-{AA2E69F8-4E3B-BF3F-8FA1-431BAA3B6397}" dt="2025-05-20T19:16:44.117" v="27"/>
          <pc:sldLayoutMkLst>
            <pc:docMk/>
            <pc:sldMasterMk cId="0" sldId="2147483648"/>
            <pc:sldLayoutMk cId="0" sldId="2147483653"/>
          </pc:sldLayoutMkLst>
        </pc:sldLayoutChg>
        <pc:sldLayoutChg chg="modTransition">
          <pc:chgData name="Mohua Akter" userId="ca2da16246e9bec5" providerId="Windows Live" clId="Web-{AA2E69F8-4E3B-BF3F-8FA1-431BAA3B6397}" dt="2025-05-20T19:16:44.117" v="27"/>
          <pc:sldLayoutMkLst>
            <pc:docMk/>
            <pc:sldMasterMk cId="0" sldId="2147483648"/>
            <pc:sldLayoutMk cId="0" sldId="2147483654"/>
          </pc:sldLayoutMkLst>
        </pc:sldLayoutChg>
        <pc:sldLayoutChg chg="modTransition">
          <pc:chgData name="Mohua Akter" userId="ca2da16246e9bec5" providerId="Windows Live" clId="Web-{AA2E69F8-4E3B-BF3F-8FA1-431BAA3B6397}" dt="2025-05-20T19:16:44.117" v="27"/>
          <pc:sldLayoutMkLst>
            <pc:docMk/>
            <pc:sldMasterMk cId="0" sldId="2147483648"/>
            <pc:sldLayoutMk cId="0" sldId="2147483655"/>
          </pc:sldLayoutMkLst>
        </pc:sldLayoutChg>
        <pc:sldLayoutChg chg="modTransition">
          <pc:chgData name="Mohua Akter" userId="ca2da16246e9bec5" providerId="Windows Live" clId="Web-{AA2E69F8-4E3B-BF3F-8FA1-431BAA3B6397}" dt="2025-05-20T19:16:44.117" v="27"/>
          <pc:sldLayoutMkLst>
            <pc:docMk/>
            <pc:sldMasterMk cId="0" sldId="2147483648"/>
            <pc:sldLayoutMk cId="0" sldId="2147483656"/>
          </pc:sldLayoutMkLst>
        </pc:sldLayoutChg>
        <pc:sldLayoutChg chg="modTransition">
          <pc:chgData name="Mohua Akter" userId="ca2da16246e9bec5" providerId="Windows Live" clId="Web-{AA2E69F8-4E3B-BF3F-8FA1-431BAA3B6397}" dt="2025-05-20T19:16:44.117" v="27"/>
          <pc:sldLayoutMkLst>
            <pc:docMk/>
            <pc:sldMasterMk cId="0" sldId="2147483648"/>
            <pc:sldLayoutMk cId="0" sldId="2147483657"/>
          </pc:sldLayoutMkLst>
        </pc:sldLayoutChg>
        <pc:sldLayoutChg chg="modTransition">
          <pc:chgData name="Mohua Akter" userId="ca2da16246e9bec5" providerId="Windows Live" clId="Web-{AA2E69F8-4E3B-BF3F-8FA1-431BAA3B6397}" dt="2025-05-20T19:16:44.117" v="27"/>
          <pc:sldLayoutMkLst>
            <pc:docMk/>
            <pc:sldMasterMk cId="0" sldId="2147483648"/>
            <pc:sldLayoutMk cId="0" sldId="2147483658"/>
          </pc:sldLayoutMkLst>
        </pc:sldLayoutChg>
        <pc:sldLayoutChg chg="modTransition">
          <pc:chgData name="Mohua Akter" userId="ca2da16246e9bec5" providerId="Windows Live" clId="Web-{AA2E69F8-4E3B-BF3F-8FA1-431BAA3B6397}" dt="2025-05-20T19:16:44.117" v="27"/>
          <pc:sldLayoutMkLst>
            <pc:docMk/>
            <pc:sldMasterMk cId="0" sldId="2147483648"/>
            <pc:sldLayoutMk cId="0" sldId="2147483659"/>
          </pc:sldLayoutMkLst>
        </pc:sldLayoutChg>
      </pc:sldMaster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5/21/2025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5/21/2025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5/21/2025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4.sv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sv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.svg"/><Relationship Id="rId5" Type="http://schemas.openxmlformats.org/officeDocument/2006/relationships/image" Target="../media/image1.png"/><Relationship Id="rId4" Type="http://schemas.openxmlformats.org/officeDocument/2006/relationships/image" Target="../media/image7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svg"/><Relationship Id="rId5" Type="http://schemas.openxmlformats.org/officeDocument/2006/relationships/image" Target="../media/image5.png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1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2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5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6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7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8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9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0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1.png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22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4.png"/><Relationship Id="rId2" Type="http://schemas.openxmlformats.org/officeDocument/2006/relationships/image" Target="../media/image23.pn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2.svg"/><Relationship Id="rId4" Type="http://schemas.openxmlformats.org/officeDocument/2006/relationships/image" Target="../media/image1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6.png"/><Relationship Id="rId2" Type="http://schemas.openxmlformats.org/officeDocument/2006/relationships/image" Target="../media/image25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8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pn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2.png"/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33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DF8F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496122" y="5893371"/>
            <a:ext cx="8424068" cy="8413538"/>
          </a:xfrm>
          <a:custGeom>
            <a:avLst/>
            <a:gdLst/>
            <a:ahLst/>
            <a:cxnLst/>
            <a:rect l="l" t="t" r="r" b="b"/>
            <a:pathLst>
              <a:path w="8424068" h="8413538">
                <a:moveTo>
                  <a:pt x="0" y="0"/>
                </a:moveTo>
                <a:lnTo>
                  <a:pt x="8424069" y="0"/>
                </a:lnTo>
                <a:lnTo>
                  <a:pt x="8424069" y="8413539"/>
                </a:lnTo>
                <a:lnTo>
                  <a:pt x="0" y="84135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4467281" y="-4422038"/>
            <a:ext cx="8424068" cy="8413538"/>
          </a:xfrm>
          <a:custGeom>
            <a:avLst/>
            <a:gdLst/>
            <a:ahLst/>
            <a:cxnLst/>
            <a:rect l="l" t="t" r="r" b="b"/>
            <a:pathLst>
              <a:path w="8424068" h="8413538">
                <a:moveTo>
                  <a:pt x="0" y="0"/>
                </a:moveTo>
                <a:lnTo>
                  <a:pt x="8424069" y="0"/>
                </a:lnTo>
                <a:lnTo>
                  <a:pt x="8424069" y="8413539"/>
                </a:lnTo>
                <a:lnTo>
                  <a:pt x="0" y="84135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028700" y="2809631"/>
            <a:ext cx="16230600" cy="444286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040"/>
              </a:lnSpc>
            </a:pPr>
            <a:r>
              <a:rPr lang="en-US" sz="17040">
                <a:solidFill>
                  <a:srgbClr val="051D40"/>
                </a:solidFill>
                <a:latin typeface="Bernoru SemiCondensed"/>
                <a:ea typeface="Bernoru SemiCondensed"/>
                <a:cs typeface="Bernoru SemiCondensed"/>
                <a:sym typeface="Bernoru SemiCondensed"/>
              </a:rPr>
              <a:t>Stack machine ISA</a:t>
            </a:r>
          </a:p>
        </p:txBody>
      </p:sp>
      <p:sp>
        <p:nvSpPr>
          <p:cNvPr id="5" name="Freeform 5"/>
          <p:cNvSpPr/>
          <p:nvPr/>
        </p:nvSpPr>
        <p:spPr>
          <a:xfrm>
            <a:off x="10889800" y="-6615186"/>
            <a:ext cx="8424068" cy="8413538"/>
          </a:xfrm>
          <a:custGeom>
            <a:avLst/>
            <a:gdLst/>
            <a:ahLst/>
            <a:cxnLst/>
            <a:rect l="l" t="t" r="r" b="b"/>
            <a:pathLst>
              <a:path w="8424068" h="8413538">
                <a:moveTo>
                  <a:pt x="0" y="0"/>
                </a:moveTo>
                <a:lnTo>
                  <a:pt x="8424069" y="0"/>
                </a:lnTo>
                <a:lnTo>
                  <a:pt x="8424069" y="8413539"/>
                </a:lnTo>
                <a:lnTo>
                  <a:pt x="0" y="84135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6"/>
          <p:cNvSpPr/>
          <p:nvPr/>
        </p:nvSpPr>
        <p:spPr>
          <a:xfrm>
            <a:off x="11077100" y="5018547"/>
            <a:ext cx="1479249" cy="1749649"/>
          </a:xfrm>
          <a:custGeom>
            <a:avLst/>
            <a:gdLst/>
            <a:ahLst/>
            <a:cxnLst/>
            <a:rect l="l" t="t" r="r" b="b"/>
            <a:pathLst>
              <a:path w="1479249" h="1749649">
                <a:moveTo>
                  <a:pt x="0" y="0"/>
                </a:moveTo>
                <a:lnTo>
                  <a:pt x="1479248" y="0"/>
                </a:lnTo>
                <a:lnTo>
                  <a:pt x="1479248" y="1749649"/>
                </a:lnTo>
                <a:lnTo>
                  <a:pt x="0" y="174964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7"/>
          <p:cNvSpPr txBox="1"/>
          <p:nvPr/>
        </p:nvSpPr>
        <p:spPr>
          <a:xfrm>
            <a:off x="1222668" y="7376319"/>
            <a:ext cx="14542655" cy="224535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99"/>
              </a:lnSpc>
            </a:pPr>
            <a:r>
              <a:rPr lang="en-US" sz="5999">
                <a:solidFill>
                  <a:srgbClr val="051D40"/>
                </a:solidFill>
                <a:latin typeface="Nunito Sans"/>
                <a:ea typeface="Nunito Sans"/>
                <a:cs typeface="Nunito Sans"/>
                <a:sym typeface="Nunito Sans"/>
              </a:rPr>
              <a:t>CSE360 - Computer architecture</a:t>
            </a:r>
          </a:p>
          <a:p>
            <a:pPr algn="ctr">
              <a:lnSpc>
                <a:spcPts val="5799"/>
              </a:lnSpc>
            </a:pPr>
            <a:r>
              <a:rPr lang="en-US" sz="5799" b="1">
                <a:solidFill>
                  <a:srgbClr val="B1D4E0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Spring - 2025</a:t>
            </a:r>
          </a:p>
          <a:p>
            <a:pPr algn="ctr">
              <a:lnSpc>
                <a:spcPts val="5799"/>
              </a:lnSpc>
            </a:pPr>
            <a:r>
              <a:rPr lang="en-US" sz="5799" b="1">
                <a:solidFill>
                  <a:srgbClr val="051D40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 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4884235" y="844762"/>
            <a:ext cx="8424068" cy="8413538"/>
          </a:xfrm>
          <a:custGeom>
            <a:avLst/>
            <a:gdLst/>
            <a:ahLst/>
            <a:cxnLst/>
            <a:rect l="l" t="t" r="r" b="b"/>
            <a:pathLst>
              <a:path w="8424068" h="8413538">
                <a:moveTo>
                  <a:pt x="0" y="0"/>
                </a:moveTo>
                <a:lnTo>
                  <a:pt x="8424068" y="0"/>
                </a:lnTo>
                <a:lnTo>
                  <a:pt x="8424068" y="8413538"/>
                </a:lnTo>
                <a:lnTo>
                  <a:pt x="0" y="84135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3221905" y="-5267359"/>
            <a:ext cx="7766021" cy="7756313"/>
          </a:xfrm>
          <a:custGeom>
            <a:avLst/>
            <a:gdLst/>
            <a:ahLst/>
            <a:cxnLst/>
            <a:rect l="l" t="t" r="r" b="b"/>
            <a:pathLst>
              <a:path w="7766021" h="7756313">
                <a:moveTo>
                  <a:pt x="0" y="0"/>
                </a:moveTo>
                <a:lnTo>
                  <a:pt x="7766021" y="0"/>
                </a:lnTo>
                <a:lnTo>
                  <a:pt x="7766021" y="7756313"/>
                </a:lnTo>
                <a:lnTo>
                  <a:pt x="0" y="77563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440345" y="2100833"/>
            <a:ext cx="7220107" cy="2051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54"/>
              </a:lnSpc>
            </a:pPr>
            <a:r>
              <a:rPr lang="en-US" sz="7854">
                <a:solidFill>
                  <a:srgbClr val="051D40"/>
                </a:solidFill>
                <a:latin typeface="Bernoru SemiCondensed"/>
                <a:ea typeface="Bernoru SemiCondensed"/>
                <a:cs typeface="Bernoru SemiCondensed"/>
                <a:sym typeface="Bernoru SemiCondensed"/>
              </a:rPr>
              <a:t>Group - 07</a:t>
            </a:r>
          </a:p>
          <a:p>
            <a:pPr algn="ctr">
              <a:lnSpc>
                <a:spcPts val="7854"/>
              </a:lnSpc>
            </a:pPr>
            <a:endParaRPr lang="en-US" sz="7854">
              <a:solidFill>
                <a:srgbClr val="051D40"/>
              </a:solidFill>
              <a:latin typeface="Bernoru SemiCondensed"/>
              <a:ea typeface="Bernoru SemiCondensed"/>
              <a:cs typeface="Bernoru SemiCondensed"/>
              <a:sym typeface="Bernoru SemiCondensed"/>
            </a:endParaRPr>
          </a:p>
        </p:txBody>
      </p:sp>
      <p:sp>
        <p:nvSpPr>
          <p:cNvPr id="5" name="TextBox 5"/>
          <p:cNvSpPr txBox="1"/>
          <p:nvPr/>
        </p:nvSpPr>
        <p:spPr>
          <a:xfrm>
            <a:off x="1858206" y="7591425"/>
            <a:ext cx="12159876" cy="16668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4919"/>
              </a:lnSpc>
            </a:pPr>
            <a:r>
              <a:rPr lang="en-US" sz="4099" b="1">
                <a:solidFill>
                  <a:srgbClr val="051D40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Dr. Md. Nawab Yousuf Ali</a:t>
            </a:r>
          </a:p>
          <a:p>
            <a:pPr algn="l">
              <a:lnSpc>
                <a:spcPts val="4199"/>
              </a:lnSpc>
            </a:pPr>
            <a:r>
              <a:rPr lang="en-US" sz="3499" b="1">
                <a:solidFill>
                  <a:srgbClr val="051D40"/>
                </a:solidFill>
                <a:latin typeface="Nunito Sans Bold"/>
                <a:ea typeface="Nunito Sans Bold"/>
                <a:cs typeface="Nunito Sans Bold"/>
                <a:sym typeface="Nunito Sans Bold"/>
              </a:rPr>
              <a:t>Professor, Department of Computer Science and Engineering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1491921" y="3388742"/>
            <a:ext cx="9355503" cy="208597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755647" lvl="1" indent="-377824" algn="l">
              <a:lnSpc>
                <a:spcPts val="4199"/>
              </a:lnSpc>
              <a:buFont typeface="Arial"/>
              <a:buChar char="•"/>
            </a:pPr>
            <a:r>
              <a:rPr lang="en-US" sz="3499">
                <a:solidFill>
                  <a:srgbClr val="051D40"/>
                </a:solidFill>
                <a:latin typeface="Nunito Sans"/>
                <a:ea typeface="Nunito Sans"/>
                <a:cs typeface="Nunito Sans"/>
                <a:sym typeface="Nunito Sans"/>
              </a:rPr>
              <a:t>Md.Rabbi - 2022-2-60-067</a:t>
            </a:r>
          </a:p>
          <a:p>
            <a:pPr marL="755647" lvl="1" indent="-377824" algn="l">
              <a:lnSpc>
                <a:spcPts val="4199"/>
              </a:lnSpc>
              <a:buFont typeface="Arial"/>
              <a:buChar char="•"/>
            </a:pPr>
            <a:r>
              <a:rPr lang="en-US" sz="3499">
                <a:solidFill>
                  <a:srgbClr val="051D40"/>
                </a:solidFill>
                <a:latin typeface="Nunito Sans"/>
                <a:ea typeface="Nunito Sans"/>
                <a:cs typeface="Nunito Sans"/>
                <a:sym typeface="Nunito Sans"/>
              </a:rPr>
              <a:t>Saheba Akter - 2022-2-60-023</a:t>
            </a:r>
          </a:p>
          <a:p>
            <a:pPr marL="755647" lvl="1" indent="-377824" algn="l">
              <a:lnSpc>
                <a:spcPts val="4199"/>
              </a:lnSpc>
              <a:buFont typeface="Arial"/>
              <a:buChar char="•"/>
            </a:pPr>
            <a:r>
              <a:rPr lang="en-US" sz="3499">
                <a:solidFill>
                  <a:srgbClr val="051D40"/>
                </a:solidFill>
                <a:latin typeface="Nunito Sans"/>
                <a:ea typeface="Nunito Sans"/>
                <a:cs typeface="Nunito Sans"/>
                <a:sym typeface="Nunito Sans"/>
              </a:rPr>
              <a:t>Shahriar Khan - 2022-3-60-016 (31)</a:t>
            </a:r>
          </a:p>
          <a:p>
            <a:pPr marL="755647" lvl="1" indent="-377824" algn="l">
              <a:lnSpc>
                <a:spcPts val="4199"/>
              </a:lnSpc>
              <a:buFont typeface="Arial"/>
              <a:buChar char="•"/>
            </a:pPr>
            <a:r>
              <a:rPr lang="en-US" sz="3499">
                <a:solidFill>
                  <a:srgbClr val="051D40"/>
                </a:solidFill>
                <a:latin typeface="Nunito Sans"/>
                <a:ea typeface="Nunito Sans"/>
                <a:cs typeface="Nunito Sans"/>
                <a:sym typeface="Nunito Sans"/>
              </a:rPr>
              <a:t>Mohua Akter - 2022-3-60-112 (36)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1304622" y="6159100"/>
            <a:ext cx="7220107" cy="205100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7854"/>
              </a:lnSpc>
            </a:pPr>
            <a:r>
              <a:rPr lang="en-US" sz="7854">
                <a:solidFill>
                  <a:srgbClr val="051D40"/>
                </a:solidFill>
                <a:latin typeface="Bernoru SemiCondensed"/>
                <a:ea typeface="Bernoru SemiCondensed"/>
                <a:cs typeface="Bernoru SemiCondensed"/>
                <a:sym typeface="Bernoru SemiCondensed"/>
              </a:rPr>
              <a:t>Submitted to, </a:t>
            </a:r>
          </a:p>
          <a:p>
            <a:pPr algn="ctr">
              <a:lnSpc>
                <a:spcPts val="7854"/>
              </a:lnSpc>
            </a:pPr>
            <a:endParaRPr lang="en-US" sz="7854">
              <a:solidFill>
                <a:srgbClr val="051D40"/>
              </a:solidFill>
              <a:latin typeface="Bernoru SemiCondensed"/>
              <a:ea typeface="Bernoru SemiCondensed"/>
              <a:cs typeface="Bernoru SemiCondensed"/>
              <a:sym typeface="Bernoru SemiCondensed"/>
            </a:endParaRPr>
          </a:p>
        </p:txBody>
      </p:sp>
      <p:sp>
        <p:nvSpPr>
          <p:cNvPr id="8" name="TextBox 4">
            <a:extLst>
              <a:ext uri="{FF2B5EF4-FFF2-40B4-BE49-F238E27FC236}">
                <a16:creationId xmlns:a16="http://schemas.microsoft.com/office/drawing/2014/main" id="{C834CE76-997D-AA7E-BFC1-4F6EE8278F68}"/>
              </a:ext>
            </a:extLst>
          </p:cNvPr>
          <p:cNvSpPr txBox="1"/>
          <p:nvPr/>
        </p:nvSpPr>
        <p:spPr>
          <a:xfrm>
            <a:off x="-16389691" y="7659636"/>
            <a:ext cx="16828160" cy="160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000"/>
              </a:lnSpc>
            </a:pPr>
            <a:r>
              <a:rPr lang="en-US" sz="12000">
                <a:solidFill>
                  <a:srgbClr val="051D40"/>
                </a:solidFill>
                <a:latin typeface="Bernoru SemiCondensed"/>
                <a:ea typeface="Bernoru SemiCondensed"/>
                <a:cs typeface="Bernoru SemiCondensed"/>
                <a:sym typeface="Bernoru SemiCondensed"/>
              </a:rPr>
              <a:t>Problem statement </a:t>
            </a:r>
          </a:p>
        </p:txBody>
      </p:sp>
      <p:sp>
        <p:nvSpPr>
          <p:cNvPr id="9" name="TextBox 4">
            <a:extLst>
              <a:ext uri="{FF2B5EF4-FFF2-40B4-BE49-F238E27FC236}">
                <a16:creationId xmlns:a16="http://schemas.microsoft.com/office/drawing/2014/main" id="{36EDA3FA-F256-0D1D-D397-D546615F5791}"/>
              </a:ext>
            </a:extLst>
          </p:cNvPr>
          <p:cNvSpPr txBox="1"/>
          <p:nvPr/>
        </p:nvSpPr>
        <p:spPr>
          <a:xfrm>
            <a:off x="-12167912" y="2036293"/>
            <a:ext cx="16230600" cy="21800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040"/>
              </a:lnSpc>
            </a:pPr>
            <a:r>
              <a:rPr lang="en-US" sz="17040">
                <a:solidFill>
                  <a:srgbClr val="051D40"/>
                </a:solidFill>
                <a:latin typeface="Bernoru SemiCondensed"/>
                <a:ea typeface="Bernoru SemiCondensed"/>
                <a:cs typeface="Bernoru SemiCondensed"/>
                <a:sym typeface="Bernoru SemiCondensed"/>
              </a:rPr>
              <a:t>Stack</a:t>
            </a:r>
          </a:p>
        </p:txBody>
      </p:sp>
      <p:sp>
        <p:nvSpPr>
          <p:cNvPr id="10" name="TextBox 4">
            <a:extLst>
              <a:ext uri="{FF2B5EF4-FFF2-40B4-BE49-F238E27FC236}">
                <a16:creationId xmlns:a16="http://schemas.microsoft.com/office/drawing/2014/main" id="{6293842F-6DFA-9A18-1855-5FC2B1FC1142}"/>
              </a:ext>
            </a:extLst>
          </p:cNvPr>
          <p:cNvSpPr txBox="1"/>
          <p:nvPr/>
        </p:nvSpPr>
        <p:spPr>
          <a:xfrm>
            <a:off x="12268200" y="-3848100"/>
            <a:ext cx="16230600" cy="21800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040"/>
              </a:lnSpc>
            </a:pPr>
            <a:r>
              <a:rPr lang="en-US" sz="17040">
                <a:solidFill>
                  <a:srgbClr val="051D40"/>
                </a:solidFill>
                <a:latin typeface="Bernoru SemiCondensed"/>
                <a:ea typeface="Bernoru SemiCondensed"/>
                <a:cs typeface="Bernoru SemiCondensed"/>
                <a:sym typeface="Bernoru SemiCondensed"/>
              </a:rPr>
              <a:t>machine</a:t>
            </a:r>
          </a:p>
        </p:txBody>
      </p:sp>
      <p:sp>
        <p:nvSpPr>
          <p:cNvPr id="11" name="TextBox 4">
            <a:extLst>
              <a:ext uri="{FF2B5EF4-FFF2-40B4-BE49-F238E27FC236}">
                <a16:creationId xmlns:a16="http://schemas.microsoft.com/office/drawing/2014/main" id="{253EDD97-65D2-A4FB-007D-D8E4A5C986C2}"/>
              </a:ext>
            </a:extLst>
          </p:cNvPr>
          <p:cNvSpPr txBox="1"/>
          <p:nvPr/>
        </p:nvSpPr>
        <p:spPr>
          <a:xfrm>
            <a:off x="1855748" y="11748395"/>
            <a:ext cx="16230600" cy="218008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7040"/>
              </a:lnSpc>
            </a:pPr>
            <a:r>
              <a:rPr lang="en-US" sz="17040">
                <a:solidFill>
                  <a:srgbClr val="051D40"/>
                </a:solidFill>
                <a:latin typeface="Bernoru SemiCondensed"/>
                <a:ea typeface="Bernoru SemiCondensed"/>
                <a:cs typeface="Bernoru SemiCondensed"/>
                <a:sym typeface="Bernoru SemiCondensed"/>
              </a:rPr>
              <a:t>ISA</a:t>
            </a:r>
          </a:p>
        </p:txBody>
      </p:sp>
      <p:sp>
        <p:nvSpPr>
          <p:cNvPr id="12" name="Freeform 2">
            <a:extLst>
              <a:ext uri="{FF2B5EF4-FFF2-40B4-BE49-F238E27FC236}">
                <a16:creationId xmlns:a16="http://schemas.microsoft.com/office/drawing/2014/main" id="{82F70E2C-000D-5802-5D49-24670DDBB198}"/>
              </a:ext>
            </a:extLst>
          </p:cNvPr>
          <p:cNvSpPr/>
          <p:nvPr/>
        </p:nvSpPr>
        <p:spPr>
          <a:xfrm>
            <a:off x="8117943" y="19315428"/>
            <a:ext cx="8424068" cy="8413538"/>
          </a:xfrm>
          <a:custGeom>
            <a:avLst/>
            <a:gdLst/>
            <a:ahLst/>
            <a:cxnLst/>
            <a:rect l="l" t="t" r="r" b="b"/>
            <a:pathLst>
              <a:path w="8424068" h="8413538">
                <a:moveTo>
                  <a:pt x="0" y="0"/>
                </a:moveTo>
                <a:lnTo>
                  <a:pt x="8424069" y="0"/>
                </a:lnTo>
                <a:lnTo>
                  <a:pt x="8424069" y="8413539"/>
                </a:lnTo>
                <a:lnTo>
                  <a:pt x="0" y="84135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3" name="Freeform 3">
            <a:extLst>
              <a:ext uri="{FF2B5EF4-FFF2-40B4-BE49-F238E27FC236}">
                <a16:creationId xmlns:a16="http://schemas.microsoft.com/office/drawing/2014/main" id="{72431D0C-0BD5-7A4F-4711-94C67192E798}"/>
              </a:ext>
            </a:extLst>
          </p:cNvPr>
          <p:cNvSpPr/>
          <p:nvPr/>
        </p:nvSpPr>
        <p:spPr>
          <a:xfrm>
            <a:off x="-10845460" y="9000019"/>
            <a:ext cx="8424068" cy="8413538"/>
          </a:xfrm>
          <a:custGeom>
            <a:avLst/>
            <a:gdLst/>
            <a:ahLst/>
            <a:cxnLst/>
            <a:rect l="l" t="t" r="r" b="b"/>
            <a:pathLst>
              <a:path w="8424068" h="8413538">
                <a:moveTo>
                  <a:pt x="0" y="0"/>
                </a:moveTo>
                <a:lnTo>
                  <a:pt x="8424069" y="0"/>
                </a:lnTo>
                <a:lnTo>
                  <a:pt x="8424069" y="8413539"/>
                </a:lnTo>
                <a:lnTo>
                  <a:pt x="0" y="84135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4" name="Freeform 5">
            <a:extLst>
              <a:ext uri="{FF2B5EF4-FFF2-40B4-BE49-F238E27FC236}">
                <a16:creationId xmlns:a16="http://schemas.microsoft.com/office/drawing/2014/main" id="{DE83F93B-E292-804D-B81E-CC607472A739}"/>
              </a:ext>
            </a:extLst>
          </p:cNvPr>
          <p:cNvSpPr/>
          <p:nvPr/>
        </p:nvSpPr>
        <p:spPr>
          <a:xfrm>
            <a:off x="6460167" y="-9474128"/>
            <a:ext cx="8424068" cy="8413538"/>
          </a:xfrm>
          <a:custGeom>
            <a:avLst/>
            <a:gdLst/>
            <a:ahLst/>
            <a:cxnLst/>
            <a:rect l="l" t="t" r="r" b="b"/>
            <a:pathLst>
              <a:path w="8424068" h="8413538">
                <a:moveTo>
                  <a:pt x="0" y="0"/>
                </a:moveTo>
                <a:lnTo>
                  <a:pt x="8424069" y="0"/>
                </a:lnTo>
                <a:lnTo>
                  <a:pt x="8424069" y="8413539"/>
                </a:lnTo>
                <a:lnTo>
                  <a:pt x="0" y="84135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7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D25252A-4899-3BB4-1DAA-91536BECEC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199AA42-F884-DBAA-5DE1-9FEC49D70DDB}"/>
              </a:ext>
            </a:extLst>
          </p:cNvPr>
          <p:cNvSpPr/>
          <p:nvPr/>
        </p:nvSpPr>
        <p:spPr>
          <a:xfrm>
            <a:off x="14075966" y="8026486"/>
            <a:ext cx="8424068" cy="8413538"/>
          </a:xfrm>
          <a:custGeom>
            <a:avLst/>
            <a:gdLst/>
            <a:ahLst/>
            <a:cxnLst/>
            <a:rect l="l" t="t" r="r" b="b"/>
            <a:pathLst>
              <a:path w="8424068" h="8413538">
                <a:moveTo>
                  <a:pt x="0" y="0"/>
                </a:moveTo>
                <a:lnTo>
                  <a:pt x="8424068" y="0"/>
                </a:lnTo>
                <a:lnTo>
                  <a:pt x="8424068" y="8413538"/>
                </a:lnTo>
                <a:lnTo>
                  <a:pt x="0" y="84135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CFC129E5-6F2B-F1A9-EE1B-5FC870B011FD}"/>
              </a:ext>
            </a:extLst>
          </p:cNvPr>
          <p:cNvSpPr/>
          <p:nvPr/>
        </p:nvSpPr>
        <p:spPr>
          <a:xfrm>
            <a:off x="-4472387" y="-4932119"/>
            <a:ext cx="8424068" cy="8413538"/>
          </a:xfrm>
          <a:custGeom>
            <a:avLst/>
            <a:gdLst/>
            <a:ahLst/>
            <a:cxnLst/>
            <a:rect l="l" t="t" r="r" b="b"/>
            <a:pathLst>
              <a:path w="8424068" h="8413538">
                <a:moveTo>
                  <a:pt x="0" y="0"/>
                </a:moveTo>
                <a:lnTo>
                  <a:pt x="8424068" y="0"/>
                </a:lnTo>
                <a:lnTo>
                  <a:pt x="8424068" y="8413538"/>
                </a:lnTo>
                <a:lnTo>
                  <a:pt x="0" y="84135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52768893-C832-82FE-C6A1-CA16B9C77DD2}"/>
              </a:ext>
            </a:extLst>
          </p:cNvPr>
          <p:cNvSpPr txBox="1"/>
          <p:nvPr/>
        </p:nvSpPr>
        <p:spPr>
          <a:xfrm>
            <a:off x="931627" y="1655580"/>
            <a:ext cx="16828160" cy="160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000"/>
              </a:lnSpc>
            </a:pPr>
            <a:r>
              <a:rPr lang="en-US" sz="12000">
                <a:solidFill>
                  <a:srgbClr val="051D40"/>
                </a:solidFill>
                <a:latin typeface="Bernoru SemiCondensed"/>
                <a:ea typeface="Bernoru SemiCondensed"/>
                <a:cs typeface="Bernoru SemiCondensed"/>
                <a:sym typeface="Bernoru SemiCondensed"/>
              </a:rPr>
              <a:t>Problem statement 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AF87583E-9EDA-D8D8-0D94-F22138D41D39}"/>
              </a:ext>
            </a:extLst>
          </p:cNvPr>
          <p:cNvSpPr txBox="1"/>
          <p:nvPr/>
        </p:nvSpPr>
        <p:spPr>
          <a:xfrm>
            <a:off x="2015154" y="3361275"/>
            <a:ext cx="12276926" cy="1615827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3499">
                <a:solidFill>
                  <a:srgbClr val="051D40"/>
                </a:solidFill>
                <a:latin typeface="Nunito Sans"/>
                <a:ea typeface="Nunito Sans"/>
                <a:cs typeface="Nunito Sans"/>
                <a:sym typeface="Nunito Sans"/>
              </a:rPr>
              <a:t>We built a stack machine that can do basic stack operations </a:t>
            </a:r>
          </a:p>
          <a:p>
            <a:pPr algn="just">
              <a:lnSpc>
                <a:spcPts val="4199"/>
              </a:lnSpc>
            </a:pPr>
            <a:r>
              <a:rPr lang="en-US" sz="3499">
                <a:solidFill>
                  <a:srgbClr val="051D40"/>
                </a:solidFill>
                <a:latin typeface="Nunito Sans"/>
                <a:ea typeface="Nunito Sans"/>
                <a:cs typeface="Nunito Sans"/>
                <a:sym typeface="Nunito Sans"/>
              </a:rPr>
              <a:t>for example </a:t>
            </a:r>
          </a:p>
          <a:p>
            <a:pPr marL="755647" lvl="1" indent="-377824" algn="just">
              <a:lnSpc>
                <a:spcPts val="4199"/>
              </a:lnSpc>
              <a:buFont typeface="Arial"/>
              <a:buChar char="•"/>
            </a:pPr>
            <a:r>
              <a:rPr lang="en-US" sz="3499">
                <a:solidFill>
                  <a:srgbClr val="051D40"/>
                </a:solidFill>
                <a:latin typeface="Nunito Sans"/>
                <a:ea typeface="Nunito Sans"/>
                <a:cs typeface="Nunito Sans"/>
                <a:sym typeface="Nunito Sans"/>
              </a:rPr>
              <a:t>PUSH 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1569843E-5C1C-A5AA-4D4F-80FEE2D2B1C1}"/>
              </a:ext>
            </a:extLst>
          </p:cNvPr>
          <p:cNvGrpSpPr/>
          <p:nvPr/>
        </p:nvGrpSpPr>
        <p:grpSpPr>
          <a:xfrm>
            <a:off x="9906000" y="5260369"/>
            <a:ext cx="2514600" cy="3335520"/>
            <a:chOff x="9144000" y="5313180"/>
            <a:chExt cx="2514600" cy="333552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AE0BAAB6-8B0B-CEE1-C5CB-75C6604B42E4}"/>
                </a:ext>
              </a:extLst>
            </p:cNvPr>
            <p:cNvCxnSpPr>
              <a:cxnSpLocks/>
            </p:cNvCxnSpPr>
            <p:nvPr/>
          </p:nvCxnSpPr>
          <p:spPr>
            <a:xfrm>
              <a:off x="9144000" y="5313180"/>
              <a:ext cx="0" cy="333552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CC1D8A93-32D0-CE13-D705-96D83DA634EF}"/>
                </a:ext>
              </a:extLst>
            </p:cNvPr>
            <p:cNvCxnSpPr>
              <a:cxnSpLocks/>
            </p:cNvCxnSpPr>
            <p:nvPr/>
          </p:nvCxnSpPr>
          <p:spPr>
            <a:xfrm>
              <a:off x="11658600" y="5313180"/>
              <a:ext cx="0" cy="333552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B877CB7E-BBC4-6BF0-5E3B-28AD14E0F3D0}"/>
                </a:ext>
              </a:extLst>
            </p:cNvPr>
            <p:cNvCxnSpPr>
              <a:cxnSpLocks/>
            </p:cNvCxnSpPr>
            <p:nvPr/>
          </p:nvCxnSpPr>
          <p:spPr>
            <a:xfrm>
              <a:off x="9144000" y="8648700"/>
              <a:ext cx="2514600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ACC8876E-DFA1-A5AB-326F-AB9FCC4C41E4}"/>
              </a:ext>
            </a:extLst>
          </p:cNvPr>
          <p:cNvSpPr/>
          <p:nvPr/>
        </p:nvSpPr>
        <p:spPr>
          <a:xfrm>
            <a:off x="10079935" y="7734504"/>
            <a:ext cx="2133600" cy="685800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2AFE0C4B-AC26-A1D5-42CD-DBB97E2C88D2}"/>
              </a:ext>
            </a:extLst>
          </p:cNvPr>
          <p:cNvSpPr/>
          <p:nvPr/>
        </p:nvSpPr>
        <p:spPr>
          <a:xfrm>
            <a:off x="10079935" y="6873119"/>
            <a:ext cx="2133600" cy="685800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67316DAE-0FDC-B071-6F6E-7D559D2B5DD1}"/>
              </a:ext>
            </a:extLst>
          </p:cNvPr>
          <p:cNvSpPr/>
          <p:nvPr/>
        </p:nvSpPr>
        <p:spPr>
          <a:xfrm>
            <a:off x="10096500" y="6004885"/>
            <a:ext cx="2133600" cy="685800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05101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50"/>
                                        <p:tgtEl>
                                          <p:spTgt spid="5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250" fill="hold"/>
                                        <p:tgtEl>
                                          <p:spTgt spid="2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500"/>
                            </p:stCondLst>
                            <p:childTnLst>
                              <p:par>
                                <p:cTn id="14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7" dur="2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8" dur="250" fill="hold"/>
                                        <p:tgtEl>
                                          <p:spTgt spid="2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750"/>
                            </p:stCondLst>
                            <p:childTnLst>
                              <p:par>
                                <p:cTn id="20" presetID="47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5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3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4" dur="25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-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1000"/>
                            </p:stCondLst>
                            <p:childTnLst>
                              <p:par>
                                <p:cTn id="26" presetID="42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2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250" fill="hold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8" grpId="0" animBg="1"/>
      <p:bldP spid="29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697200" y="1655580"/>
            <a:ext cx="8424068" cy="8413538"/>
          </a:xfrm>
          <a:custGeom>
            <a:avLst/>
            <a:gdLst/>
            <a:ahLst/>
            <a:cxnLst/>
            <a:rect l="l" t="t" r="r" b="b"/>
            <a:pathLst>
              <a:path w="8424068" h="8413538">
                <a:moveTo>
                  <a:pt x="0" y="0"/>
                </a:moveTo>
                <a:lnTo>
                  <a:pt x="8424068" y="0"/>
                </a:lnTo>
                <a:lnTo>
                  <a:pt x="8424068" y="8413538"/>
                </a:lnTo>
                <a:lnTo>
                  <a:pt x="0" y="84135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2833634" y="6631691"/>
            <a:ext cx="8424068" cy="8413538"/>
          </a:xfrm>
          <a:custGeom>
            <a:avLst/>
            <a:gdLst/>
            <a:ahLst/>
            <a:cxnLst/>
            <a:rect l="l" t="t" r="r" b="b"/>
            <a:pathLst>
              <a:path w="8424068" h="8413538">
                <a:moveTo>
                  <a:pt x="0" y="0"/>
                </a:moveTo>
                <a:lnTo>
                  <a:pt x="8424068" y="0"/>
                </a:lnTo>
                <a:lnTo>
                  <a:pt x="8424068" y="8413538"/>
                </a:lnTo>
                <a:lnTo>
                  <a:pt x="0" y="84135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931627" y="1655580"/>
            <a:ext cx="16828160" cy="160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000"/>
              </a:lnSpc>
            </a:pPr>
            <a:r>
              <a:rPr lang="en-US" sz="12000">
                <a:solidFill>
                  <a:srgbClr val="051D40"/>
                </a:solidFill>
                <a:latin typeface="Bernoru SemiCondensed"/>
                <a:ea typeface="Bernoru SemiCondensed"/>
                <a:cs typeface="Bernoru SemiCondensed"/>
                <a:sym typeface="Bernoru SemiCondensed"/>
              </a:rPr>
              <a:t>Problem statement 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2015154" y="3361275"/>
            <a:ext cx="12276926" cy="215443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3499">
                <a:solidFill>
                  <a:srgbClr val="051D40"/>
                </a:solidFill>
                <a:latin typeface="Nunito Sans"/>
                <a:ea typeface="Nunito Sans"/>
                <a:cs typeface="Nunito Sans"/>
                <a:sym typeface="Nunito Sans"/>
              </a:rPr>
              <a:t>We built a stack machine that can do basic stack operations </a:t>
            </a:r>
          </a:p>
          <a:p>
            <a:pPr algn="just">
              <a:lnSpc>
                <a:spcPts val="4199"/>
              </a:lnSpc>
            </a:pPr>
            <a:r>
              <a:rPr lang="en-US" sz="3499">
                <a:solidFill>
                  <a:srgbClr val="051D40"/>
                </a:solidFill>
                <a:latin typeface="Nunito Sans"/>
                <a:ea typeface="Nunito Sans"/>
                <a:cs typeface="Nunito Sans"/>
                <a:sym typeface="Nunito Sans"/>
              </a:rPr>
              <a:t>for example </a:t>
            </a:r>
          </a:p>
          <a:p>
            <a:pPr marL="755647" lvl="1" indent="-377824" algn="just">
              <a:lnSpc>
                <a:spcPts val="4199"/>
              </a:lnSpc>
              <a:buFont typeface="Arial"/>
              <a:buChar char="•"/>
            </a:pPr>
            <a:r>
              <a:rPr lang="en-US" sz="3499">
                <a:solidFill>
                  <a:srgbClr val="051D40"/>
                </a:solidFill>
                <a:latin typeface="Nunito Sans"/>
                <a:ea typeface="Nunito Sans"/>
                <a:cs typeface="Nunito Sans"/>
                <a:sym typeface="Nunito Sans"/>
              </a:rPr>
              <a:t>PUSH </a:t>
            </a:r>
          </a:p>
          <a:p>
            <a:pPr marL="755647" lvl="1" indent="-377824" algn="just">
              <a:lnSpc>
                <a:spcPts val="4199"/>
              </a:lnSpc>
              <a:buFont typeface="Arial"/>
              <a:buChar char="•"/>
            </a:pPr>
            <a:r>
              <a:rPr lang="en-US" sz="3499">
                <a:solidFill>
                  <a:srgbClr val="051D40"/>
                </a:solidFill>
                <a:latin typeface="Nunito Sans"/>
                <a:ea typeface="Nunito Sans"/>
                <a:cs typeface="Nunito Sans"/>
                <a:sym typeface="Nunito Sans"/>
              </a:rPr>
              <a:t>POP</a:t>
            </a: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3279C2B2-8419-4C1D-4ACF-DDF1E1F74E21}"/>
              </a:ext>
            </a:extLst>
          </p:cNvPr>
          <p:cNvGrpSpPr/>
          <p:nvPr/>
        </p:nvGrpSpPr>
        <p:grpSpPr>
          <a:xfrm>
            <a:off x="9906000" y="5260369"/>
            <a:ext cx="2514600" cy="3335520"/>
            <a:chOff x="9144000" y="5313180"/>
            <a:chExt cx="2514600" cy="333552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B491B991-6C74-D049-E37F-73FD88F294D5}"/>
                </a:ext>
              </a:extLst>
            </p:cNvPr>
            <p:cNvCxnSpPr>
              <a:cxnSpLocks/>
            </p:cNvCxnSpPr>
            <p:nvPr/>
          </p:nvCxnSpPr>
          <p:spPr>
            <a:xfrm>
              <a:off x="9144000" y="5313180"/>
              <a:ext cx="0" cy="333552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7A50A243-4293-3F28-D226-A3A3EEF46E03}"/>
                </a:ext>
              </a:extLst>
            </p:cNvPr>
            <p:cNvCxnSpPr>
              <a:cxnSpLocks/>
            </p:cNvCxnSpPr>
            <p:nvPr/>
          </p:nvCxnSpPr>
          <p:spPr>
            <a:xfrm>
              <a:off x="11658600" y="5313180"/>
              <a:ext cx="0" cy="333552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83A46E15-1FA3-DB22-8EAF-8CA41005987B}"/>
                </a:ext>
              </a:extLst>
            </p:cNvPr>
            <p:cNvCxnSpPr>
              <a:cxnSpLocks/>
            </p:cNvCxnSpPr>
            <p:nvPr/>
          </p:nvCxnSpPr>
          <p:spPr>
            <a:xfrm>
              <a:off x="9144000" y="8648700"/>
              <a:ext cx="2514600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255111F8-99AE-8632-B593-2279510A1535}"/>
              </a:ext>
            </a:extLst>
          </p:cNvPr>
          <p:cNvSpPr/>
          <p:nvPr/>
        </p:nvSpPr>
        <p:spPr>
          <a:xfrm>
            <a:off x="10079935" y="7734504"/>
            <a:ext cx="2133600" cy="685800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4CCBE1B9-B7A2-F584-5105-83081E850B00}"/>
              </a:ext>
            </a:extLst>
          </p:cNvPr>
          <p:cNvSpPr/>
          <p:nvPr/>
        </p:nvSpPr>
        <p:spPr>
          <a:xfrm>
            <a:off x="10079935" y="6873119"/>
            <a:ext cx="2133600" cy="685800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9" name="Rectangle 28">
            <a:extLst>
              <a:ext uri="{FF2B5EF4-FFF2-40B4-BE49-F238E27FC236}">
                <a16:creationId xmlns:a16="http://schemas.microsoft.com/office/drawing/2014/main" id="{C1FEC67E-2FF0-4067-8B62-B9FA92B5E56F}"/>
              </a:ext>
            </a:extLst>
          </p:cNvPr>
          <p:cNvSpPr/>
          <p:nvPr/>
        </p:nvSpPr>
        <p:spPr>
          <a:xfrm>
            <a:off x="10096500" y="6004885"/>
            <a:ext cx="2133600" cy="685800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50"/>
                                        <p:tgtEl>
                                          <p:spTgt spid="5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47" presetClass="exit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Effect transition="out" filter="fade">
                                      <p:cBhvr>
                                        <p:cTn id="10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1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x"/>
                                          </p:val>
                                        </p:tav>
                                        <p:tav tm="100000">
                                          <p:val>
                                            <p:strVal val="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500"/>
                                        <p:tgtEl>
                                          <p:spTgt spid="2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ppt_y"/>
                                          </p:val>
                                        </p:tav>
                                        <p:tav tm="100000">
                                          <p:val>
                                            <p:strVal val="ppt_y-.1"/>
                                          </p:val>
                                        </p:tav>
                                      </p:tavLst>
                                    </p:anim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499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9" grpId="0" animBg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7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2C846B7-C56C-3F78-2F34-7BBE5CCE0A7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CCBFEB93-1B17-DD84-97AB-54DFBB087C07}"/>
              </a:ext>
            </a:extLst>
          </p:cNvPr>
          <p:cNvSpPr/>
          <p:nvPr/>
        </p:nvSpPr>
        <p:spPr>
          <a:xfrm>
            <a:off x="14144596" y="5829300"/>
            <a:ext cx="8424068" cy="8413538"/>
          </a:xfrm>
          <a:custGeom>
            <a:avLst/>
            <a:gdLst/>
            <a:ahLst/>
            <a:cxnLst/>
            <a:rect l="l" t="t" r="r" b="b"/>
            <a:pathLst>
              <a:path w="8424068" h="8413538">
                <a:moveTo>
                  <a:pt x="0" y="0"/>
                </a:moveTo>
                <a:lnTo>
                  <a:pt x="8424068" y="0"/>
                </a:lnTo>
                <a:lnTo>
                  <a:pt x="8424068" y="8413538"/>
                </a:lnTo>
                <a:lnTo>
                  <a:pt x="0" y="84135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98DDB5A4-6698-A377-09B5-ABE524726FFD}"/>
              </a:ext>
            </a:extLst>
          </p:cNvPr>
          <p:cNvSpPr/>
          <p:nvPr/>
        </p:nvSpPr>
        <p:spPr>
          <a:xfrm>
            <a:off x="-717150" y="-5942035"/>
            <a:ext cx="8424068" cy="8413538"/>
          </a:xfrm>
          <a:custGeom>
            <a:avLst/>
            <a:gdLst/>
            <a:ahLst/>
            <a:cxnLst/>
            <a:rect l="l" t="t" r="r" b="b"/>
            <a:pathLst>
              <a:path w="8424068" h="8413538">
                <a:moveTo>
                  <a:pt x="0" y="0"/>
                </a:moveTo>
                <a:lnTo>
                  <a:pt x="8424068" y="0"/>
                </a:lnTo>
                <a:lnTo>
                  <a:pt x="8424068" y="8413538"/>
                </a:lnTo>
                <a:lnTo>
                  <a:pt x="0" y="84135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FAEFDF5F-E541-54D4-38D4-3FDF170F4DE5}"/>
              </a:ext>
            </a:extLst>
          </p:cNvPr>
          <p:cNvSpPr txBox="1"/>
          <p:nvPr/>
        </p:nvSpPr>
        <p:spPr>
          <a:xfrm>
            <a:off x="931627" y="1655580"/>
            <a:ext cx="16828160" cy="160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000"/>
              </a:lnSpc>
            </a:pPr>
            <a:r>
              <a:rPr lang="en-US" sz="12000">
                <a:solidFill>
                  <a:srgbClr val="051D40"/>
                </a:solidFill>
                <a:latin typeface="Bernoru SemiCondensed"/>
                <a:ea typeface="Bernoru SemiCondensed"/>
                <a:cs typeface="Bernoru SemiCondensed"/>
                <a:sym typeface="Bernoru SemiCondensed"/>
              </a:rPr>
              <a:t>Problem statement </a:t>
            </a:r>
          </a:p>
        </p:txBody>
      </p:sp>
      <p:sp>
        <p:nvSpPr>
          <p:cNvPr id="5" name="TextBox 5">
            <a:extLst>
              <a:ext uri="{FF2B5EF4-FFF2-40B4-BE49-F238E27FC236}">
                <a16:creationId xmlns:a16="http://schemas.microsoft.com/office/drawing/2014/main" id="{D2969A93-F1FC-F5BB-9100-8F180F8820C7}"/>
              </a:ext>
            </a:extLst>
          </p:cNvPr>
          <p:cNvSpPr txBox="1"/>
          <p:nvPr/>
        </p:nvSpPr>
        <p:spPr>
          <a:xfrm>
            <a:off x="2015154" y="3361275"/>
            <a:ext cx="12276926" cy="592469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4199"/>
              </a:lnSpc>
            </a:pPr>
            <a:r>
              <a:rPr lang="en-US" sz="3499">
                <a:solidFill>
                  <a:srgbClr val="051D40"/>
                </a:solidFill>
                <a:latin typeface="Nunito Sans"/>
                <a:ea typeface="Nunito Sans"/>
                <a:cs typeface="Nunito Sans"/>
                <a:sym typeface="Nunito Sans"/>
              </a:rPr>
              <a:t>We built a stack machine that can do basic stack operations </a:t>
            </a:r>
          </a:p>
          <a:p>
            <a:pPr algn="just">
              <a:lnSpc>
                <a:spcPts val="4199"/>
              </a:lnSpc>
            </a:pPr>
            <a:r>
              <a:rPr lang="en-US" sz="3499">
                <a:solidFill>
                  <a:srgbClr val="051D40"/>
                </a:solidFill>
                <a:latin typeface="Nunito Sans"/>
                <a:ea typeface="Nunito Sans"/>
                <a:cs typeface="Nunito Sans"/>
                <a:sym typeface="Nunito Sans"/>
              </a:rPr>
              <a:t>for example </a:t>
            </a:r>
          </a:p>
          <a:p>
            <a:pPr marL="755647" lvl="1" indent="-377824" algn="just">
              <a:lnSpc>
                <a:spcPts val="4199"/>
              </a:lnSpc>
              <a:buFont typeface="Arial"/>
              <a:buChar char="•"/>
            </a:pPr>
            <a:r>
              <a:rPr lang="en-US" sz="3499">
                <a:solidFill>
                  <a:srgbClr val="051D40"/>
                </a:solidFill>
                <a:latin typeface="Nunito Sans"/>
                <a:ea typeface="Nunito Sans"/>
                <a:cs typeface="Nunito Sans"/>
                <a:sym typeface="Nunito Sans"/>
              </a:rPr>
              <a:t>PUSH </a:t>
            </a:r>
          </a:p>
          <a:p>
            <a:pPr marL="755647" lvl="1" indent="-377824" algn="just">
              <a:lnSpc>
                <a:spcPts val="4199"/>
              </a:lnSpc>
              <a:buFont typeface="Arial"/>
              <a:buChar char="•"/>
            </a:pPr>
            <a:r>
              <a:rPr lang="en-US" sz="3499">
                <a:solidFill>
                  <a:srgbClr val="051D40"/>
                </a:solidFill>
                <a:latin typeface="Nunito Sans"/>
                <a:ea typeface="Nunito Sans"/>
                <a:cs typeface="Nunito Sans"/>
                <a:sym typeface="Nunito Sans"/>
              </a:rPr>
              <a:t>POP</a:t>
            </a:r>
          </a:p>
          <a:p>
            <a:pPr marL="755647" lvl="1" indent="-377824" algn="just">
              <a:lnSpc>
                <a:spcPts val="4199"/>
              </a:lnSpc>
              <a:buFont typeface="Arial"/>
              <a:buChar char="•"/>
            </a:pPr>
            <a:r>
              <a:rPr lang="en-US" sz="3499">
                <a:solidFill>
                  <a:srgbClr val="051D40"/>
                </a:solidFill>
                <a:latin typeface="Nunito Sans"/>
                <a:ea typeface="Nunito Sans"/>
                <a:cs typeface="Nunito Sans"/>
                <a:sym typeface="Nunito Sans"/>
              </a:rPr>
              <a:t>ADD</a:t>
            </a:r>
          </a:p>
          <a:p>
            <a:pPr marL="755647" lvl="1" indent="-377824" algn="just">
              <a:lnSpc>
                <a:spcPts val="4199"/>
              </a:lnSpc>
              <a:buFont typeface="Arial"/>
              <a:buChar char="•"/>
            </a:pPr>
            <a:r>
              <a:rPr lang="en-US" sz="3499">
                <a:solidFill>
                  <a:srgbClr val="051D40"/>
                </a:solidFill>
                <a:latin typeface="Nunito Sans"/>
                <a:ea typeface="Nunito Sans"/>
                <a:cs typeface="Nunito Sans"/>
                <a:sym typeface="Nunito Sans"/>
              </a:rPr>
              <a:t>SUB</a:t>
            </a:r>
          </a:p>
          <a:p>
            <a:pPr marL="755647" lvl="1" indent="-377824" algn="just">
              <a:lnSpc>
                <a:spcPts val="4199"/>
              </a:lnSpc>
              <a:buFont typeface="Arial"/>
              <a:buChar char="•"/>
            </a:pPr>
            <a:r>
              <a:rPr lang="en-US" sz="3499">
                <a:solidFill>
                  <a:srgbClr val="051D40"/>
                </a:solidFill>
                <a:latin typeface="Nunito Sans"/>
                <a:ea typeface="Nunito Sans"/>
                <a:cs typeface="Nunito Sans"/>
                <a:sym typeface="Nunito Sans"/>
              </a:rPr>
              <a:t>MUL</a:t>
            </a:r>
          </a:p>
          <a:p>
            <a:pPr marL="755647" lvl="1" indent="-377824" algn="just">
              <a:lnSpc>
                <a:spcPts val="4199"/>
              </a:lnSpc>
              <a:buFont typeface="Arial"/>
              <a:buChar char="•"/>
            </a:pPr>
            <a:r>
              <a:rPr lang="en-US" sz="3499">
                <a:solidFill>
                  <a:srgbClr val="051D40"/>
                </a:solidFill>
                <a:latin typeface="Nunito Sans"/>
                <a:ea typeface="Nunito Sans"/>
                <a:cs typeface="Nunito Sans"/>
                <a:sym typeface="Nunito Sans"/>
              </a:rPr>
              <a:t>DIV </a:t>
            </a:r>
          </a:p>
          <a:p>
            <a:pPr marL="755647" lvl="1" indent="-377824" algn="just">
              <a:lnSpc>
                <a:spcPts val="4199"/>
              </a:lnSpc>
              <a:buFont typeface="Arial"/>
              <a:buChar char="•"/>
            </a:pPr>
            <a:r>
              <a:rPr lang="en-US" sz="3499">
                <a:solidFill>
                  <a:srgbClr val="051D40"/>
                </a:solidFill>
                <a:latin typeface="Nunito Sans"/>
                <a:ea typeface="Nunito Sans"/>
                <a:cs typeface="Nunito Sans"/>
                <a:sym typeface="Nunito Sans"/>
              </a:rPr>
              <a:t>infix to postfix </a:t>
            </a:r>
          </a:p>
          <a:p>
            <a:pPr marL="755647" lvl="1" indent="-377824" algn="just">
              <a:lnSpc>
                <a:spcPts val="4199"/>
              </a:lnSpc>
              <a:buFont typeface="Arial"/>
              <a:buChar char="•"/>
            </a:pPr>
            <a:r>
              <a:rPr lang="en-US" sz="3499">
                <a:solidFill>
                  <a:srgbClr val="051D40"/>
                </a:solidFill>
                <a:latin typeface="Nunito Sans"/>
                <a:ea typeface="Nunito Sans"/>
                <a:cs typeface="Nunito Sans"/>
                <a:sym typeface="Nunito Sans"/>
              </a:rPr>
              <a:t>postfix to infix </a:t>
            </a:r>
          </a:p>
          <a:p>
            <a:pPr marL="755647" lvl="1" indent="-377824" algn="just">
              <a:lnSpc>
                <a:spcPts val="4199"/>
              </a:lnSpc>
              <a:buFont typeface="Arial"/>
              <a:buChar char="•"/>
            </a:pPr>
            <a:endParaRPr lang="en-US" sz="3499">
              <a:solidFill>
                <a:srgbClr val="051D40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grpSp>
        <p:nvGrpSpPr>
          <p:cNvPr id="26" name="Group 25">
            <a:extLst>
              <a:ext uri="{FF2B5EF4-FFF2-40B4-BE49-F238E27FC236}">
                <a16:creationId xmlns:a16="http://schemas.microsoft.com/office/drawing/2014/main" id="{9B37B9E8-8073-AA49-2100-23E79B5B9F66}"/>
              </a:ext>
            </a:extLst>
          </p:cNvPr>
          <p:cNvGrpSpPr/>
          <p:nvPr/>
        </p:nvGrpSpPr>
        <p:grpSpPr>
          <a:xfrm>
            <a:off x="9906000" y="5260369"/>
            <a:ext cx="2514600" cy="3335520"/>
            <a:chOff x="9144000" y="5313180"/>
            <a:chExt cx="2514600" cy="3335520"/>
          </a:xfrm>
        </p:grpSpPr>
        <p:cxnSp>
          <p:nvCxnSpPr>
            <p:cNvPr id="15" name="Straight Connector 14">
              <a:extLst>
                <a:ext uri="{FF2B5EF4-FFF2-40B4-BE49-F238E27FC236}">
                  <a16:creationId xmlns:a16="http://schemas.microsoft.com/office/drawing/2014/main" id="{C5446961-D6DA-2A85-6D7E-2D8834A669EB}"/>
                </a:ext>
              </a:extLst>
            </p:cNvPr>
            <p:cNvCxnSpPr>
              <a:cxnSpLocks/>
            </p:cNvCxnSpPr>
            <p:nvPr/>
          </p:nvCxnSpPr>
          <p:spPr>
            <a:xfrm>
              <a:off x="9144000" y="5313180"/>
              <a:ext cx="0" cy="333552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8" name="Straight Connector 17">
              <a:extLst>
                <a:ext uri="{FF2B5EF4-FFF2-40B4-BE49-F238E27FC236}">
                  <a16:creationId xmlns:a16="http://schemas.microsoft.com/office/drawing/2014/main" id="{5F350A1A-3AF9-2D12-B35E-9F5949356BD0}"/>
                </a:ext>
              </a:extLst>
            </p:cNvPr>
            <p:cNvCxnSpPr>
              <a:cxnSpLocks/>
            </p:cNvCxnSpPr>
            <p:nvPr/>
          </p:nvCxnSpPr>
          <p:spPr>
            <a:xfrm>
              <a:off x="11658600" y="5313180"/>
              <a:ext cx="0" cy="333552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20" name="Straight Connector 19">
              <a:extLst>
                <a:ext uri="{FF2B5EF4-FFF2-40B4-BE49-F238E27FC236}">
                  <a16:creationId xmlns:a16="http://schemas.microsoft.com/office/drawing/2014/main" id="{2D5B1552-929D-7AF2-C981-40992BD54C7E}"/>
                </a:ext>
              </a:extLst>
            </p:cNvPr>
            <p:cNvCxnSpPr>
              <a:cxnSpLocks/>
            </p:cNvCxnSpPr>
            <p:nvPr/>
          </p:nvCxnSpPr>
          <p:spPr>
            <a:xfrm>
              <a:off x="9144000" y="8648700"/>
              <a:ext cx="2514600" cy="0"/>
            </a:xfrm>
            <a:prstGeom prst="line">
              <a:avLst/>
            </a:prstGeom>
            <a:ln w="38100"/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27" name="Rectangle 26">
            <a:extLst>
              <a:ext uri="{FF2B5EF4-FFF2-40B4-BE49-F238E27FC236}">
                <a16:creationId xmlns:a16="http://schemas.microsoft.com/office/drawing/2014/main" id="{2C526C8A-FE57-A130-5586-84B4DC43BD99}"/>
              </a:ext>
            </a:extLst>
          </p:cNvPr>
          <p:cNvSpPr/>
          <p:nvPr/>
        </p:nvSpPr>
        <p:spPr>
          <a:xfrm>
            <a:off x="10079935" y="7734504"/>
            <a:ext cx="2133600" cy="685800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8" name="Rectangle 27">
            <a:extLst>
              <a:ext uri="{FF2B5EF4-FFF2-40B4-BE49-F238E27FC236}">
                <a16:creationId xmlns:a16="http://schemas.microsoft.com/office/drawing/2014/main" id="{D81483BE-12C2-1554-FC11-799DB0F7CECA}"/>
              </a:ext>
            </a:extLst>
          </p:cNvPr>
          <p:cNvSpPr/>
          <p:nvPr/>
        </p:nvSpPr>
        <p:spPr>
          <a:xfrm>
            <a:off x="10079935" y="6873119"/>
            <a:ext cx="2133600" cy="685800"/>
          </a:xfrm>
          <a:prstGeom prst="rect">
            <a:avLst/>
          </a:prstGeom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68B65DB1-E936-0290-E397-980600E5C762}"/>
              </a:ext>
            </a:extLst>
          </p:cNvPr>
          <p:cNvSpPr/>
          <p:nvPr/>
        </p:nvSpPr>
        <p:spPr>
          <a:xfrm>
            <a:off x="10079935" y="7734504"/>
            <a:ext cx="2133600" cy="685800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6"/>
          </a:fillRef>
          <a:effectRef idx="1">
            <a:schemeClr val="accent6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FA30996A-FE2E-16B4-95B7-D712567F49F2}"/>
              </a:ext>
            </a:extLst>
          </p:cNvPr>
          <p:cNvSpPr txBox="1"/>
          <p:nvPr/>
        </p:nvSpPr>
        <p:spPr>
          <a:xfrm>
            <a:off x="2514600" y="11727556"/>
            <a:ext cx="10384637" cy="160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000"/>
              </a:lnSpc>
            </a:pPr>
            <a:r>
              <a:rPr lang="en-US" sz="12000">
                <a:solidFill>
                  <a:srgbClr val="051D40"/>
                </a:solidFill>
                <a:latin typeface="Bernoru SemiCondensed"/>
                <a:ea typeface="Bernoru SemiCondensed"/>
                <a:cs typeface="Bernoru SemiCondensed"/>
                <a:sym typeface="Bernoru SemiCondensed"/>
              </a:rPr>
              <a:t>Flow chart </a:t>
            </a:r>
          </a:p>
        </p:txBody>
      </p:sp>
    </p:spTree>
    <p:extLst>
      <p:ext uri="{BB962C8B-B14F-4D97-AF65-F5344CB8AC3E}">
        <p14:creationId xmlns:p14="http://schemas.microsoft.com/office/powerpoint/2010/main" val="391889464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500"/>
                            </p:stCondLst>
                            <p:childTnLst>
                              <p:par>
                                <p:cTn id="9" presetID="42" presetClass="path" presetSubtype="0" accel="50000" decel="5000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animMotion origin="layout" path="M 1.38889E-6 -3.20988E-6 L 1.38889E-6 0.08365 " pathEditMode="relative" rAng="0" ptsTypes="AA">
                                      <p:cBhvr>
                                        <p:cTn id="10" dur="500" fill="hold"/>
                                        <p:tgtEl>
                                          <p:spTgt spid="28"/>
                                        </p:tgtEl>
                                        <p:attrNameLst>
                                          <p:attrName>ppt_x</p:attrName>
                                          <p:attrName>ppt_y</p:attrName>
                                        </p:attrNameLst>
                                      </p:cBhvr>
                                      <p:rCtr x="0" y="4182"/>
                                    </p:animMotion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1" fill="hold">
                            <p:stCondLst>
                              <p:cond delay="1000"/>
                            </p:stCondLst>
                            <p:childTnLst>
                              <p:par>
                                <p:cTn id="12" presetID="1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4" fill="hold">
                      <p:stCondLst>
                        <p:cond delay="indefinite"/>
                      </p:stCondLst>
                      <p:childTnLst>
                        <p:par>
                          <p:cTn id="15" fill="hold">
                            <p:stCondLst>
                              <p:cond delay="0"/>
                            </p:stCondLst>
                            <p:childTnLst>
                              <p:par>
                                <p:cTn id="16" presetID="2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8" dur="250"/>
                                        <p:tgtEl>
                                          <p:spTgt spid="5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9" fill="hold">
                            <p:stCondLst>
                              <p:cond delay="250"/>
                            </p:stCondLst>
                            <p:childTnLst>
                              <p:par>
                                <p:cTn id="20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2" dur="250"/>
                                        <p:tgtEl>
                                          <p:spTgt spid="5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6" dur="250"/>
                                        <p:tgtEl>
                                          <p:spTgt spid="5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7" fill="hold">
                            <p:stCondLst>
                              <p:cond delay="750"/>
                            </p:stCondLst>
                            <p:childTnLst>
                              <p:par>
                                <p:cTn id="28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0" dur="250"/>
                                        <p:tgtEl>
                                          <p:spTgt spid="5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1000"/>
                            </p:stCondLst>
                            <p:childTnLst>
                              <p:par>
                                <p:cTn id="32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4" dur="250"/>
                                        <p:tgtEl>
                                          <p:spTgt spid="5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8" grpId="0" animBg="1"/>
      <p:bldP spid="6" grpId="0" animBg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1966107" y="8611375"/>
            <a:ext cx="8424068" cy="8413538"/>
          </a:xfrm>
          <a:custGeom>
            <a:avLst/>
            <a:gdLst/>
            <a:ahLst/>
            <a:cxnLst/>
            <a:rect l="l" t="t" r="r" b="b"/>
            <a:pathLst>
              <a:path w="8424068" h="8413538">
                <a:moveTo>
                  <a:pt x="0" y="0"/>
                </a:moveTo>
                <a:lnTo>
                  <a:pt x="8424068" y="0"/>
                </a:lnTo>
                <a:lnTo>
                  <a:pt x="8424068" y="8413538"/>
                </a:lnTo>
                <a:lnTo>
                  <a:pt x="0" y="84135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1265133" y="-5798355"/>
            <a:ext cx="7766021" cy="7756313"/>
          </a:xfrm>
          <a:custGeom>
            <a:avLst/>
            <a:gdLst/>
            <a:ahLst/>
            <a:cxnLst/>
            <a:rect l="l" t="t" r="r" b="b"/>
            <a:pathLst>
              <a:path w="7766021" h="7756313">
                <a:moveTo>
                  <a:pt x="0" y="0"/>
                </a:moveTo>
                <a:lnTo>
                  <a:pt x="7766021" y="0"/>
                </a:lnTo>
                <a:lnTo>
                  <a:pt x="7766021" y="7756313"/>
                </a:lnTo>
                <a:lnTo>
                  <a:pt x="0" y="77563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1214233" y="1262633"/>
            <a:ext cx="10384637" cy="160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000"/>
              </a:lnSpc>
            </a:pPr>
            <a:r>
              <a:rPr lang="en-US" sz="12000">
                <a:solidFill>
                  <a:srgbClr val="051D40"/>
                </a:solidFill>
                <a:latin typeface="Bernoru SemiCondensed"/>
                <a:ea typeface="Bernoru SemiCondensed"/>
                <a:cs typeface="Bernoru SemiCondensed"/>
                <a:sym typeface="Bernoru SemiCondensed"/>
              </a:rPr>
              <a:t>Flow chart </a:t>
            </a: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E755FD34-4E5B-4435-8FE9-D0A2B6A3A37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62275" y="2872357"/>
            <a:ext cx="10515525" cy="735526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461AEF9F-AF6E-A9A4-73BD-1565E1CBF80D}"/>
              </a:ext>
            </a:extLst>
          </p:cNvPr>
          <p:cNvSpPr txBox="1"/>
          <p:nvPr/>
        </p:nvSpPr>
        <p:spPr>
          <a:xfrm>
            <a:off x="0" y="12275127"/>
            <a:ext cx="16687800" cy="13511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000"/>
              </a:lnSpc>
            </a:pPr>
            <a:r>
              <a:rPr lang="en-US" sz="9600">
                <a:solidFill>
                  <a:srgbClr val="051D40"/>
                </a:solidFill>
                <a:latin typeface="Bernoru SemiCondensed" panose="020B0604020202020204" charset="0"/>
                <a:ea typeface="Genty"/>
                <a:cs typeface="Genty"/>
                <a:sym typeface="Genty"/>
              </a:rPr>
              <a:t>Libraries and features</a:t>
            </a:r>
          </a:p>
        </p:txBody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D57CC0AD-0BA5-88E8-1A29-6F5AF04665D5}"/>
              </a:ext>
            </a:extLst>
          </p:cNvPr>
          <p:cNvSpPr txBox="1"/>
          <p:nvPr/>
        </p:nvSpPr>
        <p:spPr>
          <a:xfrm>
            <a:off x="5638800" y="-3501656"/>
            <a:ext cx="16828160" cy="160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000"/>
              </a:lnSpc>
            </a:pPr>
            <a:r>
              <a:rPr lang="en-US" sz="12000">
                <a:solidFill>
                  <a:srgbClr val="051D40"/>
                </a:solidFill>
                <a:latin typeface="Bernoru SemiCondensed"/>
                <a:ea typeface="Bernoru SemiCondensed"/>
                <a:cs typeface="Bernoru SemiCondensed"/>
                <a:sym typeface="Bernoru SemiCondensed"/>
              </a:rPr>
              <a:t>Problem statement </a:t>
            </a:r>
          </a:p>
        </p:txBody>
      </p:sp>
      <p:sp>
        <p:nvSpPr>
          <p:cNvPr id="11" name="Freeform 2">
            <a:extLst>
              <a:ext uri="{FF2B5EF4-FFF2-40B4-BE49-F238E27FC236}">
                <a16:creationId xmlns:a16="http://schemas.microsoft.com/office/drawing/2014/main" id="{64428510-94DE-C9F8-13D0-9877187B0C6B}"/>
              </a:ext>
            </a:extLst>
          </p:cNvPr>
          <p:cNvSpPr/>
          <p:nvPr/>
        </p:nvSpPr>
        <p:spPr>
          <a:xfrm>
            <a:off x="20631873" y="1788272"/>
            <a:ext cx="8424068" cy="8413538"/>
          </a:xfrm>
          <a:custGeom>
            <a:avLst/>
            <a:gdLst/>
            <a:ahLst/>
            <a:cxnLst/>
            <a:rect l="l" t="t" r="r" b="b"/>
            <a:pathLst>
              <a:path w="8424068" h="8413538">
                <a:moveTo>
                  <a:pt x="0" y="0"/>
                </a:moveTo>
                <a:lnTo>
                  <a:pt x="8424068" y="0"/>
                </a:lnTo>
                <a:lnTo>
                  <a:pt x="8424068" y="8413538"/>
                </a:lnTo>
                <a:lnTo>
                  <a:pt x="0" y="841353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2" name="Freeform 3">
            <a:extLst>
              <a:ext uri="{FF2B5EF4-FFF2-40B4-BE49-F238E27FC236}">
                <a16:creationId xmlns:a16="http://schemas.microsoft.com/office/drawing/2014/main" id="{9070C3C1-069A-14D4-4859-D0B2458C867D}"/>
              </a:ext>
            </a:extLst>
          </p:cNvPr>
          <p:cNvSpPr/>
          <p:nvPr/>
        </p:nvSpPr>
        <p:spPr>
          <a:xfrm>
            <a:off x="-10156128" y="6020851"/>
            <a:ext cx="8424068" cy="8413538"/>
          </a:xfrm>
          <a:custGeom>
            <a:avLst/>
            <a:gdLst/>
            <a:ahLst/>
            <a:cxnLst/>
            <a:rect l="l" t="t" r="r" b="b"/>
            <a:pathLst>
              <a:path w="8424068" h="8413538">
                <a:moveTo>
                  <a:pt x="0" y="0"/>
                </a:moveTo>
                <a:lnTo>
                  <a:pt x="8424068" y="0"/>
                </a:lnTo>
                <a:lnTo>
                  <a:pt x="8424068" y="8413539"/>
                </a:lnTo>
                <a:lnTo>
                  <a:pt x="0" y="8413539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5282463" y="8026486"/>
            <a:ext cx="8424068" cy="8413538"/>
          </a:xfrm>
          <a:custGeom>
            <a:avLst/>
            <a:gdLst/>
            <a:ahLst/>
            <a:cxnLst/>
            <a:rect l="l" t="t" r="r" b="b"/>
            <a:pathLst>
              <a:path w="8424068" h="8413538">
                <a:moveTo>
                  <a:pt x="0" y="0"/>
                </a:moveTo>
                <a:lnTo>
                  <a:pt x="8424068" y="0"/>
                </a:lnTo>
                <a:lnTo>
                  <a:pt x="8424068" y="8413538"/>
                </a:lnTo>
                <a:lnTo>
                  <a:pt x="0" y="84135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4774468" y="-6236912"/>
            <a:ext cx="8424068" cy="8413538"/>
          </a:xfrm>
          <a:custGeom>
            <a:avLst/>
            <a:gdLst/>
            <a:ahLst/>
            <a:cxnLst/>
            <a:rect l="l" t="t" r="r" b="b"/>
            <a:pathLst>
              <a:path w="8424068" h="8413538">
                <a:moveTo>
                  <a:pt x="0" y="0"/>
                </a:moveTo>
                <a:lnTo>
                  <a:pt x="8424068" y="0"/>
                </a:lnTo>
                <a:lnTo>
                  <a:pt x="8424068" y="8413539"/>
                </a:lnTo>
                <a:lnTo>
                  <a:pt x="0" y="84135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304800" y="825487"/>
            <a:ext cx="16687800" cy="13511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000"/>
              </a:lnSpc>
            </a:pPr>
            <a:r>
              <a:rPr lang="en-US" sz="9600">
                <a:solidFill>
                  <a:srgbClr val="051D40"/>
                </a:solidFill>
                <a:latin typeface="Bernoru SemiCondensed" panose="020B0604020202020204" charset="0"/>
                <a:ea typeface="Genty"/>
                <a:cs typeface="Genty"/>
                <a:sym typeface="Genty"/>
              </a:rPr>
              <a:t>Libraries and features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0AB0EA17-F5BB-9B83-B505-53DD7AD16B0C}"/>
              </a:ext>
            </a:extLst>
          </p:cNvPr>
          <p:cNvGrpSpPr/>
          <p:nvPr/>
        </p:nvGrpSpPr>
        <p:grpSpPr>
          <a:xfrm>
            <a:off x="1981200" y="2628900"/>
            <a:ext cx="5410200" cy="1348313"/>
            <a:chOff x="2102958" y="2225651"/>
            <a:chExt cx="6545742" cy="1348313"/>
          </a:xfrm>
        </p:grpSpPr>
        <p:grpSp>
          <p:nvGrpSpPr>
            <p:cNvPr id="5" name="Group 5"/>
            <p:cNvGrpSpPr/>
            <p:nvPr/>
          </p:nvGrpSpPr>
          <p:grpSpPr>
            <a:xfrm>
              <a:off x="2102958" y="2225651"/>
              <a:ext cx="6545742" cy="1348313"/>
              <a:chOff x="0" y="0"/>
              <a:chExt cx="1723982" cy="355111"/>
            </a:xfrm>
          </p:grpSpPr>
          <p:sp>
            <p:nvSpPr>
              <p:cNvPr id="6" name="Freeform 6"/>
              <p:cNvSpPr/>
              <p:nvPr/>
            </p:nvSpPr>
            <p:spPr>
              <a:xfrm>
                <a:off x="0" y="0"/>
                <a:ext cx="1723982" cy="355111"/>
              </a:xfrm>
              <a:custGeom>
                <a:avLst/>
                <a:gdLst/>
                <a:ahLst/>
                <a:cxnLst/>
                <a:rect l="l" t="t" r="r" b="b"/>
                <a:pathLst>
                  <a:path w="1723982" h="355111">
                    <a:moveTo>
                      <a:pt x="60320" y="0"/>
                    </a:moveTo>
                    <a:lnTo>
                      <a:pt x="1663662" y="0"/>
                    </a:lnTo>
                    <a:cubicBezTo>
                      <a:pt x="1696975" y="0"/>
                      <a:pt x="1723982" y="27006"/>
                      <a:pt x="1723982" y="60320"/>
                    </a:cubicBezTo>
                    <a:lnTo>
                      <a:pt x="1723982" y="294791"/>
                    </a:lnTo>
                    <a:cubicBezTo>
                      <a:pt x="1723982" y="310789"/>
                      <a:pt x="1717627" y="326132"/>
                      <a:pt x="1706314" y="337444"/>
                    </a:cubicBezTo>
                    <a:cubicBezTo>
                      <a:pt x="1695002" y="348756"/>
                      <a:pt x="1679660" y="355111"/>
                      <a:pt x="1663662" y="355111"/>
                    </a:cubicBezTo>
                    <a:lnTo>
                      <a:pt x="60320" y="355111"/>
                    </a:lnTo>
                    <a:cubicBezTo>
                      <a:pt x="27006" y="355111"/>
                      <a:pt x="0" y="328105"/>
                      <a:pt x="0" y="294791"/>
                    </a:cubicBezTo>
                    <a:lnTo>
                      <a:pt x="0" y="60320"/>
                    </a:lnTo>
                    <a:cubicBezTo>
                      <a:pt x="0" y="27006"/>
                      <a:pt x="27006" y="0"/>
                      <a:pt x="60320" y="0"/>
                    </a:cubicBezTo>
                    <a:close/>
                  </a:path>
                </a:pathLst>
              </a:custGeom>
              <a:solidFill>
                <a:srgbClr val="B1D4E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" name="TextBox 7"/>
              <p:cNvSpPr txBox="1"/>
              <p:nvPr/>
            </p:nvSpPr>
            <p:spPr>
              <a:xfrm>
                <a:off x="0" y="-38100"/>
                <a:ext cx="1723982" cy="39321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8" name="TextBox 8"/>
            <p:cNvSpPr txBox="1"/>
            <p:nvPr/>
          </p:nvSpPr>
          <p:spPr>
            <a:xfrm>
              <a:off x="2514600" y="2523061"/>
              <a:ext cx="5258256" cy="77152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000"/>
                </a:lnSpc>
              </a:pPr>
              <a:r>
                <a:rPr lang="en-US" sz="5000">
                  <a:solidFill>
                    <a:srgbClr val="051D40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Header files </a:t>
              </a:r>
            </a:p>
          </p:txBody>
        </p:sp>
      </p:grpSp>
      <p:pic>
        <p:nvPicPr>
          <p:cNvPr id="23" name="Picture 22">
            <a:extLst>
              <a:ext uri="{FF2B5EF4-FFF2-40B4-BE49-F238E27FC236}">
                <a16:creationId xmlns:a16="http://schemas.microsoft.com/office/drawing/2014/main" id="{FEDF0DEF-F4A0-4A4B-08AA-0B157AE2D1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1200" y="4359968"/>
            <a:ext cx="5926425" cy="3899639"/>
          </a:xfrm>
          <a:prstGeom prst="rect">
            <a:avLst/>
          </a:prstGeom>
        </p:spPr>
      </p:pic>
      <p:sp>
        <p:nvSpPr>
          <p:cNvPr id="24" name="TextBox 8">
            <a:extLst>
              <a:ext uri="{FF2B5EF4-FFF2-40B4-BE49-F238E27FC236}">
                <a16:creationId xmlns:a16="http://schemas.microsoft.com/office/drawing/2014/main" id="{5BD6754E-6908-6142-B04A-049CB4F1F78E}"/>
              </a:ext>
            </a:extLst>
          </p:cNvPr>
          <p:cNvSpPr txBox="1"/>
          <p:nvPr/>
        </p:nvSpPr>
        <p:spPr>
          <a:xfrm>
            <a:off x="10744200" y="2324100"/>
            <a:ext cx="5029200" cy="225446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3600">
                <a:latin typeface="Nunito Sans" pitchFamily="2" charset="0"/>
              </a:rPr>
              <a:t>text-based user interface </a:t>
            </a:r>
            <a:r>
              <a:rPr lang="en-US" sz="3600">
                <a:solidFill>
                  <a:srgbClr val="051D40"/>
                </a:solidFill>
                <a:latin typeface="Nunito Sans"/>
                <a:ea typeface="Nunito Sans"/>
                <a:cs typeface="Nunito Sans"/>
                <a:sym typeface="Nunito Sans"/>
              </a:rPr>
              <a:t>To beautify and add more colors </a:t>
            </a:r>
          </a:p>
        </p:txBody>
      </p:sp>
      <p:sp>
        <p:nvSpPr>
          <p:cNvPr id="25" name="TextBox 8">
            <a:extLst>
              <a:ext uri="{FF2B5EF4-FFF2-40B4-BE49-F238E27FC236}">
                <a16:creationId xmlns:a16="http://schemas.microsoft.com/office/drawing/2014/main" id="{08F0B405-ABE7-3EE6-BCC1-D2DAEB956557}"/>
              </a:ext>
            </a:extLst>
          </p:cNvPr>
          <p:cNvSpPr txBox="1"/>
          <p:nvPr/>
        </p:nvSpPr>
        <p:spPr>
          <a:xfrm>
            <a:off x="10744200" y="5091125"/>
            <a:ext cx="4346064" cy="3092450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lIns="0" tIns="0" rIns="0" bIns="0" rtlCol="0" anchor="t">
            <a:spAutoFit/>
          </a:bodyPr>
          <a:lstStyle/>
          <a:p>
            <a:pPr algn="ctr">
              <a:lnSpc>
                <a:spcPts val="6000"/>
              </a:lnSpc>
            </a:pPr>
            <a:r>
              <a:rPr lang="en-US" sz="5400" b="0" i="0">
                <a:solidFill>
                  <a:schemeClr val="tx1"/>
                </a:solidFill>
                <a:effectLst/>
                <a:latin typeface="Google Sans"/>
              </a:rPr>
              <a:t>character classification and manipulation</a:t>
            </a:r>
            <a:endParaRPr lang="en-US" sz="5000">
              <a:solidFill>
                <a:schemeClr val="tx1"/>
              </a:solidFill>
              <a:latin typeface="Nunito Sans"/>
              <a:ea typeface="Nunito Sans"/>
              <a:cs typeface="Nunito Sans"/>
              <a:sym typeface="Nunito Sans"/>
            </a:endParaRPr>
          </a:p>
        </p:txBody>
      </p: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id="{F9129B5D-4F23-4461-126F-B88596F52A25}"/>
              </a:ext>
            </a:extLst>
          </p:cNvPr>
          <p:cNvCxnSpPr>
            <a:cxnSpLocks/>
            <a:endCxn id="24" idx="1"/>
          </p:cNvCxnSpPr>
          <p:nvPr/>
        </p:nvCxnSpPr>
        <p:spPr>
          <a:xfrm rot="5400000" flipH="1" flipV="1">
            <a:off x="7764516" y="3459216"/>
            <a:ext cx="2987568" cy="2971800"/>
          </a:xfrm>
          <a:prstGeom prst="bentConnector2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id="{39D3E9B1-48AF-DBE7-2574-21E8E0BCA9D9}"/>
              </a:ext>
            </a:extLst>
          </p:cNvPr>
          <p:cNvCxnSpPr>
            <a:endCxn id="25" idx="1"/>
          </p:cNvCxnSpPr>
          <p:nvPr/>
        </p:nvCxnSpPr>
        <p:spPr>
          <a:xfrm flipV="1">
            <a:off x="7391400" y="6637350"/>
            <a:ext cx="3352800" cy="944550"/>
          </a:xfrm>
          <a:prstGeom prst="bentConnector3">
            <a:avLst/>
          </a:prstGeom>
          <a:ln w="28575"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" name="TextBox 4">
            <a:extLst>
              <a:ext uri="{FF2B5EF4-FFF2-40B4-BE49-F238E27FC236}">
                <a16:creationId xmlns:a16="http://schemas.microsoft.com/office/drawing/2014/main" id="{3330F7A5-3859-25E0-4A30-FABA55594C64}"/>
              </a:ext>
            </a:extLst>
          </p:cNvPr>
          <p:cNvSpPr txBox="1"/>
          <p:nvPr/>
        </p:nvSpPr>
        <p:spPr>
          <a:xfrm>
            <a:off x="18288000" y="4692799"/>
            <a:ext cx="10384637" cy="160972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000"/>
              </a:lnSpc>
            </a:pPr>
            <a:r>
              <a:rPr lang="en-US" sz="12000">
                <a:solidFill>
                  <a:srgbClr val="051D40"/>
                </a:solidFill>
                <a:latin typeface="Bernoru SemiCondensed"/>
                <a:ea typeface="Bernoru SemiCondensed"/>
                <a:cs typeface="Bernoru SemiCondensed"/>
                <a:sym typeface="Bernoru SemiCondensed"/>
              </a:rPr>
              <a:t>Flow chart </a:t>
            </a:r>
          </a:p>
        </p:txBody>
      </p:sp>
      <p:sp>
        <p:nvSpPr>
          <p:cNvPr id="10" name="Freeform 2">
            <a:extLst>
              <a:ext uri="{FF2B5EF4-FFF2-40B4-BE49-F238E27FC236}">
                <a16:creationId xmlns:a16="http://schemas.microsoft.com/office/drawing/2014/main" id="{6DD951C6-C190-8C3D-F2E4-D70EF20F0FB6}"/>
              </a:ext>
            </a:extLst>
          </p:cNvPr>
          <p:cNvSpPr/>
          <p:nvPr/>
        </p:nvSpPr>
        <p:spPr>
          <a:xfrm>
            <a:off x="19494497" y="-6089438"/>
            <a:ext cx="8424068" cy="8413538"/>
          </a:xfrm>
          <a:custGeom>
            <a:avLst/>
            <a:gdLst/>
            <a:ahLst/>
            <a:cxnLst/>
            <a:rect l="l" t="t" r="r" b="b"/>
            <a:pathLst>
              <a:path w="8424068" h="8413538">
                <a:moveTo>
                  <a:pt x="0" y="0"/>
                </a:moveTo>
                <a:lnTo>
                  <a:pt x="8424068" y="0"/>
                </a:lnTo>
                <a:lnTo>
                  <a:pt x="8424068" y="8413538"/>
                </a:lnTo>
                <a:lnTo>
                  <a:pt x="0" y="8413538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  <p:sp>
        <p:nvSpPr>
          <p:cNvPr id="11" name="Freeform 3">
            <a:extLst>
              <a:ext uri="{FF2B5EF4-FFF2-40B4-BE49-F238E27FC236}">
                <a16:creationId xmlns:a16="http://schemas.microsoft.com/office/drawing/2014/main" id="{0B0663DB-66B0-FD86-1007-81A131FBE549}"/>
              </a:ext>
            </a:extLst>
          </p:cNvPr>
          <p:cNvSpPr/>
          <p:nvPr/>
        </p:nvSpPr>
        <p:spPr>
          <a:xfrm>
            <a:off x="-8657479" y="5909445"/>
            <a:ext cx="7766021" cy="7756313"/>
          </a:xfrm>
          <a:custGeom>
            <a:avLst/>
            <a:gdLst/>
            <a:ahLst/>
            <a:cxnLst/>
            <a:rect l="l" t="t" r="r" b="b"/>
            <a:pathLst>
              <a:path w="7766021" h="7756313">
                <a:moveTo>
                  <a:pt x="0" y="0"/>
                </a:moveTo>
                <a:lnTo>
                  <a:pt x="7766021" y="0"/>
                </a:lnTo>
                <a:lnTo>
                  <a:pt x="7766021" y="7756313"/>
                </a:lnTo>
                <a:lnTo>
                  <a:pt x="0" y="7756313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</p:spPr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25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5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"/>
                            </p:stCondLst>
                            <p:childTnLst>
                              <p:par>
                                <p:cTn id="17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3" dur="25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50"/>
                            </p:stCondLst>
                            <p:childTnLst>
                              <p:par>
                                <p:cTn id="25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7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4" grpId="0" animBg="1"/>
      <p:bldP spid="25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7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8A602915-0807-A810-FF25-EEDC0F3C6B1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6D0C9AB0-4EDF-D67B-D055-35149DABD65D}"/>
              </a:ext>
            </a:extLst>
          </p:cNvPr>
          <p:cNvSpPr/>
          <p:nvPr/>
        </p:nvSpPr>
        <p:spPr>
          <a:xfrm>
            <a:off x="15644925" y="-3236854"/>
            <a:ext cx="8424068" cy="8413538"/>
          </a:xfrm>
          <a:custGeom>
            <a:avLst/>
            <a:gdLst/>
            <a:ahLst/>
            <a:cxnLst/>
            <a:rect l="l" t="t" r="r" b="b"/>
            <a:pathLst>
              <a:path w="8424068" h="8413538">
                <a:moveTo>
                  <a:pt x="0" y="0"/>
                </a:moveTo>
                <a:lnTo>
                  <a:pt x="8424068" y="0"/>
                </a:lnTo>
                <a:lnTo>
                  <a:pt x="8424068" y="8413538"/>
                </a:lnTo>
                <a:lnTo>
                  <a:pt x="0" y="84135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C6320A0E-B009-637C-9082-0D92787345CB}"/>
              </a:ext>
            </a:extLst>
          </p:cNvPr>
          <p:cNvSpPr/>
          <p:nvPr/>
        </p:nvSpPr>
        <p:spPr>
          <a:xfrm>
            <a:off x="-6342881" y="1873462"/>
            <a:ext cx="8424068" cy="8413538"/>
          </a:xfrm>
          <a:custGeom>
            <a:avLst/>
            <a:gdLst/>
            <a:ahLst/>
            <a:cxnLst/>
            <a:rect l="l" t="t" r="r" b="b"/>
            <a:pathLst>
              <a:path w="8424068" h="8413538">
                <a:moveTo>
                  <a:pt x="0" y="0"/>
                </a:moveTo>
                <a:lnTo>
                  <a:pt x="8424068" y="0"/>
                </a:lnTo>
                <a:lnTo>
                  <a:pt x="8424068" y="8413539"/>
                </a:lnTo>
                <a:lnTo>
                  <a:pt x="0" y="84135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42311832-1A25-3C2B-DF54-BB9D6C0B1188}"/>
              </a:ext>
            </a:extLst>
          </p:cNvPr>
          <p:cNvSpPr txBox="1"/>
          <p:nvPr/>
        </p:nvSpPr>
        <p:spPr>
          <a:xfrm>
            <a:off x="304800" y="825487"/>
            <a:ext cx="16687800" cy="13511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000"/>
              </a:lnSpc>
            </a:pPr>
            <a:r>
              <a:rPr lang="en-US" sz="9600">
                <a:solidFill>
                  <a:srgbClr val="051D40"/>
                </a:solidFill>
                <a:latin typeface="Bernoru SemiCondensed" panose="020B0604020202020204" charset="0"/>
                <a:ea typeface="Genty"/>
                <a:cs typeface="Genty"/>
                <a:sym typeface="Genty"/>
              </a:rPr>
              <a:t>Libraries and features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41F399CC-91F2-ED84-D8B8-0A2E03C1B245}"/>
              </a:ext>
            </a:extLst>
          </p:cNvPr>
          <p:cNvGrpSpPr/>
          <p:nvPr/>
        </p:nvGrpSpPr>
        <p:grpSpPr>
          <a:xfrm>
            <a:off x="1957257" y="2225651"/>
            <a:ext cx="5351244" cy="1348313"/>
            <a:chOff x="1914470" y="2225651"/>
            <a:chExt cx="6922719" cy="1348313"/>
          </a:xfrm>
        </p:grpSpPr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E37F642E-2034-CAF3-AA88-014DABE096B1}"/>
                </a:ext>
              </a:extLst>
            </p:cNvPr>
            <p:cNvGrpSpPr/>
            <p:nvPr/>
          </p:nvGrpSpPr>
          <p:grpSpPr>
            <a:xfrm>
              <a:off x="2102958" y="2225651"/>
              <a:ext cx="6545742" cy="1348313"/>
              <a:chOff x="0" y="0"/>
              <a:chExt cx="1723982" cy="355111"/>
            </a:xfrm>
          </p:grpSpPr>
          <p:sp>
            <p:nvSpPr>
              <p:cNvPr id="6" name="Freeform 6">
                <a:extLst>
                  <a:ext uri="{FF2B5EF4-FFF2-40B4-BE49-F238E27FC236}">
                    <a16:creationId xmlns:a16="http://schemas.microsoft.com/office/drawing/2014/main" id="{CE3A36A8-E1F3-47C6-3A1F-84EBC6F3AF3A}"/>
                  </a:ext>
                </a:extLst>
              </p:cNvPr>
              <p:cNvSpPr/>
              <p:nvPr/>
            </p:nvSpPr>
            <p:spPr>
              <a:xfrm>
                <a:off x="0" y="0"/>
                <a:ext cx="1723982" cy="355111"/>
              </a:xfrm>
              <a:custGeom>
                <a:avLst/>
                <a:gdLst/>
                <a:ahLst/>
                <a:cxnLst/>
                <a:rect l="l" t="t" r="r" b="b"/>
                <a:pathLst>
                  <a:path w="1723982" h="355111">
                    <a:moveTo>
                      <a:pt x="60320" y="0"/>
                    </a:moveTo>
                    <a:lnTo>
                      <a:pt x="1663662" y="0"/>
                    </a:lnTo>
                    <a:cubicBezTo>
                      <a:pt x="1696975" y="0"/>
                      <a:pt x="1723982" y="27006"/>
                      <a:pt x="1723982" y="60320"/>
                    </a:cubicBezTo>
                    <a:lnTo>
                      <a:pt x="1723982" y="294791"/>
                    </a:lnTo>
                    <a:cubicBezTo>
                      <a:pt x="1723982" y="310789"/>
                      <a:pt x="1717627" y="326132"/>
                      <a:pt x="1706314" y="337444"/>
                    </a:cubicBezTo>
                    <a:cubicBezTo>
                      <a:pt x="1695002" y="348756"/>
                      <a:pt x="1679660" y="355111"/>
                      <a:pt x="1663662" y="355111"/>
                    </a:cubicBezTo>
                    <a:lnTo>
                      <a:pt x="60320" y="355111"/>
                    </a:lnTo>
                    <a:cubicBezTo>
                      <a:pt x="27006" y="355111"/>
                      <a:pt x="0" y="328105"/>
                      <a:pt x="0" y="294791"/>
                    </a:cubicBezTo>
                    <a:lnTo>
                      <a:pt x="0" y="60320"/>
                    </a:lnTo>
                    <a:cubicBezTo>
                      <a:pt x="0" y="27006"/>
                      <a:pt x="27006" y="0"/>
                      <a:pt x="60320" y="0"/>
                    </a:cubicBezTo>
                    <a:close/>
                  </a:path>
                </a:pathLst>
              </a:custGeom>
              <a:solidFill>
                <a:srgbClr val="B1D4E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" name="TextBox 7">
                <a:extLst>
                  <a:ext uri="{FF2B5EF4-FFF2-40B4-BE49-F238E27FC236}">
                    <a16:creationId xmlns:a16="http://schemas.microsoft.com/office/drawing/2014/main" id="{E25471CC-CB07-6F37-89AC-0CC94247365E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723982" cy="39321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49150705-5B03-C77C-3C59-A7221879BA8E}"/>
                </a:ext>
              </a:extLst>
            </p:cNvPr>
            <p:cNvSpPr txBox="1"/>
            <p:nvPr/>
          </p:nvSpPr>
          <p:spPr>
            <a:xfrm>
              <a:off x="1914470" y="2522195"/>
              <a:ext cx="6922719" cy="77239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6000"/>
                </a:lnSpc>
              </a:pPr>
              <a:r>
                <a:rPr lang="en-US" sz="5400" b="1" i="0">
                  <a:solidFill>
                    <a:srgbClr val="FFFFFF"/>
                  </a:solidFill>
                  <a:effectLst/>
                  <a:latin typeface="__Inter_d65c78"/>
                </a:rPr>
                <a:t>Key </a:t>
              </a:r>
              <a:r>
                <a:rPr lang="en-US" sz="5400" b="1" i="0">
                  <a:effectLst/>
                  <a:latin typeface="__Inter_d65c78"/>
                </a:rPr>
                <a:t>Components</a:t>
              </a:r>
              <a:r>
                <a:rPr lang="en-US" sz="5000">
                  <a:solidFill>
                    <a:srgbClr val="051D40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 </a:t>
              </a:r>
            </a:p>
          </p:txBody>
        </p:sp>
      </p:grpSp>
      <p:sp>
        <p:nvSpPr>
          <p:cNvPr id="22" name="TextBox 8">
            <a:extLst>
              <a:ext uri="{FF2B5EF4-FFF2-40B4-BE49-F238E27FC236}">
                <a16:creationId xmlns:a16="http://schemas.microsoft.com/office/drawing/2014/main" id="{6FB1A319-C22F-412D-72B2-4FE9E0B26434}"/>
              </a:ext>
            </a:extLst>
          </p:cNvPr>
          <p:cNvSpPr txBox="1"/>
          <p:nvPr/>
        </p:nvSpPr>
        <p:spPr>
          <a:xfrm>
            <a:off x="1993543" y="3786872"/>
            <a:ext cx="12630158" cy="76328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000"/>
              </a:lnSpc>
            </a:pPr>
            <a:r>
              <a:rPr lang="en-US" sz="5400" b="1" i="0">
                <a:effectLst/>
                <a:latin typeface="__Inter_d65c78"/>
              </a:rPr>
              <a:t>Data Structures</a:t>
            </a:r>
          </a:p>
          <a:p>
            <a:pPr marL="685800" indent="-685800">
              <a:lnSpc>
                <a:spcPts val="6000"/>
              </a:lnSpc>
              <a:buFont typeface="Arial" panose="020B0604020202020204" pitchFamily="34" charset="0"/>
              <a:buChar char="•"/>
            </a:pPr>
            <a:r>
              <a:rPr lang="en-US" sz="4400" b="1" i="0">
                <a:effectLst/>
                <a:latin typeface="__Inter_d65c78"/>
              </a:rPr>
              <a:t>Node: </a:t>
            </a:r>
            <a:r>
              <a:rPr lang="en-US" sz="4400" b="0" i="0">
                <a:effectLst/>
                <a:latin typeface="__Inter_d65c78"/>
              </a:rPr>
              <a:t>Represents an element in the stack, storing a token and a pointer to the next node.</a:t>
            </a:r>
          </a:p>
          <a:p>
            <a:pPr>
              <a:lnSpc>
                <a:spcPts val="6000"/>
              </a:lnSpc>
            </a:pPr>
            <a:endParaRPr lang="en-US" sz="4400">
              <a:latin typeface="__Inter_d65c78"/>
            </a:endParaRPr>
          </a:p>
          <a:p>
            <a:pPr>
              <a:lnSpc>
                <a:spcPts val="6000"/>
              </a:lnSpc>
            </a:pPr>
            <a:endParaRPr lang="en-US" sz="4400" b="0" i="0">
              <a:effectLst/>
              <a:latin typeface="__Inter_d65c78"/>
            </a:endParaRPr>
          </a:p>
          <a:p>
            <a:pPr marL="685800" indent="-685800" algn="l">
              <a:buFont typeface="Arial" panose="020B0604020202020204" pitchFamily="34" charset="0"/>
              <a:buChar char="•"/>
            </a:pPr>
            <a:r>
              <a:rPr lang="en-US" sz="4400" b="1" i="0">
                <a:effectLst/>
                <a:latin typeface="__Inter_d65c78"/>
              </a:rPr>
              <a:t>Stack: </a:t>
            </a:r>
            <a:r>
              <a:rPr lang="en-US" sz="4400" b="0" i="0">
                <a:effectLst/>
                <a:latin typeface="__Inter_d65c78"/>
              </a:rPr>
              <a:t>Represents the stack itself, with a pointer to the top node and a size indicator.</a:t>
            </a:r>
          </a:p>
          <a:p>
            <a:pPr>
              <a:buNone/>
            </a:pPr>
            <a:br>
              <a:rPr lang="en-US" sz="5400" b="0" i="0">
                <a:solidFill>
                  <a:srgbClr val="D1D5DB"/>
                </a:solidFill>
                <a:effectLst/>
                <a:latin typeface="__Inter_d65c78"/>
              </a:rPr>
            </a:br>
            <a:endParaRPr lang="en-US" sz="5400" b="1">
              <a:solidFill>
                <a:srgbClr val="FFFFFF"/>
              </a:solidFill>
              <a:latin typeface="__Inter_d65c78"/>
            </a:endParaRPr>
          </a:p>
          <a:p>
            <a:pPr marL="685800" indent="-685800" algn="ctr">
              <a:lnSpc>
                <a:spcPts val="6000"/>
              </a:lnSpc>
              <a:buFont typeface="Arial" panose="020B0604020202020204" pitchFamily="34" charset="0"/>
              <a:buChar char="•"/>
            </a:pPr>
            <a:endParaRPr lang="en-US" sz="5000">
              <a:latin typeface="Nunito Sans"/>
              <a:ea typeface="Nunito Sans"/>
              <a:cs typeface="Nunito Sans"/>
              <a:sym typeface="Nunito Sans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0977A3FD-2334-D14E-EE88-4C50013E376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68000" y="2537828"/>
            <a:ext cx="4430596" cy="178262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cxnSp>
        <p:nvCxnSpPr>
          <p:cNvPr id="26" name="Connector: Elbow 25">
            <a:extLst>
              <a:ext uri="{FF2B5EF4-FFF2-40B4-BE49-F238E27FC236}">
                <a16:creationId xmlns:a16="http://schemas.microsoft.com/office/drawing/2014/main" id="{5E17F7DB-EA7D-F434-0373-3A4A4465B7C8}"/>
              </a:ext>
            </a:extLst>
          </p:cNvPr>
          <p:cNvCxnSpPr>
            <a:cxnSpLocks/>
          </p:cNvCxnSpPr>
          <p:nvPr/>
        </p:nvCxnSpPr>
        <p:spPr>
          <a:xfrm flipV="1">
            <a:off x="8626929" y="3425670"/>
            <a:ext cx="2019300" cy="1257160"/>
          </a:xfrm>
          <a:prstGeom prst="bentConnector3">
            <a:avLst>
              <a:gd name="adj1" fmla="val 404"/>
            </a:avLst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30" name="Picture 29">
            <a:extLst>
              <a:ext uri="{FF2B5EF4-FFF2-40B4-BE49-F238E27FC236}">
                <a16:creationId xmlns:a16="http://schemas.microsoft.com/office/drawing/2014/main" id="{333E0BFC-176F-7CF2-ED52-EC7ED373209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30559" y="5676900"/>
            <a:ext cx="4083170" cy="15240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id="{5C4930C2-43FE-F603-9904-6A2E665E3E43}"/>
              </a:ext>
            </a:extLst>
          </p:cNvPr>
          <p:cNvCxnSpPr>
            <a:cxnSpLocks/>
          </p:cNvCxnSpPr>
          <p:nvPr/>
        </p:nvCxnSpPr>
        <p:spPr>
          <a:xfrm flipV="1">
            <a:off x="9511259" y="6572320"/>
            <a:ext cx="2019300" cy="1257160"/>
          </a:xfrm>
          <a:prstGeom prst="bentConnector3">
            <a:avLst>
              <a:gd name="adj1" fmla="val 404"/>
            </a:avLst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5280173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"/>
                            </p:stCondLst>
                            <p:childTnLst>
                              <p:par>
                                <p:cTn id="1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1000"/>
                            </p:stCondLst>
                            <p:childTnLst>
                              <p:par>
                                <p:cTn id="21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3" dur="25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4" fill="hold">
                            <p:stCondLst>
                              <p:cond delay="1250"/>
                            </p:stCondLst>
                            <p:childTnLst>
                              <p:par>
                                <p:cTn id="25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27" dur="250"/>
                                        <p:tgtEl>
                                          <p:spTgt spid="3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7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0EDA741-8A2A-86EE-99D9-830F4FDBE87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4707534B-BFB4-5C17-7BE9-F90BDCA49E74}"/>
              </a:ext>
            </a:extLst>
          </p:cNvPr>
          <p:cNvSpPr/>
          <p:nvPr/>
        </p:nvSpPr>
        <p:spPr>
          <a:xfrm>
            <a:off x="15544800" y="-3270038"/>
            <a:ext cx="8424068" cy="8413538"/>
          </a:xfrm>
          <a:custGeom>
            <a:avLst/>
            <a:gdLst/>
            <a:ahLst/>
            <a:cxnLst/>
            <a:rect l="l" t="t" r="r" b="b"/>
            <a:pathLst>
              <a:path w="8424068" h="8413538">
                <a:moveTo>
                  <a:pt x="0" y="0"/>
                </a:moveTo>
                <a:lnTo>
                  <a:pt x="8424068" y="0"/>
                </a:lnTo>
                <a:lnTo>
                  <a:pt x="8424068" y="8413538"/>
                </a:lnTo>
                <a:lnTo>
                  <a:pt x="0" y="84135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C6ABCA06-B593-31F8-869B-B002691D0171}"/>
              </a:ext>
            </a:extLst>
          </p:cNvPr>
          <p:cNvSpPr/>
          <p:nvPr/>
        </p:nvSpPr>
        <p:spPr>
          <a:xfrm>
            <a:off x="-4744945" y="5524500"/>
            <a:ext cx="8424068" cy="8413538"/>
          </a:xfrm>
          <a:custGeom>
            <a:avLst/>
            <a:gdLst/>
            <a:ahLst/>
            <a:cxnLst/>
            <a:rect l="l" t="t" r="r" b="b"/>
            <a:pathLst>
              <a:path w="8424068" h="8413538">
                <a:moveTo>
                  <a:pt x="0" y="0"/>
                </a:moveTo>
                <a:lnTo>
                  <a:pt x="8424068" y="0"/>
                </a:lnTo>
                <a:lnTo>
                  <a:pt x="8424068" y="8413539"/>
                </a:lnTo>
                <a:lnTo>
                  <a:pt x="0" y="84135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1FDC79CF-8F20-5DCC-E79A-DC14B2E54D05}"/>
              </a:ext>
            </a:extLst>
          </p:cNvPr>
          <p:cNvSpPr txBox="1"/>
          <p:nvPr/>
        </p:nvSpPr>
        <p:spPr>
          <a:xfrm>
            <a:off x="304800" y="825487"/>
            <a:ext cx="16687800" cy="13511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000"/>
              </a:lnSpc>
            </a:pPr>
            <a:r>
              <a:rPr lang="en-US" sz="9600">
                <a:solidFill>
                  <a:srgbClr val="051D40"/>
                </a:solidFill>
                <a:latin typeface="Bernoru SemiCondensed" panose="020B0604020202020204" charset="0"/>
                <a:ea typeface="Genty"/>
                <a:cs typeface="Genty"/>
                <a:sym typeface="Genty"/>
              </a:rPr>
              <a:t>Libraries and features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A6EE6AE3-09AD-7280-58BF-963CDFD91397}"/>
              </a:ext>
            </a:extLst>
          </p:cNvPr>
          <p:cNvGrpSpPr/>
          <p:nvPr/>
        </p:nvGrpSpPr>
        <p:grpSpPr>
          <a:xfrm>
            <a:off x="1957257" y="2225651"/>
            <a:ext cx="5351244" cy="1348313"/>
            <a:chOff x="1914470" y="2225651"/>
            <a:chExt cx="6922719" cy="1348313"/>
          </a:xfrm>
        </p:grpSpPr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CB525735-9B89-9CEA-1C14-5124130251E0}"/>
                </a:ext>
              </a:extLst>
            </p:cNvPr>
            <p:cNvGrpSpPr/>
            <p:nvPr/>
          </p:nvGrpSpPr>
          <p:grpSpPr>
            <a:xfrm>
              <a:off x="2102958" y="2225651"/>
              <a:ext cx="6545742" cy="1348313"/>
              <a:chOff x="0" y="0"/>
              <a:chExt cx="1723982" cy="355111"/>
            </a:xfrm>
          </p:grpSpPr>
          <p:sp>
            <p:nvSpPr>
              <p:cNvPr id="6" name="Freeform 6">
                <a:extLst>
                  <a:ext uri="{FF2B5EF4-FFF2-40B4-BE49-F238E27FC236}">
                    <a16:creationId xmlns:a16="http://schemas.microsoft.com/office/drawing/2014/main" id="{B00E6201-6401-FF16-BFFB-4B95DD0BFAD3}"/>
                  </a:ext>
                </a:extLst>
              </p:cNvPr>
              <p:cNvSpPr/>
              <p:nvPr/>
            </p:nvSpPr>
            <p:spPr>
              <a:xfrm>
                <a:off x="0" y="0"/>
                <a:ext cx="1723982" cy="355111"/>
              </a:xfrm>
              <a:custGeom>
                <a:avLst/>
                <a:gdLst/>
                <a:ahLst/>
                <a:cxnLst/>
                <a:rect l="l" t="t" r="r" b="b"/>
                <a:pathLst>
                  <a:path w="1723982" h="355111">
                    <a:moveTo>
                      <a:pt x="60320" y="0"/>
                    </a:moveTo>
                    <a:lnTo>
                      <a:pt x="1663662" y="0"/>
                    </a:lnTo>
                    <a:cubicBezTo>
                      <a:pt x="1696975" y="0"/>
                      <a:pt x="1723982" y="27006"/>
                      <a:pt x="1723982" y="60320"/>
                    </a:cubicBezTo>
                    <a:lnTo>
                      <a:pt x="1723982" y="294791"/>
                    </a:lnTo>
                    <a:cubicBezTo>
                      <a:pt x="1723982" y="310789"/>
                      <a:pt x="1717627" y="326132"/>
                      <a:pt x="1706314" y="337444"/>
                    </a:cubicBezTo>
                    <a:cubicBezTo>
                      <a:pt x="1695002" y="348756"/>
                      <a:pt x="1679660" y="355111"/>
                      <a:pt x="1663662" y="355111"/>
                    </a:cubicBezTo>
                    <a:lnTo>
                      <a:pt x="60320" y="355111"/>
                    </a:lnTo>
                    <a:cubicBezTo>
                      <a:pt x="27006" y="355111"/>
                      <a:pt x="0" y="328105"/>
                      <a:pt x="0" y="294791"/>
                    </a:cubicBezTo>
                    <a:lnTo>
                      <a:pt x="0" y="60320"/>
                    </a:lnTo>
                    <a:cubicBezTo>
                      <a:pt x="0" y="27006"/>
                      <a:pt x="27006" y="0"/>
                      <a:pt x="60320" y="0"/>
                    </a:cubicBezTo>
                    <a:close/>
                  </a:path>
                </a:pathLst>
              </a:custGeom>
              <a:solidFill>
                <a:srgbClr val="B1D4E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" name="TextBox 7">
                <a:extLst>
                  <a:ext uri="{FF2B5EF4-FFF2-40B4-BE49-F238E27FC236}">
                    <a16:creationId xmlns:a16="http://schemas.microsoft.com/office/drawing/2014/main" id="{FE1BF3A5-8724-6816-EE55-2D6EA4394233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723982" cy="39321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959E2B52-D7F0-7335-CB5B-5A1769CA8A87}"/>
                </a:ext>
              </a:extLst>
            </p:cNvPr>
            <p:cNvSpPr txBox="1"/>
            <p:nvPr/>
          </p:nvSpPr>
          <p:spPr>
            <a:xfrm>
              <a:off x="1914470" y="2522195"/>
              <a:ext cx="6922719" cy="77239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6000"/>
                </a:lnSpc>
              </a:pPr>
              <a:r>
                <a:rPr lang="en-US" sz="5400" b="1" i="0">
                  <a:solidFill>
                    <a:srgbClr val="FFFFFF"/>
                  </a:solidFill>
                  <a:effectLst/>
                  <a:latin typeface="__Inter_d65c78"/>
                </a:rPr>
                <a:t>Key </a:t>
              </a:r>
              <a:r>
                <a:rPr lang="en-US" sz="5400" b="1" i="0">
                  <a:effectLst/>
                  <a:latin typeface="__Inter_d65c78"/>
                </a:rPr>
                <a:t>Components</a:t>
              </a:r>
              <a:r>
                <a:rPr lang="en-US" sz="5000">
                  <a:solidFill>
                    <a:srgbClr val="051D40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 </a:t>
              </a: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04940C59-08CA-1C71-0010-302F7264E19D}"/>
              </a:ext>
            </a:extLst>
          </p:cNvPr>
          <p:cNvSpPr txBox="1"/>
          <p:nvPr/>
        </p:nvSpPr>
        <p:spPr>
          <a:xfrm>
            <a:off x="1993543" y="3786872"/>
            <a:ext cx="12630158" cy="47397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000"/>
              </a:lnSpc>
            </a:pPr>
            <a:r>
              <a:rPr lang="en-US" sz="5400" b="1" i="0">
                <a:effectLst/>
                <a:latin typeface="__Inter_d65c78"/>
              </a:rPr>
              <a:t>UI Functions:</a:t>
            </a:r>
          </a:p>
          <a:p>
            <a:pPr marL="571500" indent="-571500">
              <a:lnSpc>
                <a:spcPts val="6000"/>
              </a:lnSpc>
              <a:buFont typeface="Arial" panose="020B0604020202020204" pitchFamily="34" charset="0"/>
              <a:buChar char="•"/>
            </a:pPr>
            <a:r>
              <a:rPr lang="en-US" sz="4000" b="1" i="0">
                <a:effectLst/>
                <a:latin typeface="__Inter_d65c78"/>
              </a:rPr>
              <a:t>Display Stack: </a:t>
            </a:r>
            <a:r>
              <a:rPr lang="en-US" sz="4000" i="0">
                <a:effectLst/>
                <a:latin typeface="__Inter_d65c78"/>
              </a:rPr>
              <a:t>Shows the current contents of the stack in a specified window.</a:t>
            </a:r>
          </a:p>
          <a:p>
            <a:pPr marL="685800" indent="-685800" algn="ctr">
              <a:lnSpc>
                <a:spcPts val="6000"/>
              </a:lnSpc>
              <a:buFont typeface="Arial" panose="020B0604020202020204" pitchFamily="34" charset="0"/>
              <a:buChar char="•"/>
            </a:pPr>
            <a:endParaRPr lang="en-US" sz="5000">
              <a:latin typeface="Nunito Sans"/>
              <a:ea typeface="Nunito Sans"/>
              <a:cs typeface="Nunito Sans"/>
              <a:sym typeface="Nunito Sans"/>
            </a:endParaRPr>
          </a:p>
          <a:p>
            <a:pPr>
              <a:buNone/>
            </a:pPr>
            <a:br>
              <a:rPr lang="en-US" sz="5400" b="0" i="0">
                <a:effectLst/>
                <a:latin typeface="__Inter_d65c78"/>
              </a:rPr>
            </a:br>
            <a:endParaRPr lang="en-US" sz="5400" b="1">
              <a:solidFill>
                <a:srgbClr val="FFFFFF"/>
              </a:solidFill>
              <a:latin typeface="__Inter_d65c78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73FDBA4D-89CD-4F75-12DB-AE22DA0E145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53000" y="6337683"/>
            <a:ext cx="10944578" cy="158234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11BE91FB-2E8B-EE70-9C83-83CD943A2A68}"/>
              </a:ext>
            </a:extLst>
          </p:cNvPr>
          <p:cNvCxnSpPr>
            <a:cxnSpLocks/>
          </p:cNvCxnSpPr>
          <p:nvPr/>
        </p:nvCxnSpPr>
        <p:spPr>
          <a:xfrm>
            <a:off x="3627086" y="6156751"/>
            <a:ext cx="1303400" cy="972106"/>
          </a:xfrm>
          <a:prstGeom prst="bentConnector3">
            <a:avLst>
              <a:gd name="adj1" fmla="val 2116"/>
            </a:avLst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6910794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7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EA11CA6-BCF7-74F9-D7E9-0A2A8A49EEA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6185F1E-2612-B661-E60E-B393DA7F7375}"/>
              </a:ext>
            </a:extLst>
          </p:cNvPr>
          <p:cNvSpPr/>
          <p:nvPr/>
        </p:nvSpPr>
        <p:spPr>
          <a:xfrm>
            <a:off x="16005852" y="266700"/>
            <a:ext cx="8424068" cy="8413538"/>
          </a:xfrm>
          <a:custGeom>
            <a:avLst/>
            <a:gdLst/>
            <a:ahLst/>
            <a:cxnLst/>
            <a:rect l="l" t="t" r="r" b="b"/>
            <a:pathLst>
              <a:path w="8424068" h="8413538">
                <a:moveTo>
                  <a:pt x="0" y="0"/>
                </a:moveTo>
                <a:lnTo>
                  <a:pt x="8424068" y="0"/>
                </a:lnTo>
                <a:lnTo>
                  <a:pt x="8424068" y="8413538"/>
                </a:lnTo>
                <a:lnTo>
                  <a:pt x="0" y="84135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878EB2C9-3068-5E26-7A63-D792F39B4538}"/>
              </a:ext>
            </a:extLst>
          </p:cNvPr>
          <p:cNvSpPr/>
          <p:nvPr/>
        </p:nvSpPr>
        <p:spPr>
          <a:xfrm>
            <a:off x="-3600642" y="6092875"/>
            <a:ext cx="8424068" cy="8413538"/>
          </a:xfrm>
          <a:custGeom>
            <a:avLst/>
            <a:gdLst/>
            <a:ahLst/>
            <a:cxnLst/>
            <a:rect l="l" t="t" r="r" b="b"/>
            <a:pathLst>
              <a:path w="8424068" h="8413538">
                <a:moveTo>
                  <a:pt x="0" y="0"/>
                </a:moveTo>
                <a:lnTo>
                  <a:pt x="8424068" y="0"/>
                </a:lnTo>
                <a:lnTo>
                  <a:pt x="8424068" y="8413539"/>
                </a:lnTo>
                <a:lnTo>
                  <a:pt x="0" y="84135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E8A08517-14DD-A0D9-2B9F-C0DBCE03A263}"/>
              </a:ext>
            </a:extLst>
          </p:cNvPr>
          <p:cNvSpPr txBox="1"/>
          <p:nvPr/>
        </p:nvSpPr>
        <p:spPr>
          <a:xfrm>
            <a:off x="304800" y="825487"/>
            <a:ext cx="16687800" cy="13511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000"/>
              </a:lnSpc>
            </a:pPr>
            <a:r>
              <a:rPr lang="en-US" sz="9600">
                <a:solidFill>
                  <a:srgbClr val="051D40"/>
                </a:solidFill>
                <a:latin typeface="Bernoru SemiCondensed" panose="020B0604020202020204" charset="0"/>
                <a:ea typeface="Genty"/>
                <a:cs typeface="Genty"/>
                <a:sym typeface="Genty"/>
              </a:rPr>
              <a:t>Libraries and features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1D5AA0B-E4C0-7FFD-FA76-E36E2DBF9C60}"/>
              </a:ext>
            </a:extLst>
          </p:cNvPr>
          <p:cNvGrpSpPr/>
          <p:nvPr/>
        </p:nvGrpSpPr>
        <p:grpSpPr>
          <a:xfrm>
            <a:off x="1957257" y="2225651"/>
            <a:ext cx="5351244" cy="1348313"/>
            <a:chOff x="1914470" y="2225651"/>
            <a:chExt cx="6922719" cy="1348313"/>
          </a:xfrm>
        </p:grpSpPr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CCD37C4D-73B5-3786-1053-2FB30C8C9101}"/>
                </a:ext>
              </a:extLst>
            </p:cNvPr>
            <p:cNvGrpSpPr/>
            <p:nvPr/>
          </p:nvGrpSpPr>
          <p:grpSpPr>
            <a:xfrm>
              <a:off x="2102958" y="2225651"/>
              <a:ext cx="6545742" cy="1348313"/>
              <a:chOff x="0" y="0"/>
              <a:chExt cx="1723982" cy="355111"/>
            </a:xfrm>
          </p:grpSpPr>
          <p:sp>
            <p:nvSpPr>
              <p:cNvPr id="6" name="Freeform 6">
                <a:extLst>
                  <a:ext uri="{FF2B5EF4-FFF2-40B4-BE49-F238E27FC236}">
                    <a16:creationId xmlns:a16="http://schemas.microsoft.com/office/drawing/2014/main" id="{EFF80925-4773-24AB-AC28-8274A4063AB4}"/>
                  </a:ext>
                </a:extLst>
              </p:cNvPr>
              <p:cNvSpPr/>
              <p:nvPr/>
            </p:nvSpPr>
            <p:spPr>
              <a:xfrm>
                <a:off x="0" y="0"/>
                <a:ext cx="1723982" cy="355111"/>
              </a:xfrm>
              <a:custGeom>
                <a:avLst/>
                <a:gdLst/>
                <a:ahLst/>
                <a:cxnLst/>
                <a:rect l="l" t="t" r="r" b="b"/>
                <a:pathLst>
                  <a:path w="1723982" h="355111">
                    <a:moveTo>
                      <a:pt x="60320" y="0"/>
                    </a:moveTo>
                    <a:lnTo>
                      <a:pt x="1663662" y="0"/>
                    </a:lnTo>
                    <a:cubicBezTo>
                      <a:pt x="1696975" y="0"/>
                      <a:pt x="1723982" y="27006"/>
                      <a:pt x="1723982" y="60320"/>
                    </a:cubicBezTo>
                    <a:lnTo>
                      <a:pt x="1723982" y="294791"/>
                    </a:lnTo>
                    <a:cubicBezTo>
                      <a:pt x="1723982" y="310789"/>
                      <a:pt x="1717627" y="326132"/>
                      <a:pt x="1706314" y="337444"/>
                    </a:cubicBezTo>
                    <a:cubicBezTo>
                      <a:pt x="1695002" y="348756"/>
                      <a:pt x="1679660" y="355111"/>
                      <a:pt x="1663662" y="355111"/>
                    </a:cubicBezTo>
                    <a:lnTo>
                      <a:pt x="60320" y="355111"/>
                    </a:lnTo>
                    <a:cubicBezTo>
                      <a:pt x="27006" y="355111"/>
                      <a:pt x="0" y="328105"/>
                      <a:pt x="0" y="294791"/>
                    </a:cubicBezTo>
                    <a:lnTo>
                      <a:pt x="0" y="60320"/>
                    </a:lnTo>
                    <a:cubicBezTo>
                      <a:pt x="0" y="27006"/>
                      <a:pt x="27006" y="0"/>
                      <a:pt x="60320" y="0"/>
                    </a:cubicBezTo>
                    <a:close/>
                  </a:path>
                </a:pathLst>
              </a:custGeom>
              <a:solidFill>
                <a:srgbClr val="B1D4E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" name="TextBox 7">
                <a:extLst>
                  <a:ext uri="{FF2B5EF4-FFF2-40B4-BE49-F238E27FC236}">
                    <a16:creationId xmlns:a16="http://schemas.microsoft.com/office/drawing/2014/main" id="{50F1BE2A-F1B0-142D-ED32-7F621FBD4354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723982" cy="39321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2571433A-F5D1-A31F-5CFE-F3B476B94528}"/>
                </a:ext>
              </a:extLst>
            </p:cNvPr>
            <p:cNvSpPr txBox="1"/>
            <p:nvPr/>
          </p:nvSpPr>
          <p:spPr>
            <a:xfrm>
              <a:off x="1914470" y="2522195"/>
              <a:ext cx="6922719" cy="77239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6000"/>
                </a:lnSpc>
              </a:pPr>
              <a:r>
                <a:rPr lang="en-US" sz="5400" b="1" i="0">
                  <a:solidFill>
                    <a:srgbClr val="FFFFFF"/>
                  </a:solidFill>
                  <a:effectLst/>
                  <a:latin typeface="__Inter_d65c78"/>
                </a:rPr>
                <a:t>Key </a:t>
              </a:r>
              <a:r>
                <a:rPr lang="en-US" sz="5400" b="1" i="0">
                  <a:effectLst/>
                  <a:latin typeface="__Inter_d65c78"/>
                </a:rPr>
                <a:t>Components</a:t>
              </a:r>
              <a:r>
                <a:rPr lang="en-US" sz="5000">
                  <a:solidFill>
                    <a:srgbClr val="051D40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 </a:t>
              </a: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159584F9-2DE8-A43C-AB6D-773C30DB372D}"/>
              </a:ext>
            </a:extLst>
          </p:cNvPr>
          <p:cNvSpPr txBox="1"/>
          <p:nvPr/>
        </p:nvSpPr>
        <p:spPr>
          <a:xfrm>
            <a:off x="1993543" y="3786872"/>
            <a:ext cx="12630158" cy="5509200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000"/>
              </a:lnSpc>
            </a:pPr>
            <a:r>
              <a:rPr lang="en-US" sz="5400" b="1" i="0">
                <a:effectLst/>
                <a:latin typeface="__Inter_d65c78"/>
              </a:rPr>
              <a:t>UI Functions:</a:t>
            </a:r>
          </a:p>
          <a:p>
            <a:pPr marL="571500" indent="-571500">
              <a:lnSpc>
                <a:spcPts val="6000"/>
              </a:lnSpc>
              <a:buFont typeface="Arial" panose="020B0604020202020204" pitchFamily="34" charset="0"/>
              <a:buChar char="•"/>
            </a:pPr>
            <a:r>
              <a:rPr lang="en-US" sz="4000" b="1" i="0">
                <a:effectLst/>
                <a:latin typeface="__Inter_d65c78"/>
              </a:rPr>
              <a:t>Draw Menu: </a:t>
            </a:r>
            <a:r>
              <a:rPr lang="en-US" sz="4000" i="0">
                <a:effectLst/>
                <a:latin typeface="__Inter_d65c78"/>
              </a:rPr>
              <a:t>Renders the main menu with available options for the user.</a:t>
            </a:r>
          </a:p>
          <a:p>
            <a:pPr marL="571500" indent="-571500">
              <a:lnSpc>
                <a:spcPts val="6000"/>
              </a:lnSpc>
              <a:buFont typeface="Arial" panose="020B0604020202020204" pitchFamily="34" charset="0"/>
              <a:buChar char="•"/>
            </a:pPr>
            <a:endParaRPr lang="en-US" sz="4000" b="1" i="0">
              <a:effectLst/>
              <a:latin typeface="__Inter_d65c78"/>
            </a:endParaRPr>
          </a:p>
          <a:p>
            <a:pPr marL="685800" indent="-685800" algn="ctr">
              <a:lnSpc>
                <a:spcPts val="6000"/>
              </a:lnSpc>
              <a:buFont typeface="Arial" panose="020B0604020202020204" pitchFamily="34" charset="0"/>
              <a:buChar char="•"/>
            </a:pPr>
            <a:endParaRPr lang="en-US" sz="5000">
              <a:latin typeface="Nunito Sans"/>
              <a:ea typeface="Nunito Sans"/>
              <a:cs typeface="Nunito Sans"/>
              <a:sym typeface="Nunito Sans"/>
            </a:endParaRPr>
          </a:p>
          <a:p>
            <a:pPr>
              <a:buNone/>
            </a:pPr>
            <a:br>
              <a:rPr lang="en-US" sz="5400" b="0" i="0">
                <a:effectLst/>
                <a:latin typeface="__Inter_d65c78"/>
              </a:rPr>
            </a:br>
            <a:endParaRPr lang="en-US" sz="5400" b="1">
              <a:solidFill>
                <a:srgbClr val="FFFFFF"/>
              </a:solidFill>
              <a:latin typeface="__Inter_d65c78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500BC733-1DA8-D876-1DB8-12C648E491A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022843" y="6057900"/>
            <a:ext cx="7930239" cy="2362200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E217044D-F06F-25B3-22DA-E415FD9C1910}"/>
              </a:ext>
            </a:extLst>
          </p:cNvPr>
          <p:cNvCxnSpPr>
            <a:cxnSpLocks/>
          </p:cNvCxnSpPr>
          <p:nvPr/>
        </p:nvCxnSpPr>
        <p:spPr>
          <a:xfrm>
            <a:off x="4855029" y="6084272"/>
            <a:ext cx="2146043" cy="914400"/>
          </a:xfrm>
          <a:prstGeom prst="bentConnector3">
            <a:avLst>
              <a:gd name="adj1" fmla="val -48"/>
            </a:avLst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512289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7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A217FD6-87DA-F94C-2C93-158F06FD64E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7BF6748-DEA1-FF40-E725-F94031C8078F}"/>
              </a:ext>
            </a:extLst>
          </p:cNvPr>
          <p:cNvSpPr/>
          <p:nvPr/>
        </p:nvSpPr>
        <p:spPr>
          <a:xfrm>
            <a:off x="14623701" y="7155125"/>
            <a:ext cx="8424068" cy="8413538"/>
          </a:xfrm>
          <a:custGeom>
            <a:avLst/>
            <a:gdLst/>
            <a:ahLst/>
            <a:cxnLst/>
            <a:rect l="l" t="t" r="r" b="b"/>
            <a:pathLst>
              <a:path w="8424068" h="8413538">
                <a:moveTo>
                  <a:pt x="0" y="0"/>
                </a:moveTo>
                <a:lnTo>
                  <a:pt x="8424068" y="0"/>
                </a:lnTo>
                <a:lnTo>
                  <a:pt x="8424068" y="8413538"/>
                </a:lnTo>
                <a:lnTo>
                  <a:pt x="0" y="84135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C42947F1-9A4D-2CD3-96C0-B9F8C247A695}"/>
              </a:ext>
            </a:extLst>
          </p:cNvPr>
          <p:cNvSpPr/>
          <p:nvPr/>
        </p:nvSpPr>
        <p:spPr>
          <a:xfrm>
            <a:off x="-7015936" y="2225651"/>
            <a:ext cx="8424068" cy="8413538"/>
          </a:xfrm>
          <a:custGeom>
            <a:avLst/>
            <a:gdLst/>
            <a:ahLst/>
            <a:cxnLst/>
            <a:rect l="l" t="t" r="r" b="b"/>
            <a:pathLst>
              <a:path w="8424068" h="8413538">
                <a:moveTo>
                  <a:pt x="0" y="0"/>
                </a:moveTo>
                <a:lnTo>
                  <a:pt x="8424068" y="0"/>
                </a:lnTo>
                <a:lnTo>
                  <a:pt x="8424068" y="8413539"/>
                </a:lnTo>
                <a:lnTo>
                  <a:pt x="0" y="84135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19485F32-CD1A-5AAB-DEC3-6CD2F9878752}"/>
              </a:ext>
            </a:extLst>
          </p:cNvPr>
          <p:cNvSpPr txBox="1"/>
          <p:nvPr/>
        </p:nvSpPr>
        <p:spPr>
          <a:xfrm>
            <a:off x="304800" y="825487"/>
            <a:ext cx="16687800" cy="13511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000"/>
              </a:lnSpc>
            </a:pPr>
            <a:r>
              <a:rPr lang="en-US" sz="9600">
                <a:solidFill>
                  <a:srgbClr val="051D40"/>
                </a:solidFill>
                <a:latin typeface="Bernoru SemiCondensed" panose="020B0604020202020204" charset="0"/>
                <a:ea typeface="Genty"/>
                <a:cs typeface="Genty"/>
                <a:sym typeface="Genty"/>
              </a:rPr>
              <a:t>Libraries and features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6C28C0CB-DC4D-6C45-FC6C-644379140959}"/>
              </a:ext>
            </a:extLst>
          </p:cNvPr>
          <p:cNvGrpSpPr/>
          <p:nvPr/>
        </p:nvGrpSpPr>
        <p:grpSpPr>
          <a:xfrm>
            <a:off x="1957257" y="2225651"/>
            <a:ext cx="5351244" cy="1348313"/>
            <a:chOff x="1914470" y="2225651"/>
            <a:chExt cx="6922719" cy="1348313"/>
          </a:xfrm>
        </p:grpSpPr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879C712A-80A5-3D41-7F71-E27F7734A90F}"/>
                </a:ext>
              </a:extLst>
            </p:cNvPr>
            <p:cNvGrpSpPr/>
            <p:nvPr/>
          </p:nvGrpSpPr>
          <p:grpSpPr>
            <a:xfrm>
              <a:off x="2102958" y="2225651"/>
              <a:ext cx="6545742" cy="1348313"/>
              <a:chOff x="0" y="0"/>
              <a:chExt cx="1723982" cy="355111"/>
            </a:xfrm>
          </p:grpSpPr>
          <p:sp>
            <p:nvSpPr>
              <p:cNvPr id="6" name="Freeform 6">
                <a:extLst>
                  <a:ext uri="{FF2B5EF4-FFF2-40B4-BE49-F238E27FC236}">
                    <a16:creationId xmlns:a16="http://schemas.microsoft.com/office/drawing/2014/main" id="{DC5E946E-EB66-7CDD-31E5-D42CF5CD90B7}"/>
                  </a:ext>
                </a:extLst>
              </p:cNvPr>
              <p:cNvSpPr/>
              <p:nvPr/>
            </p:nvSpPr>
            <p:spPr>
              <a:xfrm>
                <a:off x="0" y="0"/>
                <a:ext cx="1723982" cy="355111"/>
              </a:xfrm>
              <a:custGeom>
                <a:avLst/>
                <a:gdLst/>
                <a:ahLst/>
                <a:cxnLst/>
                <a:rect l="l" t="t" r="r" b="b"/>
                <a:pathLst>
                  <a:path w="1723982" h="355111">
                    <a:moveTo>
                      <a:pt x="60320" y="0"/>
                    </a:moveTo>
                    <a:lnTo>
                      <a:pt x="1663662" y="0"/>
                    </a:lnTo>
                    <a:cubicBezTo>
                      <a:pt x="1696975" y="0"/>
                      <a:pt x="1723982" y="27006"/>
                      <a:pt x="1723982" y="60320"/>
                    </a:cubicBezTo>
                    <a:lnTo>
                      <a:pt x="1723982" y="294791"/>
                    </a:lnTo>
                    <a:cubicBezTo>
                      <a:pt x="1723982" y="310789"/>
                      <a:pt x="1717627" y="326132"/>
                      <a:pt x="1706314" y="337444"/>
                    </a:cubicBezTo>
                    <a:cubicBezTo>
                      <a:pt x="1695002" y="348756"/>
                      <a:pt x="1679660" y="355111"/>
                      <a:pt x="1663662" y="355111"/>
                    </a:cubicBezTo>
                    <a:lnTo>
                      <a:pt x="60320" y="355111"/>
                    </a:lnTo>
                    <a:cubicBezTo>
                      <a:pt x="27006" y="355111"/>
                      <a:pt x="0" y="328105"/>
                      <a:pt x="0" y="294791"/>
                    </a:cubicBezTo>
                    <a:lnTo>
                      <a:pt x="0" y="60320"/>
                    </a:lnTo>
                    <a:cubicBezTo>
                      <a:pt x="0" y="27006"/>
                      <a:pt x="27006" y="0"/>
                      <a:pt x="60320" y="0"/>
                    </a:cubicBezTo>
                    <a:close/>
                  </a:path>
                </a:pathLst>
              </a:custGeom>
              <a:solidFill>
                <a:srgbClr val="B1D4E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" name="TextBox 7">
                <a:extLst>
                  <a:ext uri="{FF2B5EF4-FFF2-40B4-BE49-F238E27FC236}">
                    <a16:creationId xmlns:a16="http://schemas.microsoft.com/office/drawing/2014/main" id="{5F26DE67-658D-EBC7-5155-B0846A07D909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723982" cy="39321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C0EDEEE9-3B1D-76CD-08A9-49F33113EB9E}"/>
                </a:ext>
              </a:extLst>
            </p:cNvPr>
            <p:cNvSpPr txBox="1"/>
            <p:nvPr/>
          </p:nvSpPr>
          <p:spPr>
            <a:xfrm>
              <a:off x="1914470" y="2522195"/>
              <a:ext cx="6922719" cy="77239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6000"/>
                </a:lnSpc>
              </a:pPr>
              <a:r>
                <a:rPr lang="en-US" sz="5400" b="1" i="0">
                  <a:solidFill>
                    <a:srgbClr val="FFFFFF"/>
                  </a:solidFill>
                  <a:effectLst/>
                  <a:latin typeface="__Inter_d65c78"/>
                </a:rPr>
                <a:t>Key </a:t>
              </a:r>
              <a:r>
                <a:rPr lang="en-US" sz="5400" b="1" i="0">
                  <a:effectLst/>
                  <a:latin typeface="__Inter_d65c78"/>
                </a:rPr>
                <a:t>Components</a:t>
              </a:r>
              <a:r>
                <a:rPr lang="en-US" sz="5000">
                  <a:solidFill>
                    <a:srgbClr val="051D40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 </a:t>
              </a: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E11DE819-A280-E1E3-3546-941A54B43DDA}"/>
              </a:ext>
            </a:extLst>
          </p:cNvPr>
          <p:cNvSpPr txBox="1"/>
          <p:nvPr/>
        </p:nvSpPr>
        <p:spPr>
          <a:xfrm>
            <a:off x="1993543" y="3786872"/>
            <a:ext cx="12630158" cy="78175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000"/>
              </a:lnSpc>
            </a:pPr>
            <a:r>
              <a:rPr lang="en-US" sz="5400" b="1" i="0">
                <a:effectLst/>
                <a:latin typeface="__Inter_d65c78"/>
              </a:rPr>
              <a:t>Stack Operations: </a:t>
            </a:r>
          </a:p>
          <a:p>
            <a:pPr marL="685800" indent="-685800">
              <a:lnSpc>
                <a:spcPts val="6000"/>
              </a:lnSpc>
              <a:buFont typeface="Arial" panose="020B0604020202020204" pitchFamily="34" charset="0"/>
              <a:buChar char="•"/>
            </a:pPr>
            <a:r>
              <a:rPr lang="en-US" sz="4000" b="1" i="0">
                <a:effectLst/>
                <a:latin typeface="__Inter_d65c78"/>
              </a:rPr>
              <a:t>Initialize Stack</a:t>
            </a:r>
            <a:r>
              <a:rPr lang="en-US" sz="4000" b="1">
                <a:latin typeface="__Inter_d65c78"/>
              </a:rPr>
              <a:t>:  </a:t>
            </a:r>
            <a:r>
              <a:rPr lang="en-US" sz="4000">
                <a:latin typeface="__Inter_d65c78"/>
              </a:rPr>
              <a:t> Sets up an empty stack by initializing the top to `</a:t>
            </a:r>
            <a:r>
              <a:rPr lang="en-US" sz="4000">
                <a:solidFill>
                  <a:schemeClr val="accent1"/>
                </a:solidFill>
                <a:latin typeface="__Inter_d65c78"/>
              </a:rPr>
              <a:t>NULL</a:t>
            </a:r>
            <a:r>
              <a:rPr lang="en-US" sz="4000">
                <a:latin typeface="__Inter_d65c78"/>
              </a:rPr>
              <a:t>` and size to `</a:t>
            </a:r>
            <a:r>
              <a:rPr lang="en-US" sz="4000">
                <a:solidFill>
                  <a:schemeClr val="accent1"/>
                </a:solidFill>
                <a:latin typeface="__Inter_d65c78"/>
              </a:rPr>
              <a:t>0</a:t>
            </a:r>
            <a:r>
              <a:rPr lang="en-US" sz="4000">
                <a:latin typeface="__Inter_d65c78"/>
              </a:rPr>
              <a:t>`.</a:t>
            </a:r>
          </a:p>
          <a:p>
            <a:pPr marL="685800" indent="-685800">
              <a:lnSpc>
                <a:spcPts val="6000"/>
              </a:lnSpc>
              <a:buFont typeface="Arial" panose="020B0604020202020204" pitchFamily="34" charset="0"/>
              <a:buChar char="•"/>
            </a:pPr>
            <a:endParaRPr lang="en-US" sz="4000" b="1">
              <a:latin typeface="__Inter_d65c78"/>
            </a:endParaRPr>
          </a:p>
          <a:p>
            <a:pPr marL="685800" indent="-685800">
              <a:lnSpc>
                <a:spcPts val="6000"/>
              </a:lnSpc>
              <a:buFont typeface="Arial" panose="020B0604020202020204" pitchFamily="34" charset="0"/>
              <a:buChar char="•"/>
            </a:pPr>
            <a:endParaRPr lang="en-US" sz="4000" b="1">
              <a:latin typeface="__Inter_d65c78"/>
            </a:endParaRPr>
          </a:p>
          <a:p>
            <a:pPr marL="685800" indent="-685800">
              <a:lnSpc>
                <a:spcPts val="6000"/>
              </a:lnSpc>
              <a:buFont typeface="Arial" panose="020B0604020202020204" pitchFamily="34" charset="0"/>
              <a:buChar char="•"/>
            </a:pPr>
            <a:r>
              <a:rPr lang="en-US" sz="4000" b="1" i="0">
                <a:effectLst/>
                <a:latin typeface="__Inter_d65c78"/>
              </a:rPr>
              <a:t>Check if Stack is Empty: </a:t>
            </a:r>
            <a:r>
              <a:rPr lang="en-US" sz="4000" i="0">
                <a:effectLst/>
                <a:latin typeface="__Inter_d65c78"/>
              </a:rPr>
              <a:t> Returns `</a:t>
            </a:r>
            <a:r>
              <a:rPr lang="en-US" sz="4000" i="0">
                <a:solidFill>
                  <a:schemeClr val="accent1"/>
                </a:solidFill>
                <a:effectLst/>
                <a:latin typeface="__Inter_d65c78"/>
              </a:rPr>
              <a:t>1</a:t>
            </a:r>
            <a:r>
              <a:rPr lang="en-US" sz="4000" i="0">
                <a:effectLst/>
                <a:latin typeface="__Inter_d65c78"/>
              </a:rPr>
              <a:t>` if the stack is empty, otherwise `</a:t>
            </a:r>
            <a:r>
              <a:rPr lang="en-US" sz="4000" i="0">
                <a:solidFill>
                  <a:schemeClr val="accent1"/>
                </a:solidFill>
                <a:effectLst/>
                <a:latin typeface="__Inter_d65c78"/>
              </a:rPr>
              <a:t>0</a:t>
            </a:r>
            <a:r>
              <a:rPr lang="en-US" sz="4000" i="0">
                <a:effectLst/>
                <a:latin typeface="__Inter_d65c78"/>
              </a:rPr>
              <a:t>`</a:t>
            </a:r>
          </a:p>
          <a:p>
            <a:pPr marL="685800" indent="-685800" algn="ctr">
              <a:lnSpc>
                <a:spcPts val="6000"/>
              </a:lnSpc>
              <a:buFont typeface="Arial" panose="020B0604020202020204" pitchFamily="34" charset="0"/>
              <a:buChar char="•"/>
            </a:pPr>
            <a:endParaRPr lang="en-US" sz="5000">
              <a:latin typeface="Nunito Sans"/>
              <a:ea typeface="Nunito Sans"/>
              <a:cs typeface="Nunito Sans"/>
              <a:sym typeface="Nunito Sans"/>
            </a:endParaRPr>
          </a:p>
          <a:p>
            <a:pPr>
              <a:buNone/>
            </a:pPr>
            <a:br>
              <a:rPr lang="en-US" sz="5400" b="0" i="0">
                <a:effectLst/>
                <a:latin typeface="__Inter_d65c78"/>
              </a:rPr>
            </a:br>
            <a:endParaRPr lang="en-US" sz="5400" b="1">
              <a:solidFill>
                <a:srgbClr val="FFFFFF"/>
              </a:solidFill>
              <a:latin typeface="__Inter_d65c78"/>
            </a:endParaRPr>
          </a:p>
        </p:txBody>
      </p:sp>
      <p:sp>
        <p:nvSpPr>
          <p:cNvPr id="10" name="Rectangle 1">
            <a:extLst>
              <a:ext uri="{FF2B5EF4-FFF2-40B4-BE49-F238E27FC236}">
                <a16:creationId xmlns:a16="http://schemas.microsoft.com/office/drawing/2014/main" id="{D85A44BA-610C-D8C6-FD86-98ABFCEB43A2}"/>
              </a:ext>
            </a:extLst>
          </p:cNvPr>
          <p:cNvSpPr>
            <a:spLocks noChangeArrowheads="1"/>
          </p:cNvSpPr>
          <p:nvPr/>
        </p:nvSpPr>
        <p:spPr bwMode="auto">
          <a:xfrm>
            <a:off x="0" y="-281729"/>
            <a:ext cx="65" cy="563443"/>
          </a:xfrm>
          <a:prstGeom prst="rect">
            <a:avLst/>
          </a:prstGeom>
          <a:solidFill>
            <a:srgbClr val="070707"/>
          </a:solidFill>
          <a:ln>
            <a:noFill/>
          </a:ln>
          <a:effectLst/>
          <a:extLs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none" lIns="0" tIns="271377" rIns="0" bIns="271377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en-US" sz="1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pic>
        <p:nvPicPr>
          <p:cNvPr id="14" name="Picture 13">
            <a:extLst>
              <a:ext uri="{FF2B5EF4-FFF2-40B4-BE49-F238E27FC236}">
                <a16:creationId xmlns:a16="http://schemas.microsoft.com/office/drawing/2014/main" id="{E49CC9E3-83E6-227B-E15C-915167D910D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1404603" y="2733050"/>
            <a:ext cx="5271246" cy="1715494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pic>
        <p:nvPicPr>
          <p:cNvPr id="16" name="Picture 15">
            <a:extLst>
              <a:ext uri="{FF2B5EF4-FFF2-40B4-BE49-F238E27FC236}">
                <a16:creationId xmlns:a16="http://schemas.microsoft.com/office/drawing/2014/main" id="{33615E51-AF39-8D3B-C807-5082D8541DD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1515861" y="5803986"/>
            <a:ext cx="5241770" cy="1351139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cxnSp>
        <p:nvCxnSpPr>
          <p:cNvPr id="17" name="Connector: Elbow 16">
            <a:extLst>
              <a:ext uri="{FF2B5EF4-FFF2-40B4-BE49-F238E27FC236}">
                <a16:creationId xmlns:a16="http://schemas.microsoft.com/office/drawing/2014/main" id="{D3394C1B-45C6-AECB-970B-1DA93503F0CF}"/>
              </a:ext>
            </a:extLst>
          </p:cNvPr>
          <p:cNvCxnSpPr>
            <a:cxnSpLocks/>
          </p:cNvCxnSpPr>
          <p:nvPr/>
        </p:nvCxnSpPr>
        <p:spPr>
          <a:xfrm flipV="1">
            <a:off x="9474790" y="6526545"/>
            <a:ext cx="2019300" cy="1257160"/>
          </a:xfrm>
          <a:prstGeom prst="bentConnector3">
            <a:avLst>
              <a:gd name="adj1" fmla="val 404"/>
            </a:avLst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77CF84C2-CEE9-40BF-1C94-49F1B9B0C71D}"/>
              </a:ext>
            </a:extLst>
          </p:cNvPr>
          <p:cNvCxnSpPr>
            <a:cxnSpLocks/>
          </p:cNvCxnSpPr>
          <p:nvPr/>
        </p:nvCxnSpPr>
        <p:spPr>
          <a:xfrm flipV="1">
            <a:off x="9337941" y="3435504"/>
            <a:ext cx="2019300" cy="1257160"/>
          </a:xfrm>
          <a:prstGeom prst="bentConnector3">
            <a:avLst>
              <a:gd name="adj1" fmla="val 404"/>
            </a:avLst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76487885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6" fill="hold">
                            <p:stCondLst>
                              <p:cond delay="750"/>
                            </p:stCondLst>
                            <p:childTnLst>
                              <p:par>
                                <p:cTn id="17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9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7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BDDA7E7-AC73-10B2-58F7-1210DB3D74B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A67DF877-0CA7-9C6E-9BE9-2B3F2F10EDFD}"/>
              </a:ext>
            </a:extLst>
          </p:cNvPr>
          <p:cNvSpPr/>
          <p:nvPr/>
        </p:nvSpPr>
        <p:spPr>
          <a:xfrm>
            <a:off x="15282463" y="8026486"/>
            <a:ext cx="8424068" cy="8413538"/>
          </a:xfrm>
          <a:custGeom>
            <a:avLst/>
            <a:gdLst/>
            <a:ahLst/>
            <a:cxnLst/>
            <a:rect l="l" t="t" r="r" b="b"/>
            <a:pathLst>
              <a:path w="8424068" h="8413538">
                <a:moveTo>
                  <a:pt x="0" y="0"/>
                </a:moveTo>
                <a:lnTo>
                  <a:pt x="8424068" y="0"/>
                </a:lnTo>
                <a:lnTo>
                  <a:pt x="8424068" y="8413538"/>
                </a:lnTo>
                <a:lnTo>
                  <a:pt x="0" y="84135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E4A2BE81-B32C-5434-8645-92BF9919AF30}"/>
              </a:ext>
            </a:extLst>
          </p:cNvPr>
          <p:cNvSpPr/>
          <p:nvPr/>
        </p:nvSpPr>
        <p:spPr>
          <a:xfrm>
            <a:off x="-4774468" y="-6236912"/>
            <a:ext cx="8424068" cy="8413538"/>
          </a:xfrm>
          <a:custGeom>
            <a:avLst/>
            <a:gdLst/>
            <a:ahLst/>
            <a:cxnLst/>
            <a:rect l="l" t="t" r="r" b="b"/>
            <a:pathLst>
              <a:path w="8424068" h="8413538">
                <a:moveTo>
                  <a:pt x="0" y="0"/>
                </a:moveTo>
                <a:lnTo>
                  <a:pt x="8424068" y="0"/>
                </a:lnTo>
                <a:lnTo>
                  <a:pt x="8424068" y="8413539"/>
                </a:lnTo>
                <a:lnTo>
                  <a:pt x="0" y="84135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A3E3623B-C1AD-B428-7243-457132DE5688}"/>
              </a:ext>
            </a:extLst>
          </p:cNvPr>
          <p:cNvSpPr txBox="1"/>
          <p:nvPr/>
        </p:nvSpPr>
        <p:spPr>
          <a:xfrm>
            <a:off x="304800" y="825487"/>
            <a:ext cx="16687800" cy="13511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000"/>
              </a:lnSpc>
            </a:pPr>
            <a:r>
              <a:rPr lang="en-US" sz="9600">
                <a:solidFill>
                  <a:srgbClr val="051D40"/>
                </a:solidFill>
                <a:latin typeface="Bernoru SemiCondensed" panose="020B0604020202020204" charset="0"/>
                <a:ea typeface="Genty"/>
                <a:cs typeface="Genty"/>
                <a:sym typeface="Genty"/>
              </a:rPr>
              <a:t>Libraries and features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9F0081C8-2D6D-C031-4103-7B05EC5D9DB9}"/>
              </a:ext>
            </a:extLst>
          </p:cNvPr>
          <p:cNvGrpSpPr/>
          <p:nvPr/>
        </p:nvGrpSpPr>
        <p:grpSpPr>
          <a:xfrm>
            <a:off x="1957257" y="2225651"/>
            <a:ext cx="5351244" cy="1348313"/>
            <a:chOff x="1914470" y="2225651"/>
            <a:chExt cx="6922719" cy="1348313"/>
          </a:xfrm>
        </p:grpSpPr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32F0AE0F-378F-5BEB-5788-0541F6CF0290}"/>
                </a:ext>
              </a:extLst>
            </p:cNvPr>
            <p:cNvGrpSpPr/>
            <p:nvPr/>
          </p:nvGrpSpPr>
          <p:grpSpPr>
            <a:xfrm>
              <a:off x="2102958" y="2225651"/>
              <a:ext cx="6545742" cy="1348313"/>
              <a:chOff x="0" y="0"/>
              <a:chExt cx="1723982" cy="355111"/>
            </a:xfrm>
          </p:grpSpPr>
          <p:sp>
            <p:nvSpPr>
              <p:cNvPr id="6" name="Freeform 6">
                <a:extLst>
                  <a:ext uri="{FF2B5EF4-FFF2-40B4-BE49-F238E27FC236}">
                    <a16:creationId xmlns:a16="http://schemas.microsoft.com/office/drawing/2014/main" id="{D13E8257-CB85-0E12-9CD7-6191BC7BAB64}"/>
                  </a:ext>
                </a:extLst>
              </p:cNvPr>
              <p:cNvSpPr/>
              <p:nvPr/>
            </p:nvSpPr>
            <p:spPr>
              <a:xfrm>
                <a:off x="0" y="0"/>
                <a:ext cx="1723982" cy="355111"/>
              </a:xfrm>
              <a:custGeom>
                <a:avLst/>
                <a:gdLst/>
                <a:ahLst/>
                <a:cxnLst/>
                <a:rect l="l" t="t" r="r" b="b"/>
                <a:pathLst>
                  <a:path w="1723982" h="355111">
                    <a:moveTo>
                      <a:pt x="60320" y="0"/>
                    </a:moveTo>
                    <a:lnTo>
                      <a:pt x="1663662" y="0"/>
                    </a:lnTo>
                    <a:cubicBezTo>
                      <a:pt x="1696975" y="0"/>
                      <a:pt x="1723982" y="27006"/>
                      <a:pt x="1723982" y="60320"/>
                    </a:cubicBezTo>
                    <a:lnTo>
                      <a:pt x="1723982" y="294791"/>
                    </a:lnTo>
                    <a:cubicBezTo>
                      <a:pt x="1723982" y="310789"/>
                      <a:pt x="1717627" y="326132"/>
                      <a:pt x="1706314" y="337444"/>
                    </a:cubicBezTo>
                    <a:cubicBezTo>
                      <a:pt x="1695002" y="348756"/>
                      <a:pt x="1679660" y="355111"/>
                      <a:pt x="1663662" y="355111"/>
                    </a:cubicBezTo>
                    <a:lnTo>
                      <a:pt x="60320" y="355111"/>
                    </a:lnTo>
                    <a:cubicBezTo>
                      <a:pt x="27006" y="355111"/>
                      <a:pt x="0" y="328105"/>
                      <a:pt x="0" y="294791"/>
                    </a:cubicBezTo>
                    <a:lnTo>
                      <a:pt x="0" y="60320"/>
                    </a:lnTo>
                    <a:cubicBezTo>
                      <a:pt x="0" y="27006"/>
                      <a:pt x="27006" y="0"/>
                      <a:pt x="60320" y="0"/>
                    </a:cubicBezTo>
                    <a:close/>
                  </a:path>
                </a:pathLst>
              </a:custGeom>
              <a:solidFill>
                <a:srgbClr val="B1D4E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" name="TextBox 7">
                <a:extLst>
                  <a:ext uri="{FF2B5EF4-FFF2-40B4-BE49-F238E27FC236}">
                    <a16:creationId xmlns:a16="http://schemas.microsoft.com/office/drawing/2014/main" id="{80832F9B-ACB3-3FA6-075D-BC08F632C0DA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723982" cy="39321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134E8332-12CF-22E2-1106-2C0D1CB94EEF}"/>
                </a:ext>
              </a:extLst>
            </p:cNvPr>
            <p:cNvSpPr txBox="1"/>
            <p:nvPr/>
          </p:nvSpPr>
          <p:spPr>
            <a:xfrm>
              <a:off x="1914470" y="2522195"/>
              <a:ext cx="6922719" cy="77239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6000"/>
                </a:lnSpc>
              </a:pPr>
              <a:r>
                <a:rPr lang="en-US" sz="5400" b="1" i="0">
                  <a:solidFill>
                    <a:srgbClr val="FFFFFF"/>
                  </a:solidFill>
                  <a:effectLst/>
                  <a:latin typeface="__Inter_d65c78"/>
                </a:rPr>
                <a:t>Key </a:t>
              </a:r>
              <a:r>
                <a:rPr lang="en-US" sz="5400" b="1" i="0">
                  <a:effectLst/>
                  <a:latin typeface="__Inter_d65c78"/>
                </a:rPr>
                <a:t>Components</a:t>
              </a:r>
              <a:r>
                <a:rPr lang="en-US" sz="5000">
                  <a:solidFill>
                    <a:srgbClr val="051D40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 </a:t>
              </a: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17718FB1-EFA5-8271-E1E2-F5D967BCBA27}"/>
              </a:ext>
            </a:extLst>
          </p:cNvPr>
          <p:cNvSpPr txBox="1"/>
          <p:nvPr/>
        </p:nvSpPr>
        <p:spPr>
          <a:xfrm>
            <a:off x="1993543" y="3786872"/>
            <a:ext cx="12630158" cy="62786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000"/>
              </a:lnSpc>
            </a:pPr>
            <a:r>
              <a:rPr lang="en-US" sz="5400" b="1" i="0">
                <a:effectLst/>
                <a:latin typeface="__Inter_d65c78"/>
              </a:rPr>
              <a:t>Stack Operations: </a:t>
            </a:r>
          </a:p>
          <a:p>
            <a:pPr marL="685800" indent="-685800">
              <a:lnSpc>
                <a:spcPts val="6000"/>
              </a:lnSpc>
              <a:buFont typeface="Arial" panose="020B0604020202020204" pitchFamily="34" charset="0"/>
              <a:buChar char="•"/>
            </a:pPr>
            <a:r>
              <a:rPr lang="en-US" sz="4000" b="1" i="0">
                <a:effectLst/>
                <a:latin typeface="__Inter_d65c78"/>
              </a:rPr>
              <a:t>Push Operation: </a:t>
            </a:r>
            <a:r>
              <a:rPr lang="en-US" sz="4000">
                <a:latin typeface="__Inter_d65c78"/>
              </a:rPr>
              <a:t>Adds a new token to the top of the stack, increasing its size.</a:t>
            </a:r>
          </a:p>
          <a:p>
            <a:pPr marL="685800" indent="-685800">
              <a:lnSpc>
                <a:spcPts val="6000"/>
              </a:lnSpc>
              <a:buFont typeface="Arial" panose="020B0604020202020204" pitchFamily="34" charset="0"/>
              <a:buChar char="•"/>
            </a:pPr>
            <a:endParaRPr lang="en-US" sz="4000" b="1">
              <a:latin typeface="__Inter_d65c78"/>
            </a:endParaRPr>
          </a:p>
          <a:p>
            <a:pPr marL="685800" indent="-685800">
              <a:lnSpc>
                <a:spcPts val="6000"/>
              </a:lnSpc>
              <a:buFont typeface="Arial" panose="020B0604020202020204" pitchFamily="34" charset="0"/>
              <a:buChar char="•"/>
            </a:pPr>
            <a:endParaRPr lang="en-US" sz="4000" b="1" i="0">
              <a:effectLst/>
              <a:latin typeface="__Inter_d65c78"/>
            </a:endParaRPr>
          </a:p>
          <a:p>
            <a:pPr marL="685800" indent="-685800" algn="ctr">
              <a:lnSpc>
                <a:spcPts val="6000"/>
              </a:lnSpc>
              <a:buFont typeface="Arial" panose="020B0604020202020204" pitchFamily="34" charset="0"/>
              <a:buChar char="•"/>
            </a:pPr>
            <a:endParaRPr lang="en-US" sz="5000">
              <a:latin typeface="Nunito Sans"/>
              <a:ea typeface="Nunito Sans"/>
              <a:cs typeface="Nunito Sans"/>
              <a:sym typeface="Nunito Sans"/>
            </a:endParaRPr>
          </a:p>
          <a:p>
            <a:pPr>
              <a:buNone/>
            </a:pPr>
            <a:br>
              <a:rPr lang="en-US" sz="5400" b="0" i="0">
                <a:effectLst/>
                <a:latin typeface="__Inter_d65c78"/>
              </a:rPr>
            </a:br>
            <a:endParaRPr lang="en-US" sz="5400" b="1">
              <a:solidFill>
                <a:srgbClr val="FFFFFF"/>
              </a:solidFill>
              <a:latin typeface="__Inter_d65c78"/>
            </a:endParaRP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EC688B60-03B6-E924-3FB3-E8E3EDCB719B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525000" y="5524500"/>
            <a:ext cx="7809058" cy="3937013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B42A1A6C-FE76-8D94-4B78-67EA59F5FDBE}"/>
              </a:ext>
            </a:extLst>
          </p:cNvPr>
          <p:cNvCxnSpPr>
            <a:cxnSpLocks/>
          </p:cNvCxnSpPr>
          <p:nvPr/>
        </p:nvCxnSpPr>
        <p:spPr>
          <a:xfrm>
            <a:off x="12649200" y="4673600"/>
            <a:ext cx="3048000" cy="838200"/>
          </a:xfrm>
          <a:prstGeom prst="bentConnector3">
            <a:avLst>
              <a:gd name="adj1" fmla="val 99524"/>
            </a:avLst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12270221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7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C152A85-B043-3A42-8490-29F2425D4D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26F2DAC2-7571-9CF5-6F84-13CF5A8FC9A4}"/>
              </a:ext>
            </a:extLst>
          </p:cNvPr>
          <p:cNvSpPr/>
          <p:nvPr/>
        </p:nvSpPr>
        <p:spPr>
          <a:xfrm>
            <a:off x="16200770" y="-2062507"/>
            <a:ext cx="8424068" cy="8413538"/>
          </a:xfrm>
          <a:custGeom>
            <a:avLst/>
            <a:gdLst/>
            <a:ahLst/>
            <a:cxnLst/>
            <a:rect l="l" t="t" r="r" b="b"/>
            <a:pathLst>
              <a:path w="8424068" h="8413538">
                <a:moveTo>
                  <a:pt x="0" y="0"/>
                </a:moveTo>
                <a:lnTo>
                  <a:pt x="8424068" y="0"/>
                </a:lnTo>
                <a:lnTo>
                  <a:pt x="8424068" y="8413538"/>
                </a:lnTo>
                <a:lnTo>
                  <a:pt x="0" y="84135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0274E95C-48CC-E6CF-544A-76B5FF8CAE14}"/>
              </a:ext>
            </a:extLst>
          </p:cNvPr>
          <p:cNvSpPr/>
          <p:nvPr/>
        </p:nvSpPr>
        <p:spPr>
          <a:xfrm>
            <a:off x="-2547872" y="6351031"/>
            <a:ext cx="8424068" cy="8413538"/>
          </a:xfrm>
          <a:custGeom>
            <a:avLst/>
            <a:gdLst/>
            <a:ahLst/>
            <a:cxnLst/>
            <a:rect l="l" t="t" r="r" b="b"/>
            <a:pathLst>
              <a:path w="8424068" h="8413538">
                <a:moveTo>
                  <a:pt x="0" y="0"/>
                </a:moveTo>
                <a:lnTo>
                  <a:pt x="8424068" y="0"/>
                </a:lnTo>
                <a:lnTo>
                  <a:pt x="8424068" y="8413539"/>
                </a:lnTo>
                <a:lnTo>
                  <a:pt x="0" y="84135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DF91D28E-8F53-556D-A468-F9A2E6941107}"/>
              </a:ext>
            </a:extLst>
          </p:cNvPr>
          <p:cNvSpPr txBox="1"/>
          <p:nvPr/>
        </p:nvSpPr>
        <p:spPr>
          <a:xfrm>
            <a:off x="304800" y="825487"/>
            <a:ext cx="16687800" cy="13511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000"/>
              </a:lnSpc>
            </a:pPr>
            <a:r>
              <a:rPr lang="en-US" sz="9600">
                <a:solidFill>
                  <a:srgbClr val="051D40"/>
                </a:solidFill>
                <a:latin typeface="Bernoru SemiCondensed" panose="020B0604020202020204" charset="0"/>
                <a:ea typeface="Genty"/>
                <a:cs typeface="Genty"/>
                <a:sym typeface="Genty"/>
              </a:rPr>
              <a:t>Libraries and features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E3C986C-FCC9-C034-281D-0C47127ABD39}"/>
              </a:ext>
            </a:extLst>
          </p:cNvPr>
          <p:cNvGrpSpPr/>
          <p:nvPr/>
        </p:nvGrpSpPr>
        <p:grpSpPr>
          <a:xfrm>
            <a:off x="1957257" y="2225651"/>
            <a:ext cx="5351244" cy="1348313"/>
            <a:chOff x="1914470" y="2225651"/>
            <a:chExt cx="6922719" cy="1348313"/>
          </a:xfrm>
        </p:grpSpPr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9E7CA11F-1758-017D-19F5-3CBAE7397FAA}"/>
                </a:ext>
              </a:extLst>
            </p:cNvPr>
            <p:cNvGrpSpPr/>
            <p:nvPr/>
          </p:nvGrpSpPr>
          <p:grpSpPr>
            <a:xfrm>
              <a:off x="2102958" y="2225651"/>
              <a:ext cx="6545742" cy="1348313"/>
              <a:chOff x="0" y="0"/>
              <a:chExt cx="1723982" cy="355111"/>
            </a:xfrm>
          </p:grpSpPr>
          <p:sp>
            <p:nvSpPr>
              <p:cNvPr id="6" name="Freeform 6">
                <a:extLst>
                  <a:ext uri="{FF2B5EF4-FFF2-40B4-BE49-F238E27FC236}">
                    <a16:creationId xmlns:a16="http://schemas.microsoft.com/office/drawing/2014/main" id="{A3190DC3-78A0-5D2C-8CE9-F1BC928FD217}"/>
                  </a:ext>
                </a:extLst>
              </p:cNvPr>
              <p:cNvSpPr/>
              <p:nvPr/>
            </p:nvSpPr>
            <p:spPr>
              <a:xfrm>
                <a:off x="0" y="0"/>
                <a:ext cx="1723982" cy="355111"/>
              </a:xfrm>
              <a:custGeom>
                <a:avLst/>
                <a:gdLst/>
                <a:ahLst/>
                <a:cxnLst/>
                <a:rect l="l" t="t" r="r" b="b"/>
                <a:pathLst>
                  <a:path w="1723982" h="355111">
                    <a:moveTo>
                      <a:pt x="60320" y="0"/>
                    </a:moveTo>
                    <a:lnTo>
                      <a:pt x="1663662" y="0"/>
                    </a:lnTo>
                    <a:cubicBezTo>
                      <a:pt x="1696975" y="0"/>
                      <a:pt x="1723982" y="27006"/>
                      <a:pt x="1723982" y="60320"/>
                    </a:cubicBezTo>
                    <a:lnTo>
                      <a:pt x="1723982" y="294791"/>
                    </a:lnTo>
                    <a:cubicBezTo>
                      <a:pt x="1723982" y="310789"/>
                      <a:pt x="1717627" y="326132"/>
                      <a:pt x="1706314" y="337444"/>
                    </a:cubicBezTo>
                    <a:cubicBezTo>
                      <a:pt x="1695002" y="348756"/>
                      <a:pt x="1679660" y="355111"/>
                      <a:pt x="1663662" y="355111"/>
                    </a:cubicBezTo>
                    <a:lnTo>
                      <a:pt x="60320" y="355111"/>
                    </a:lnTo>
                    <a:cubicBezTo>
                      <a:pt x="27006" y="355111"/>
                      <a:pt x="0" y="328105"/>
                      <a:pt x="0" y="294791"/>
                    </a:cubicBezTo>
                    <a:lnTo>
                      <a:pt x="0" y="60320"/>
                    </a:lnTo>
                    <a:cubicBezTo>
                      <a:pt x="0" y="27006"/>
                      <a:pt x="27006" y="0"/>
                      <a:pt x="60320" y="0"/>
                    </a:cubicBezTo>
                    <a:close/>
                  </a:path>
                </a:pathLst>
              </a:custGeom>
              <a:solidFill>
                <a:srgbClr val="B1D4E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" name="TextBox 7">
                <a:extLst>
                  <a:ext uri="{FF2B5EF4-FFF2-40B4-BE49-F238E27FC236}">
                    <a16:creationId xmlns:a16="http://schemas.microsoft.com/office/drawing/2014/main" id="{B8543109-908A-3FDF-3265-7503F70363A5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723982" cy="39321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44C290A1-F89A-BD84-680B-7556042061E7}"/>
                </a:ext>
              </a:extLst>
            </p:cNvPr>
            <p:cNvSpPr txBox="1"/>
            <p:nvPr/>
          </p:nvSpPr>
          <p:spPr>
            <a:xfrm>
              <a:off x="1914470" y="2522195"/>
              <a:ext cx="6922719" cy="77239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6000"/>
                </a:lnSpc>
              </a:pPr>
              <a:r>
                <a:rPr lang="en-US" sz="5400" b="1" i="0">
                  <a:solidFill>
                    <a:srgbClr val="FFFFFF"/>
                  </a:solidFill>
                  <a:effectLst/>
                  <a:latin typeface="__Inter_d65c78"/>
                </a:rPr>
                <a:t>Key </a:t>
              </a:r>
              <a:r>
                <a:rPr lang="en-US" sz="5400" b="1" i="0">
                  <a:effectLst/>
                  <a:latin typeface="__Inter_d65c78"/>
                </a:rPr>
                <a:t>Components</a:t>
              </a:r>
              <a:r>
                <a:rPr lang="en-US" sz="5000">
                  <a:solidFill>
                    <a:srgbClr val="051D40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 </a:t>
              </a:r>
            </a:p>
          </p:txBody>
        </p:sp>
      </p:grpSp>
      <p:sp>
        <p:nvSpPr>
          <p:cNvPr id="11" name="TextBox 10">
            <a:extLst>
              <a:ext uri="{FF2B5EF4-FFF2-40B4-BE49-F238E27FC236}">
                <a16:creationId xmlns:a16="http://schemas.microsoft.com/office/drawing/2014/main" id="{23A4F0E8-F5B4-4186-E2E0-033855EFE7FD}"/>
              </a:ext>
            </a:extLst>
          </p:cNvPr>
          <p:cNvSpPr txBox="1"/>
          <p:nvPr/>
        </p:nvSpPr>
        <p:spPr>
          <a:xfrm>
            <a:off x="1993543" y="3786872"/>
            <a:ext cx="12630158" cy="62786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000"/>
              </a:lnSpc>
            </a:pPr>
            <a:r>
              <a:rPr lang="en-US" sz="5400" b="1" i="0">
                <a:effectLst/>
                <a:latin typeface="__Inter_d65c78"/>
              </a:rPr>
              <a:t>Stack Operations: </a:t>
            </a:r>
          </a:p>
          <a:p>
            <a:pPr marL="571500" indent="-571500" algn="l" rtl="0" eaLnBrk="1" latinLnBrk="0" hangingPunct="1">
              <a:lnSpc>
                <a:spcPts val="6000"/>
              </a:lnSpc>
              <a:buClrTx/>
              <a:buSzPts val="4000"/>
              <a:buFont typeface="Arial" panose="020B0604020202020204" pitchFamily="34" charset="0"/>
              <a:buChar char="•"/>
            </a:pPr>
            <a:r>
              <a:rPr lang="en-US" sz="4000" b="1">
                <a:latin typeface="__Inter_d65c78"/>
              </a:rPr>
              <a:t>Pop operation: </a:t>
            </a:r>
            <a:r>
              <a:rPr lang="en-US" sz="4000">
                <a:latin typeface="__Inter_d65c78"/>
              </a:rPr>
              <a:t>Removes and returns the top token from the stack, decreasing its size.</a:t>
            </a:r>
          </a:p>
          <a:p>
            <a:pPr marL="571500" indent="-571500" algn="l" rtl="0" eaLnBrk="1" latinLnBrk="0" hangingPunct="1">
              <a:lnSpc>
                <a:spcPts val="6000"/>
              </a:lnSpc>
              <a:buClrTx/>
              <a:buSzPts val="4000"/>
              <a:buFont typeface="Arial" panose="020B0604020202020204" pitchFamily="34" charset="0"/>
              <a:buChar char="•"/>
            </a:pPr>
            <a:endParaRPr lang="en-US" sz="4000" b="1">
              <a:latin typeface="__Inter_d65c78"/>
            </a:endParaRPr>
          </a:p>
          <a:p>
            <a:pPr marL="685800" indent="-685800">
              <a:lnSpc>
                <a:spcPts val="6000"/>
              </a:lnSpc>
              <a:buFont typeface="Arial" panose="020B0604020202020204" pitchFamily="34" charset="0"/>
              <a:buChar char="•"/>
            </a:pPr>
            <a:endParaRPr lang="en-US" sz="4000" b="1" i="0">
              <a:effectLst/>
              <a:latin typeface="__Inter_d65c78"/>
            </a:endParaRPr>
          </a:p>
          <a:p>
            <a:pPr marL="685800" indent="-685800" algn="ctr">
              <a:lnSpc>
                <a:spcPts val="6000"/>
              </a:lnSpc>
              <a:buFont typeface="Arial" panose="020B0604020202020204" pitchFamily="34" charset="0"/>
              <a:buChar char="•"/>
            </a:pPr>
            <a:endParaRPr lang="en-US" sz="5000">
              <a:latin typeface="Nunito Sans"/>
              <a:ea typeface="Nunito Sans"/>
              <a:cs typeface="Nunito Sans"/>
              <a:sym typeface="Nunito Sans"/>
            </a:endParaRPr>
          </a:p>
          <a:p>
            <a:pPr>
              <a:buNone/>
            </a:pPr>
            <a:br>
              <a:rPr lang="en-US" sz="5400" b="0" i="0">
                <a:effectLst/>
                <a:latin typeface="__Inter_d65c78"/>
              </a:rPr>
            </a:br>
            <a:endParaRPr lang="en-US" sz="5400" b="1">
              <a:solidFill>
                <a:srgbClr val="FFFFFF"/>
              </a:solidFill>
              <a:latin typeface="__Inter_d65c78"/>
            </a:endParaRP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E14DD46-7A4A-4D0E-425B-AEC6D0E9D1A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296400" y="5502006"/>
            <a:ext cx="6660976" cy="3959507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B03C484F-7B7C-1348-F374-8212271BE463}"/>
              </a:ext>
            </a:extLst>
          </p:cNvPr>
          <p:cNvCxnSpPr>
            <a:cxnSpLocks/>
          </p:cNvCxnSpPr>
          <p:nvPr/>
        </p:nvCxnSpPr>
        <p:spPr>
          <a:xfrm>
            <a:off x="6625771" y="6134100"/>
            <a:ext cx="2667000" cy="1066800"/>
          </a:xfrm>
          <a:prstGeom prst="bentConnector3">
            <a:avLst>
              <a:gd name="adj1" fmla="val -68"/>
            </a:avLst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9943377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7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72FA42A-2AC7-0F7C-5F05-7F40754208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3AF2D794-44C8-9E93-B5D4-FC21BFD817AE}"/>
              </a:ext>
            </a:extLst>
          </p:cNvPr>
          <p:cNvSpPr/>
          <p:nvPr/>
        </p:nvSpPr>
        <p:spPr>
          <a:xfrm>
            <a:off x="14075966" y="-6425551"/>
            <a:ext cx="8424068" cy="8413538"/>
          </a:xfrm>
          <a:custGeom>
            <a:avLst/>
            <a:gdLst/>
            <a:ahLst/>
            <a:cxnLst/>
            <a:rect l="l" t="t" r="r" b="b"/>
            <a:pathLst>
              <a:path w="8424068" h="8413538">
                <a:moveTo>
                  <a:pt x="0" y="0"/>
                </a:moveTo>
                <a:lnTo>
                  <a:pt x="8424068" y="0"/>
                </a:lnTo>
                <a:lnTo>
                  <a:pt x="8424068" y="8413538"/>
                </a:lnTo>
                <a:lnTo>
                  <a:pt x="0" y="84135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7D6C2116-4245-1232-71D5-58B355E66CD4}"/>
              </a:ext>
            </a:extLst>
          </p:cNvPr>
          <p:cNvSpPr/>
          <p:nvPr/>
        </p:nvSpPr>
        <p:spPr>
          <a:xfrm>
            <a:off x="-1261268" y="8061349"/>
            <a:ext cx="8424068" cy="8413538"/>
          </a:xfrm>
          <a:custGeom>
            <a:avLst/>
            <a:gdLst/>
            <a:ahLst/>
            <a:cxnLst/>
            <a:rect l="l" t="t" r="r" b="b"/>
            <a:pathLst>
              <a:path w="8424068" h="8413538">
                <a:moveTo>
                  <a:pt x="0" y="0"/>
                </a:moveTo>
                <a:lnTo>
                  <a:pt x="8424068" y="0"/>
                </a:lnTo>
                <a:lnTo>
                  <a:pt x="8424068" y="8413539"/>
                </a:lnTo>
                <a:lnTo>
                  <a:pt x="0" y="84135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95DCF9E-0B90-E8EF-21F5-F294B4B7658B}"/>
              </a:ext>
            </a:extLst>
          </p:cNvPr>
          <p:cNvSpPr txBox="1"/>
          <p:nvPr/>
        </p:nvSpPr>
        <p:spPr>
          <a:xfrm>
            <a:off x="304800" y="825487"/>
            <a:ext cx="16687800" cy="13511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000"/>
              </a:lnSpc>
            </a:pPr>
            <a:r>
              <a:rPr lang="en-US" sz="9600">
                <a:solidFill>
                  <a:srgbClr val="051D40"/>
                </a:solidFill>
                <a:latin typeface="Bernoru SemiCondensed" panose="020B0604020202020204" charset="0"/>
                <a:ea typeface="Genty"/>
                <a:cs typeface="Genty"/>
                <a:sym typeface="Genty"/>
              </a:rPr>
              <a:t>Libraries and features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C7998B7D-D6BA-1F0F-2E26-D5E9811A21C9}"/>
              </a:ext>
            </a:extLst>
          </p:cNvPr>
          <p:cNvGrpSpPr/>
          <p:nvPr/>
        </p:nvGrpSpPr>
        <p:grpSpPr>
          <a:xfrm>
            <a:off x="1957257" y="2225651"/>
            <a:ext cx="5351244" cy="1348313"/>
            <a:chOff x="1914470" y="2225651"/>
            <a:chExt cx="6922719" cy="1348313"/>
          </a:xfrm>
        </p:grpSpPr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42D9F2C1-245A-95B4-56CB-4F4A103B3DF5}"/>
                </a:ext>
              </a:extLst>
            </p:cNvPr>
            <p:cNvGrpSpPr/>
            <p:nvPr/>
          </p:nvGrpSpPr>
          <p:grpSpPr>
            <a:xfrm>
              <a:off x="2102958" y="2225651"/>
              <a:ext cx="6545742" cy="1348313"/>
              <a:chOff x="0" y="0"/>
              <a:chExt cx="1723982" cy="355111"/>
            </a:xfrm>
          </p:grpSpPr>
          <p:sp>
            <p:nvSpPr>
              <p:cNvPr id="6" name="Freeform 6">
                <a:extLst>
                  <a:ext uri="{FF2B5EF4-FFF2-40B4-BE49-F238E27FC236}">
                    <a16:creationId xmlns:a16="http://schemas.microsoft.com/office/drawing/2014/main" id="{7F912579-3EAA-C73E-F36D-D0E71CE4EA70}"/>
                  </a:ext>
                </a:extLst>
              </p:cNvPr>
              <p:cNvSpPr/>
              <p:nvPr/>
            </p:nvSpPr>
            <p:spPr>
              <a:xfrm>
                <a:off x="0" y="0"/>
                <a:ext cx="1723982" cy="355111"/>
              </a:xfrm>
              <a:custGeom>
                <a:avLst/>
                <a:gdLst/>
                <a:ahLst/>
                <a:cxnLst/>
                <a:rect l="l" t="t" r="r" b="b"/>
                <a:pathLst>
                  <a:path w="1723982" h="355111">
                    <a:moveTo>
                      <a:pt x="60320" y="0"/>
                    </a:moveTo>
                    <a:lnTo>
                      <a:pt x="1663662" y="0"/>
                    </a:lnTo>
                    <a:cubicBezTo>
                      <a:pt x="1696975" y="0"/>
                      <a:pt x="1723982" y="27006"/>
                      <a:pt x="1723982" y="60320"/>
                    </a:cubicBezTo>
                    <a:lnTo>
                      <a:pt x="1723982" y="294791"/>
                    </a:lnTo>
                    <a:cubicBezTo>
                      <a:pt x="1723982" y="310789"/>
                      <a:pt x="1717627" y="326132"/>
                      <a:pt x="1706314" y="337444"/>
                    </a:cubicBezTo>
                    <a:cubicBezTo>
                      <a:pt x="1695002" y="348756"/>
                      <a:pt x="1679660" y="355111"/>
                      <a:pt x="1663662" y="355111"/>
                    </a:cubicBezTo>
                    <a:lnTo>
                      <a:pt x="60320" y="355111"/>
                    </a:lnTo>
                    <a:cubicBezTo>
                      <a:pt x="27006" y="355111"/>
                      <a:pt x="0" y="328105"/>
                      <a:pt x="0" y="294791"/>
                    </a:cubicBezTo>
                    <a:lnTo>
                      <a:pt x="0" y="60320"/>
                    </a:lnTo>
                    <a:cubicBezTo>
                      <a:pt x="0" y="27006"/>
                      <a:pt x="27006" y="0"/>
                      <a:pt x="60320" y="0"/>
                    </a:cubicBezTo>
                    <a:close/>
                  </a:path>
                </a:pathLst>
              </a:custGeom>
              <a:solidFill>
                <a:srgbClr val="B1D4E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" name="TextBox 7">
                <a:extLst>
                  <a:ext uri="{FF2B5EF4-FFF2-40B4-BE49-F238E27FC236}">
                    <a16:creationId xmlns:a16="http://schemas.microsoft.com/office/drawing/2014/main" id="{BB8F0AAB-A376-C491-B2FB-BC89C81F8BEE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723982" cy="39321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72A22E8D-BADD-B43C-D502-D3E2E4040E1A}"/>
                </a:ext>
              </a:extLst>
            </p:cNvPr>
            <p:cNvSpPr txBox="1"/>
            <p:nvPr/>
          </p:nvSpPr>
          <p:spPr>
            <a:xfrm>
              <a:off x="1914470" y="2522195"/>
              <a:ext cx="6922719" cy="77239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6000"/>
                </a:lnSpc>
              </a:pPr>
              <a:r>
                <a:rPr lang="en-US" sz="5400" b="1" i="0">
                  <a:solidFill>
                    <a:srgbClr val="FFFFFF"/>
                  </a:solidFill>
                  <a:effectLst/>
                  <a:latin typeface="__Inter_d65c78"/>
                </a:rPr>
                <a:t>Key </a:t>
              </a:r>
              <a:r>
                <a:rPr lang="en-US" sz="5400" b="1" i="0">
                  <a:effectLst/>
                  <a:latin typeface="__Inter_d65c78"/>
                </a:rPr>
                <a:t>Components</a:t>
              </a:r>
              <a:r>
                <a:rPr lang="en-US" sz="5000">
                  <a:solidFill>
                    <a:srgbClr val="051D40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 </a:t>
              </a: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F072CB69-4845-9285-6C56-E6559BE0336C}"/>
              </a:ext>
            </a:extLst>
          </p:cNvPr>
          <p:cNvSpPr txBox="1"/>
          <p:nvPr/>
        </p:nvSpPr>
        <p:spPr>
          <a:xfrm>
            <a:off x="1993543" y="3786872"/>
            <a:ext cx="12630158" cy="70480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000"/>
              </a:lnSpc>
            </a:pPr>
            <a:r>
              <a:rPr lang="en-US" sz="5400" b="1" i="0">
                <a:effectLst/>
                <a:latin typeface="__Inter_d65c78"/>
              </a:rPr>
              <a:t>Conversion Functions:</a:t>
            </a:r>
          </a:p>
          <a:p>
            <a:pPr>
              <a:lnSpc>
                <a:spcPts val="6000"/>
              </a:lnSpc>
            </a:pPr>
            <a:r>
              <a:rPr lang="en-US" sz="4000" i="0">
                <a:effectLst/>
                <a:latin typeface="__Inter_d65c78"/>
              </a:rPr>
              <a:t>Infix to Postfix Conversion: </a:t>
            </a:r>
            <a:r>
              <a:rPr lang="en-US" sz="4000">
                <a:latin typeface="__Inter_d65c78"/>
              </a:rPr>
              <a:t> </a:t>
            </a:r>
          </a:p>
          <a:p>
            <a:pPr>
              <a:lnSpc>
                <a:spcPts val="6000"/>
              </a:lnSpc>
            </a:pPr>
            <a:r>
              <a:rPr lang="en-US" sz="4000">
                <a:latin typeface="__Inter_d65c78"/>
              </a:rPr>
              <a:t>Converts an infix expression to</a:t>
            </a:r>
          </a:p>
          <a:p>
            <a:pPr>
              <a:lnSpc>
                <a:spcPts val="6000"/>
              </a:lnSpc>
            </a:pPr>
            <a:r>
              <a:rPr lang="en-US" sz="4000">
                <a:latin typeface="__Inter_d65c78"/>
              </a:rPr>
              <a:t>postfix, displaying each step </a:t>
            </a:r>
          </a:p>
          <a:p>
            <a:pPr>
              <a:lnSpc>
                <a:spcPts val="6000"/>
              </a:lnSpc>
            </a:pPr>
            <a:r>
              <a:rPr lang="en-US" sz="4000">
                <a:latin typeface="__Inter_d65c78"/>
              </a:rPr>
              <a:t>in a message window.</a:t>
            </a:r>
          </a:p>
          <a:p>
            <a:pPr marL="685800" indent="-685800">
              <a:lnSpc>
                <a:spcPts val="6000"/>
              </a:lnSpc>
              <a:buFont typeface="Arial" panose="020B0604020202020204" pitchFamily="34" charset="0"/>
              <a:buChar char="•"/>
            </a:pPr>
            <a:endParaRPr lang="en-US" sz="4000" b="1" i="0">
              <a:effectLst/>
              <a:latin typeface="__Inter_d65c78"/>
            </a:endParaRPr>
          </a:p>
          <a:p>
            <a:pPr marL="685800" indent="-685800" algn="ctr">
              <a:lnSpc>
                <a:spcPts val="6000"/>
              </a:lnSpc>
              <a:buFont typeface="Arial" panose="020B0604020202020204" pitchFamily="34" charset="0"/>
              <a:buChar char="•"/>
            </a:pPr>
            <a:endParaRPr lang="en-US" sz="5000">
              <a:latin typeface="Nunito Sans"/>
              <a:ea typeface="Nunito Sans"/>
              <a:cs typeface="Nunito Sans"/>
              <a:sym typeface="Nunito Sans"/>
            </a:endParaRPr>
          </a:p>
          <a:p>
            <a:pPr>
              <a:buNone/>
            </a:pPr>
            <a:br>
              <a:rPr lang="en-US" sz="5400" b="0" i="0">
                <a:effectLst/>
                <a:latin typeface="__Inter_d65c78"/>
              </a:rPr>
            </a:br>
            <a:endParaRPr lang="en-US" sz="5400" b="1">
              <a:solidFill>
                <a:srgbClr val="FFFFFF"/>
              </a:solidFill>
              <a:latin typeface="__Inter_d65c78"/>
            </a:endParaRPr>
          </a:p>
        </p:txBody>
      </p: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6469EDC4-37D1-0AE8-FE22-DA7D66C81AE5}"/>
              </a:ext>
            </a:extLst>
          </p:cNvPr>
          <p:cNvCxnSpPr>
            <a:cxnSpLocks/>
          </p:cNvCxnSpPr>
          <p:nvPr/>
        </p:nvCxnSpPr>
        <p:spPr>
          <a:xfrm>
            <a:off x="7225704" y="6946986"/>
            <a:ext cx="1620093" cy="990600"/>
          </a:xfrm>
          <a:prstGeom prst="bentConnector3">
            <a:avLst>
              <a:gd name="adj1" fmla="val 1622"/>
            </a:avLst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72E822DD-A3A7-B4C0-3D71-23BEED902A2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845797" y="4000500"/>
            <a:ext cx="8976434" cy="429236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9403298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7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809C0B4-B582-C349-C5A9-742ADA1F9E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EBD59B54-524F-0F55-29FA-A3B490E1D4F0}"/>
              </a:ext>
            </a:extLst>
          </p:cNvPr>
          <p:cNvSpPr/>
          <p:nvPr/>
        </p:nvSpPr>
        <p:spPr>
          <a:xfrm>
            <a:off x="16460570" y="0"/>
            <a:ext cx="8424068" cy="8413538"/>
          </a:xfrm>
          <a:custGeom>
            <a:avLst/>
            <a:gdLst/>
            <a:ahLst/>
            <a:cxnLst/>
            <a:rect l="l" t="t" r="r" b="b"/>
            <a:pathLst>
              <a:path w="8424068" h="8413538">
                <a:moveTo>
                  <a:pt x="0" y="0"/>
                </a:moveTo>
                <a:lnTo>
                  <a:pt x="8424068" y="0"/>
                </a:lnTo>
                <a:lnTo>
                  <a:pt x="8424068" y="8413538"/>
                </a:lnTo>
                <a:lnTo>
                  <a:pt x="0" y="84135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AD04419B-1369-7388-0309-C281E974BE3F}"/>
              </a:ext>
            </a:extLst>
          </p:cNvPr>
          <p:cNvSpPr/>
          <p:nvPr/>
        </p:nvSpPr>
        <p:spPr>
          <a:xfrm>
            <a:off x="-3840350" y="5930108"/>
            <a:ext cx="8424068" cy="8413538"/>
          </a:xfrm>
          <a:custGeom>
            <a:avLst/>
            <a:gdLst/>
            <a:ahLst/>
            <a:cxnLst/>
            <a:rect l="l" t="t" r="r" b="b"/>
            <a:pathLst>
              <a:path w="8424068" h="8413538">
                <a:moveTo>
                  <a:pt x="0" y="0"/>
                </a:moveTo>
                <a:lnTo>
                  <a:pt x="8424068" y="0"/>
                </a:lnTo>
                <a:lnTo>
                  <a:pt x="8424068" y="8413539"/>
                </a:lnTo>
                <a:lnTo>
                  <a:pt x="0" y="84135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368177C6-930E-3660-EA4C-FE0872C090FF}"/>
              </a:ext>
            </a:extLst>
          </p:cNvPr>
          <p:cNvSpPr txBox="1"/>
          <p:nvPr/>
        </p:nvSpPr>
        <p:spPr>
          <a:xfrm>
            <a:off x="304800" y="825487"/>
            <a:ext cx="16687800" cy="13511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000"/>
              </a:lnSpc>
            </a:pPr>
            <a:r>
              <a:rPr lang="en-US" sz="9600">
                <a:solidFill>
                  <a:srgbClr val="051D40"/>
                </a:solidFill>
                <a:latin typeface="Bernoru SemiCondensed" panose="020B0604020202020204" charset="0"/>
                <a:ea typeface="Genty"/>
                <a:cs typeface="Genty"/>
                <a:sym typeface="Genty"/>
              </a:rPr>
              <a:t>Libraries and features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5642A1A6-A33E-04A8-596F-97CC920BCBC3}"/>
              </a:ext>
            </a:extLst>
          </p:cNvPr>
          <p:cNvGrpSpPr/>
          <p:nvPr/>
        </p:nvGrpSpPr>
        <p:grpSpPr>
          <a:xfrm>
            <a:off x="1957257" y="2225651"/>
            <a:ext cx="5351244" cy="1348313"/>
            <a:chOff x="1914470" y="2225651"/>
            <a:chExt cx="6922719" cy="1348313"/>
          </a:xfrm>
        </p:grpSpPr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01FC7F12-E631-5C24-ABC1-A3B3289F09A3}"/>
                </a:ext>
              </a:extLst>
            </p:cNvPr>
            <p:cNvGrpSpPr/>
            <p:nvPr/>
          </p:nvGrpSpPr>
          <p:grpSpPr>
            <a:xfrm>
              <a:off x="2102958" y="2225651"/>
              <a:ext cx="6545742" cy="1348313"/>
              <a:chOff x="0" y="0"/>
              <a:chExt cx="1723982" cy="355111"/>
            </a:xfrm>
          </p:grpSpPr>
          <p:sp>
            <p:nvSpPr>
              <p:cNvPr id="6" name="Freeform 6">
                <a:extLst>
                  <a:ext uri="{FF2B5EF4-FFF2-40B4-BE49-F238E27FC236}">
                    <a16:creationId xmlns:a16="http://schemas.microsoft.com/office/drawing/2014/main" id="{857748E6-7D5E-C320-CF92-681214343137}"/>
                  </a:ext>
                </a:extLst>
              </p:cNvPr>
              <p:cNvSpPr/>
              <p:nvPr/>
            </p:nvSpPr>
            <p:spPr>
              <a:xfrm>
                <a:off x="0" y="0"/>
                <a:ext cx="1723982" cy="355111"/>
              </a:xfrm>
              <a:custGeom>
                <a:avLst/>
                <a:gdLst/>
                <a:ahLst/>
                <a:cxnLst/>
                <a:rect l="l" t="t" r="r" b="b"/>
                <a:pathLst>
                  <a:path w="1723982" h="355111">
                    <a:moveTo>
                      <a:pt x="60320" y="0"/>
                    </a:moveTo>
                    <a:lnTo>
                      <a:pt x="1663662" y="0"/>
                    </a:lnTo>
                    <a:cubicBezTo>
                      <a:pt x="1696975" y="0"/>
                      <a:pt x="1723982" y="27006"/>
                      <a:pt x="1723982" y="60320"/>
                    </a:cubicBezTo>
                    <a:lnTo>
                      <a:pt x="1723982" y="294791"/>
                    </a:lnTo>
                    <a:cubicBezTo>
                      <a:pt x="1723982" y="310789"/>
                      <a:pt x="1717627" y="326132"/>
                      <a:pt x="1706314" y="337444"/>
                    </a:cubicBezTo>
                    <a:cubicBezTo>
                      <a:pt x="1695002" y="348756"/>
                      <a:pt x="1679660" y="355111"/>
                      <a:pt x="1663662" y="355111"/>
                    </a:cubicBezTo>
                    <a:lnTo>
                      <a:pt x="60320" y="355111"/>
                    </a:lnTo>
                    <a:cubicBezTo>
                      <a:pt x="27006" y="355111"/>
                      <a:pt x="0" y="328105"/>
                      <a:pt x="0" y="294791"/>
                    </a:cubicBezTo>
                    <a:lnTo>
                      <a:pt x="0" y="60320"/>
                    </a:lnTo>
                    <a:cubicBezTo>
                      <a:pt x="0" y="27006"/>
                      <a:pt x="27006" y="0"/>
                      <a:pt x="60320" y="0"/>
                    </a:cubicBezTo>
                    <a:close/>
                  </a:path>
                </a:pathLst>
              </a:custGeom>
              <a:solidFill>
                <a:srgbClr val="B1D4E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" name="TextBox 7">
                <a:extLst>
                  <a:ext uri="{FF2B5EF4-FFF2-40B4-BE49-F238E27FC236}">
                    <a16:creationId xmlns:a16="http://schemas.microsoft.com/office/drawing/2014/main" id="{FFDD35FB-6037-8BAA-1EDA-D81374E931C2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723982" cy="39321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408A143F-22EF-2803-83D4-8C975EB8A441}"/>
                </a:ext>
              </a:extLst>
            </p:cNvPr>
            <p:cNvSpPr txBox="1"/>
            <p:nvPr/>
          </p:nvSpPr>
          <p:spPr>
            <a:xfrm>
              <a:off x="1914470" y="2522195"/>
              <a:ext cx="6922719" cy="77239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6000"/>
                </a:lnSpc>
              </a:pPr>
              <a:r>
                <a:rPr lang="en-US" sz="5400" b="1" i="0">
                  <a:solidFill>
                    <a:srgbClr val="FFFFFF"/>
                  </a:solidFill>
                  <a:effectLst/>
                  <a:latin typeface="__Inter_d65c78"/>
                </a:rPr>
                <a:t>Key </a:t>
              </a:r>
              <a:r>
                <a:rPr lang="en-US" sz="5400" b="1" i="0">
                  <a:effectLst/>
                  <a:latin typeface="__Inter_d65c78"/>
                </a:rPr>
                <a:t>Components</a:t>
              </a:r>
              <a:r>
                <a:rPr lang="en-US" sz="5000">
                  <a:solidFill>
                    <a:srgbClr val="051D40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 </a:t>
              </a: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5F6CDEE7-1B7B-8097-B52D-A02CE723F690}"/>
              </a:ext>
            </a:extLst>
          </p:cNvPr>
          <p:cNvSpPr txBox="1"/>
          <p:nvPr/>
        </p:nvSpPr>
        <p:spPr>
          <a:xfrm>
            <a:off x="1993543" y="3786872"/>
            <a:ext cx="12630158" cy="473975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000"/>
              </a:lnSpc>
            </a:pPr>
            <a:r>
              <a:rPr lang="en-US" sz="5400" b="1" i="0">
                <a:effectLst/>
                <a:latin typeface="__Inter_d65c78"/>
              </a:rPr>
              <a:t>Conversion Functions:</a:t>
            </a:r>
          </a:p>
          <a:p>
            <a:pPr marL="571500" indent="-571500">
              <a:lnSpc>
                <a:spcPts val="6000"/>
              </a:lnSpc>
              <a:buFont typeface="Arial" panose="020B0604020202020204" pitchFamily="34" charset="0"/>
              <a:buChar char="•"/>
            </a:pPr>
            <a:r>
              <a:rPr lang="en-US" sz="4000" b="1" i="0">
                <a:effectLst/>
                <a:latin typeface="__Inter_d65c78"/>
              </a:rPr>
              <a:t>Postfix to Infix Conversion:  </a:t>
            </a:r>
            <a:r>
              <a:rPr lang="en-US" sz="4000">
                <a:latin typeface="__Inter_d65c78"/>
              </a:rPr>
              <a:t>Converts a postfix expression to infix, displaying each step in a message window.</a:t>
            </a:r>
            <a:endParaRPr lang="en-US" sz="4000" i="0">
              <a:effectLst/>
              <a:latin typeface="__Inter_d65c78"/>
            </a:endParaRPr>
          </a:p>
          <a:p>
            <a:pPr marL="685800" indent="-685800" algn="ctr">
              <a:lnSpc>
                <a:spcPts val="6000"/>
              </a:lnSpc>
              <a:buFont typeface="Arial" panose="020B0604020202020204" pitchFamily="34" charset="0"/>
              <a:buChar char="•"/>
            </a:pPr>
            <a:endParaRPr lang="en-US" sz="5000">
              <a:latin typeface="Nunito Sans"/>
              <a:ea typeface="Nunito Sans"/>
              <a:cs typeface="Nunito Sans"/>
              <a:sym typeface="Nunito Sans"/>
            </a:endParaRPr>
          </a:p>
          <a:p>
            <a:pPr>
              <a:buNone/>
            </a:pPr>
            <a:br>
              <a:rPr lang="en-US" sz="5400" b="0" i="0">
                <a:effectLst/>
                <a:latin typeface="__Inter_d65c78"/>
              </a:rPr>
            </a:br>
            <a:endParaRPr lang="en-US" sz="5400" b="1">
              <a:solidFill>
                <a:srgbClr val="FFFFFF"/>
              </a:solidFill>
              <a:latin typeface="__Inter_d65c78"/>
            </a:endParaRPr>
          </a:p>
        </p:txBody>
      </p:sp>
      <p:cxnSp>
        <p:nvCxnSpPr>
          <p:cNvPr id="15" name="Connector: Elbow 14">
            <a:extLst>
              <a:ext uri="{FF2B5EF4-FFF2-40B4-BE49-F238E27FC236}">
                <a16:creationId xmlns:a16="http://schemas.microsoft.com/office/drawing/2014/main" id="{916432D6-1DAC-2E61-E69C-F4FA606AA5B6}"/>
              </a:ext>
            </a:extLst>
          </p:cNvPr>
          <p:cNvCxnSpPr>
            <a:cxnSpLocks/>
          </p:cNvCxnSpPr>
          <p:nvPr/>
        </p:nvCxnSpPr>
        <p:spPr>
          <a:xfrm>
            <a:off x="5212993" y="6156751"/>
            <a:ext cx="2050701" cy="967949"/>
          </a:xfrm>
          <a:prstGeom prst="bentConnector3">
            <a:avLst>
              <a:gd name="adj1" fmla="val -252"/>
            </a:avLst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22" name="Picture 21">
            <a:extLst>
              <a:ext uri="{FF2B5EF4-FFF2-40B4-BE49-F238E27FC236}">
                <a16:creationId xmlns:a16="http://schemas.microsoft.com/office/drawing/2014/main" id="{82F4FD56-18CA-822A-03EC-214B18944D45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308501" y="6216496"/>
            <a:ext cx="8346638" cy="258278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5628595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7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4ACC4644-0A8C-34CC-2796-4977BB1D7FF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BC6E2C21-CD16-2161-43D1-01C42BA37E96}"/>
              </a:ext>
            </a:extLst>
          </p:cNvPr>
          <p:cNvSpPr/>
          <p:nvPr/>
        </p:nvSpPr>
        <p:spPr>
          <a:xfrm>
            <a:off x="-4436655" y="7429500"/>
            <a:ext cx="8424068" cy="8413538"/>
          </a:xfrm>
          <a:custGeom>
            <a:avLst/>
            <a:gdLst/>
            <a:ahLst/>
            <a:cxnLst/>
            <a:rect l="l" t="t" r="r" b="b"/>
            <a:pathLst>
              <a:path w="8424068" h="8413538">
                <a:moveTo>
                  <a:pt x="0" y="0"/>
                </a:moveTo>
                <a:lnTo>
                  <a:pt x="8424068" y="0"/>
                </a:lnTo>
                <a:lnTo>
                  <a:pt x="8424068" y="8413538"/>
                </a:lnTo>
                <a:lnTo>
                  <a:pt x="0" y="84135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2391A34D-7AAA-6509-73EC-66B29F0575F2}"/>
              </a:ext>
            </a:extLst>
          </p:cNvPr>
          <p:cNvSpPr/>
          <p:nvPr/>
        </p:nvSpPr>
        <p:spPr>
          <a:xfrm>
            <a:off x="16162919" y="-632805"/>
            <a:ext cx="8424068" cy="8413538"/>
          </a:xfrm>
          <a:custGeom>
            <a:avLst/>
            <a:gdLst/>
            <a:ahLst/>
            <a:cxnLst/>
            <a:rect l="l" t="t" r="r" b="b"/>
            <a:pathLst>
              <a:path w="8424068" h="8413538">
                <a:moveTo>
                  <a:pt x="0" y="0"/>
                </a:moveTo>
                <a:lnTo>
                  <a:pt x="8424068" y="0"/>
                </a:lnTo>
                <a:lnTo>
                  <a:pt x="8424068" y="8413539"/>
                </a:lnTo>
                <a:lnTo>
                  <a:pt x="0" y="84135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19F6210C-3A48-12B3-38E3-05855641E2B0}"/>
              </a:ext>
            </a:extLst>
          </p:cNvPr>
          <p:cNvSpPr txBox="1"/>
          <p:nvPr/>
        </p:nvSpPr>
        <p:spPr>
          <a:xfrm>
            <a:off x="304800" y="825487"/>
            <a:ext cx="16687800" cy="13511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000"/>
              </a:lnSpc>
            </a:pPr>
            <a:r>
              <a:rPr lang="en-US" sz="9600">
                <a:solidFill>
                  <a:srgbClr val="051D40"/>
                </a:solidFill>
                <a:latin typeface="Bernoru SemiCondensed" panose="020B0604020202020204" charset="0"/>
                <a:ea typeface="Genty"/>
                <a:cs typeface="Genty"/>
                <a:sym typeface="Genty"/>
              </a:rPr>
              <a:t>Libraries and features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F33967D0-EB96-9D4C-7F36-2D4A2D88F5AA}"/>
              </a:ext>
            </a:extLst>
          </p:cNvPr>
          <p:cNvGrpSpPr/>
          <p:nvPr/>
        </p:nvGrpSpPr>
        <p:grpSpPr>
          <a:xfrm>
            <a:off x="1957257" y="2225651"/>
            <a:ext cx="5351244" cy="1348313"/>
            <a:chOff x="1914470" y="2225651"/>
            <a:chExt cx="6922719" cy="1348313"/>
          </a:xfrm>
        </p:grpSpPr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21DF73BC-3CB0-A556-7D4E-8BE1FB70BFE9}"/>
                </a:ext>
              </a:extLst>
            </p:cNvPr>
            <p:cNvGrpSpPr/>
            <p:nvPr/>
          </p:nvGrpSpPr>
          <p:grpSpPr>
            <a:xfrm>
              <a:off x="2102958" y="2225651"/>
              <a:ext cx="6545742" cy="1348313"/>
              <a:chOff x="0" y="0"/>
              <a:chExt cx="1723982" cy="355111"/>
            </a:xfrm>
          </p:grpSpPr>
          <p:sp>
            <p:nvSpPr>
              <p:cNvPr id="6" name="Freeform 6">
                <a:extLst>
                  <a:ext uri="{FF2B5EF4-FFF2-40B4-BE49-F238E27FC236}">
                    <a16:creationId xmlns:a16="http://schemas.microsoft.com/office/drawing/2014/main" id="{C2EA23BB-9DC1-0269-A705-135E2643797E}"/>
                  </a:ext>
                </a:extLst>
              </p:cNvPr>
              <p:cNvSpPr/>
              <p:nvPr/>
            </p:nvSpPr>
            <p:spPr>
              <a:xfrm>
                <a:off x="0" y="0"/>
                <a:ext cx="1723982" cy="355111"/>
              </a:xfrm>
              <a:custGeom>
                <a:avLst/>
                <a:gdLst/>
                <a:ahLst/>
                <a:cxnLst/>
                <a:rect l="l" t="t" r="r" b="b"/>
                <a:pathLst>
                  <a:path w="1723982" h="355111">
                    <a:moveTo>
                      <a:pt x="60320" y="0"/>
                    </a:moveTo>
                    <a:lnTo>
                      <a:pt x="1663662" y="0"/>
                    </a:lnTo>
                    <a:cubicBezTo>
                      <a:pt x="1696975" y="0"/>
                      <a:pt x="1723982" y="27006"/>
                      <a:pt x="1723982" y="60320"/>
                    </a:cubicBezTo>
                    <a:lnTo>
                      <a:pt x="1723982" y="294791"/>
                    </a:lnTo>
                    <a:cubicBezTo>
                      <a:pt x="1723982" y="310789"/>
                      <a:pt x="1717627" y="326132"/>
                      <a:pt x="1706314" y="337444"/>
                    </a:cubicBezTo>
                    <a:cubicBezTo>
                      <a:pt x="1695002" y="348756"/>
                      <a:pt x="1679660" y="355111"/>
                      <a:pt x="1663662" y="355111"/>
                    </a:cubicBezTo>
                    <a:lnTo>
                      <a:pt x="60320" y="355111"/>
                    </a:lnTo>
                    <a:cubicBezTo>
                      <a:pt x="27006" y="355111"/>
                      <a:pt x="0" y="328105"/>
                      <a:pt x="0" y="294791"/>
                    </a:cubicBezTo>
                    <a:lnTo>
                      <a:pt x="0" y="60320"/>
                    </a:lnTo>
                    <a:cubicBezTo>
                      <a:pt x="0" y="27006"/>
                      <a:pt x="27006" y="0"/>
                      <a:pt x="60320" y="0"/>
                    </a:cubicBezTo>
                    <a:close/>
                  </a:path>
                </a:pathLst>
              </a:custGeom>
              <a:solidFill>
                <a:srgbClr val="B1D4E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" name="TextBox 7">
                <a:extLst>
                  <a:ext uri="{FF2B5EF4-FFF2-40B4-BE49-F238E27FC236}">
                    <a16:creationId xmlns:a16="http://schemas.microsoft.com/office/drawing/2014/main" id="{0C8888FD-6A53-3497-8953-FB41494D925E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723982" cy="39321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3E5FE725-6288-87E2-7862-743DAD957F5E}"/>
                </a:ext>
              </a:extLst>
            </p:cNvPr>
            <p:cNvSpPr txBox="1"/>
            <p:nvPr/>
          </p:nvSpPr>
          <p:spPr>
            <a:xfrm>
              <a:off x="1914470" y="2522195"/>
              <a:ext cx="6922719" cy="77239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6000"/>
                </a:lnSpc>
              </a:pPr>
              <a:r>
                <a:rPr lang="en-US" sz="5400" b="1" i="0">
                  <a:solidFill>
                    <a:srgbClr val="FFFFFF"/>
                  </a:solidFill>
                  <a:effectLst/>
                  <a:latin typeface="__Inter_d65c78"/>
                </a:rPr>
                <a:t>Key </a:t>
              </a:r>
              <a:r>
                <a:rPr lang="en-US" sz="5400" b="1" i="0">
                  <a:effectLst/>
                  <a:latin typeface="__Inter_d65c78"/>
                </a:rPr>
                <a:t>Components</a:t>
              </a:r>
              <a:r>
                <a:rPr lang="en-US" sz="5000">
                  <a:solidFill>
                    <a:srgbClr val="051D40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 </a:t>
              </a: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47D331B3-0EB6-C81A-BD9F-30B57FE03F5D}"/>
              </a:ext>
            </a:extLst>
          </p:cNvPr>
          <p:cNvSpPr txBox="1"/>
          <p:nvPr/>
        </p:nvSpPr>
        <p:spPr>
          <a:xfrm>
            <a:off x="1993543" y="3786872"/>
            <a:ext cx="12630158" cy="397031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000"/>
              </a:lnSpc>
            </a:pPr>
            <a:r>
              <a:rPr lang="en-US" sz="5400" b="1" i="0">
                <a:effectLst/>
                <a:latin typeface="__Inter_d65c78"/>
              </a:rPr>
              <a:t>Evaluate Postfix Expression:</a:t>
            </a:r>
          </a:p>
          <a:p>
            <a:pPr>
              <a:lnSpc>
                <a:spcPts val="6000"/>
              </a:lnSpc>
            </a:pPr>
            <a:r>
              <a:rPr lang="en-US" sz="4000" i="0">
                <a:effectLst/>
                <a:latin typeface="__Inter_d65c78"/>
              </a:rPr>
              <a:t>Evaluates a numeric postfix expression and stores the result.</a:t>
            </a:r>
          </a:p>
          <a:p>
            <a:pPr marL="685800" indent="-685800" algn="ctr">
              <a:lnSpc>
                <a:spcPts val="6000"/>
              </a:lnSpc>
              <a:buFont typeface="Arial" panose="020B0604020202020204" pitchFamily="34" charset="0"/>
              <a:buChar char="•"/>
            </a:pPr>
            <a:endParaRPr lang="en-US" sz="5000">
              <a:latin typeface="Nunito Sans"/>
              <a:ea typeface="Nunito Sans"/>
              <a:cs typeface="Nunito Sans"/>
              <a:sym typeface="Nunito Sans"/>
            </a:endParaRPr>
          </a:p>
          <a:p>
            <a:pPr>
              <a:buNone/>
            </a:pPr>
            <a:br>
              <a:rPr lang="en-US" sz="5400" b="0" i="0">
                <a:effectLst/>
                <a:latin typeface="__Inter_d65c78"/>
              </a:rPr>
            </a:br>
            <a:endParaRPr lang="en-US" sz="5400" b="1">
              <a:solidFill>
                <a:srgbClr val="FFFFFF"/>
              </a:solidFill>
              <a:latin typeface="__Inter_d65c78"/>
            </a:endParaRPr>
          </a:p>
        </p:txBody>
      </p: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9B22CA9C-1C0B-4908-A16E-D07CF8765DBB}"/>
              </a:ext>
            </a:extLst>
          </p:cNvPr>
          <p:cNvCxnSpPr>
            <a:cxnSpLocks/>
          </p:cNvCxnSpPr>
          <p:nvPr/>
        </p:nvCxnSpPr>
        <p:spPr>
          <a:xfrm>
            <a:off x="3853543" y="5585353"/>
            <a:ext cx="1676400" cy="1472922"/>
          </a:xfrm>
          <a:prstGeom prst="bentConnector3">
            <a:avLst>
              <a:gd name="adj1" fmla="val -216"/>
            </a:avLst>
          </a:prstGeom>
          <a:ln w="28575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7" name="Picture 16">
            <a:extLst>
              <a:ext uri="{FF2B5EF4-FFF2-40B4-BE49-F238E27FC236}">
                <a16:creationId xmlns:a16="http://schemas.microsoft.com/office/drawing/2014/main" id="{B180CA2D-4AE2-DC2B-35F6-6963185A547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638800" y="5858556"/>
            <a:ext cx="7293173" cy="2702546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993099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25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7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3256034-4873-591C-F961-2339D49AC9A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9BE683B0-45C8-EE7F-474C-0E1740439526}"/>
              </a:ext>
            </a:extLst>
          </p:cNvPr>
          <p:cNvSpPr/>
          <p:nvPr/>
        </p:nvSpPr>
        <p:spPr>
          <a:xfrm>
            <a:off x="15282463" y="8026486"/>
            <a:ext cx="8424068" cy="8413538"/>
          </a:xfrm>
          <a:custGeom>
            <a:avLst/>
            <a:gdLst/>
            <a:ahLst/>
            <a:cxnLst/>
            <a:rect l="l" t="t" r="r" b="b"/>
            <a:pathLst>
              <a:path w="8424068" h="8413538">
                <a:moveTo>
                  <a:pt x="0" y="0"/>
                </a:moveTo>
                <a:lnTo>
                  <a:pt x="8424068" y="0"/>
                </a:lnTo>
                <a:lnTo>
                  <a:pt x="8424068" y="8413538"/>
                </a:lnTo>
                <a:lnTo>
                  <a:pt x="0" y="84135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DE045422-D50A-3DA7-BCA1-B13E4AF6F88D}"/>
              </a:ext>
            </a:extLst>
          </p:cNvPr>
          <p:cNvSpPr/>
          <p:nvPr/>
        </p:nvSpPr>
        <p:spPr>
          <a:xfrm>
            <a:off x="-4774468" y="-6236912"/>
            <a:ext cx="8424068" cy="8413538"/>
          </a:xfrm>
          <a:custGeom>
            <a:avLst/>
            <a:gdLst/>
            <a:ahLst/>
            <a:cxnLst/>
            <a:rect l="l" t="t" r="r" b="b"/>
            <a:pathLst>
              <a:path w="8424068" h="8413538">
                <a:moveTo>
                  <a:pt x="0" y="0"/>
                </a:moveTo>
                <a:lnTo>
                  <a:pt x="8424068" y="0"/>
                </a:lnTo>
                <a:lnTo>
                  <a:pt x="8424068" y="8413539"/>
                </a:lnTo>
                <a:lnTo>
                  <a:pt x="0" y="84135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650098B3-A9E0-7E7E-1755-91B76802FCE9}"/>
              </a:ext>
            </a:extLst>
          </p:cNvPr>
          <p:cNvSpPr txBox="1"/>
          <p:nvPr/>
        </p:nvSpPr>
        <p:spPr>
          <a:xfrm>
            <a:off x="304800" y="825487"/>
            <a:ext cx="16687800" cy="13511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000"/>
              </a:lnSpc>
            </a:pPr>
            <a:r>
              <a:rPr lang="en-US" sz="9600">
                <a:solidFill>
                  <a:srgbClr val="051D40"/>
                </a:solidFill>
                <a:latin typeface="Bernoru SemiCondensed" panose="020B0604020202020204" charset="0"/>
                <a:ea typeface="Genty"/>
                <a:cs typeface="Genty"/>
                <a:sym typeface="Genty"/>
              </a:rPr>
              <a:t>Libraries and features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7FD4E838-6184-D234-1451-31D524F2D714}"/>
              </a:ext>
            </a:extLst>
          </p:cNvPr>
          <p:cNvGrpSpPr/>
          <p:nvPr/>
        </p:nvGrpSpPr>
        <p:grpSpPr>
          <a:xfrm>
            <a:off x="1957257" y="2225651"/>
            <a:ext cx="5351244" cy="1348313"/>
            <a:chOff x="1914470" y="2225651"/>
            <a:chExt cx="6922719" cy="1348313"/>
          </a:xfrm>
        </p:grpSpPr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F251D240-4B0D-1EDB-60A6-55A6ECF1DA8D}"/>
                </a:ext>
              </a:extLst>
            </p:cNvPr>
            <p:cNvGrpSpPr/>
            <p:nvPr/>
          </p:nvGrpSpPr>
          <p:grpSpPr>
            <a:xfrm>
              <a:off x="2102958" y="2225651"/>
              <a:ext cx="6545742" cy="1348313"/>
              <a:chOff x="0" y="0"/>
              <a:chExt cx="1723982" cy="355111"/>
            </a:xfrm>
          </p:grpSpPr>
          <p:sp>
            <p:nvSpPr>
              <p:cNvPr id="6" name="Freeform 6">
                <a:extLst>
                  <a:ext uri="{FF2B5EF4-FFF2-40B4-BE49-F238E27FC236}">
                    <a16:creationId xmlns:a16="http://schemas.microsoft.com/office/drawing/2014/main" id="{C0D18B42-2FBE-CAC0-EFC6-22701A12036D}"/>
                  </a:ext>
                </a:extLst>
              </p:cNvPr>
              <p:cNvSpPr/>
              <p:nvPr/>
            </p:nvSpPr>
            <p:spPr>
              <a:xfrm>
                <a:off x="0" y="0"/>
                <a:ext cx="1723982" cy="355111"/>
              </a:xfrm>
              <a:custGeom>
                <a:avLst/>
                <a:gdLst/>
                <a:ahLst/>
                <a:cxnLst/>
                <a:rect l="l" t="t" r="r" b="b"/>
                <a:pathLst>
                  <a:path w="1723982" h="355111">
                    <a:moveTo>
                      <a:pt x="60320" y="0"/>
                    </a:moveTo>
                    <a:lnTo>
                      <a:pt x="1663662" y="0"/>
                    </a:lnTo>
                    <a:cubicBezTo>
                      <a:pt x="1696975" y="0"/>
                      <a:pt x="1723982" y="27006"/>
                      <a:pt x="1723982" y="60320"/>
                    </a:cubicBezTo>
                    <a:lnTo>
                      <a:pt x="1723982" y="294791"/>
                    </a:lnTo>
                    <a:cubicBezTo>
                      <a:pt x="1723982" y="310789"/>
                      <a:pt x="1717627" y="326132"/>
                      <a:pt x="1706314" y="337444"/>
                    </a:cubicBezTo>
                    <a:cubicBezTo>
                      <a:pt x="1695002" y="348756"/>
                      <a:pt x="1679660" y="355111"/>
                      <a:pt x="1663662" y="355111"/>
                    </a:cubicBezTo>
                    <a:lnTo>
                      <a:pt x="60320" y="355111"/>
                    </a:lnTo>
                    <a:cubicBezTo>
                      <a:pt x="27006" y="355111"/>
                      <a:pt x="0" y="328105"/>
                      <a:pt x="0" y="294791"/>
                    </a:cubicBezTo>
                    <a:lnTo>
                      <a:pt x="0" y="60320"/>
                    </a:lnTo>
                    <a:cubicBezTo>
                      <a:pt x="0" y="27006"/>
                      <a:pt x="27006" y="0"/>
                      <a:pt x="60320" y="0"/>
                    </a:cubicBezTo>
                    <a:close/>
                  </a:path>
                </a:pathLst>
              </a:custGeom>
              <a:solidFill>
                <a:srgbClr val="B1D4E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" name="TextBox 7">
                <a:extLst>
                  <a:ext uri="{FF2B5EF4-FFF2-40B4-BE49-F238E27FC236}">
                    <a16:creationId xmlns:a16="http://schemas.microsoft.com/office/drawing/2014/main" id="{B636D717-DB4F-67BC-0D64-BD64216EB483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723982" cy="39321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3476E3CC-C375-A2DE-4DCE-659D52CF75D1}"/>
                </a:ext>
              </a:extLst>
            </p:cNvPr>
            <p:cNvSpPr txBox="1"/>
            <p:nvPr/>
          </p:nvSpPr>
          <p:spPr>
            <a:xfrm>
              <a:off x="1914470" y="2522195"/>
              <a:ext cx="6922719" cy="77239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6000"/>
                </a:lnSpc>
              </a:pPr>
              <a:r>
                <a:rPr lang="en-US" sz="5400" b="1" i="0">
                  <a:solidFill>
                    <a:srgbClr val="FFFFFF"/>
                  </a:solidFill>
                  <a:effectLst/>
                  <a:latin typeface="__Inter_d65c78"/>
                </a:rPr>
                <a:t>Key </a:t>
              </a:r>
              <a:r>
                <a:rPr lang="en-US" sz="5400" b="1" i="0">
                  <a:effectLst/>
                  <a:latin typeface="__Inter_d65c78"/>
                </a:rPr>
                <a:t>Components</a:t>
              </a:r>
              <a:r>
                <a:rPr lang="en-US" sz="5000">
                  <a:solidFill>
                    <a:srgbClr val="051D40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 </a:t>
              </a:r>
            </a:p>
          </p:txBody>
        </p:sp>
      </p:grpSp>
      <p:sp>
        <p:nvSpPr>
          <p:cNvPr id="9" name="TextBox 8">
            <a:extLst>
              <a:ext uri="{FF2B5EF4-FFF2-40B4-BE49-F238E27FC236}">
                <a16:creationId xmlns:a16="http://schemas.microsoft.com/office/drawing/2014/main" id="{C63C8898-C857-F899-41F0-E42D58F21208}"/>
              </a:ext>
            </a:extLst>
          </p:cNvPr>
          <p:cNvSpPr txBox="1"/>
          <p:nvPr/>
        </p:nvSpPr>
        <p:spPr>
          <a:xfrm>
            <a:off x="1993543" y="3786872"/>
            <a:ext cx="12630158" cy="70480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000"/>
              </a:lnSpc>
            </a:pPr>
            <a:r>
              <a:rPr lang="en-US" sz="5400" b="1" i="0">
                <a:effectLst/>
                <a:latin typeface="__Inter_d65c78"/>
              </a:rPr>
              <a:t>Main Function:</a:t>
            </a:r>
          </a:p>
          <a:p>
            <a:pPr>
              <a:lnSpc>
                <a:spcPts val="6000"/>
              </a:lnSpc>
            </a:pPr>
            <a:r>
              <a:rPr lang="en-US" sz="4000" b="1" i="0">
                <a:solidFill>
                  <a:schemeClr val="accent1"/>
                </a:solidFill>
                <a:effectLst/>
                <a:latin typeface="__Inter_d65c78"/>
              </a:rPr>
              <a:t>Program Initialization and Loop:</a:t>
            </a:r>
          </a:p>
          <a:p>
            <a:pPr>
              <a:lnSpc>
                <a:spcPts val="6000"/>
              </a:lnSpc>
            </a:pPr>
            <a:r>
              <a:rPr lang="en-US" sz="4000" b="1" i="0">
                <a:solidFill>
                  <a:schemeClr val="accent1"/>
                </a:solidFill>
                <a:effectLst/>
                <a:latin typeface="__Inter_d65c78"/>
              </a:rPr>
              <a:t> </a:t>
            </a:r>
            <a:r>
              <a:rPr lang="en-US" sz="4000" b="1" i="0">
                <a:effectLst/>
                <a:latin typeface="__Inter_d65c78"/>
              </a:rPr>
              <a:t>Initializes the `</a:t>
            </a:r>
            <a:r>
              <a:rPr lang="en-US" sz="4000" b="1" i="0" err="1">
                <a:solidFill>
                  <a:schemeClr val="accent1"/>
                </a:solidFill>
                <a:effectLst/>
                <a:latin typeface="__Inter_d65c78"/>
              </a:rPr>
              <a:t>ncurses</a:t>
            </a:r>
            <a:r>
              <a:rPr lang="en-US" sz="4000" b="1" i="0">
                <a:effectLst/>
                <a:latin typeface="__Inter_d65c78"/>
              </a:rPr>
              <a:t>` environment,</a:t>
            </a:r>
          </a:p>
          <a:p>
            <a:pPr>
              <a:lnSpc>
                <a:spcPts val="6000"/>
              </a:lnSpc>
            </a:pPr>
            <a:r>
              <a:rPr lang="en-US" sz="4000" b="1" i="0">
                <a:effectLst/>
                <a:latin typeface="__Inter_d65c78"/>
              </a:rPr>
              <a:t>sets up windows, and enters the main </a:t>
            </a:r>
          </a:p>
          <a:p>
            <a:pPr>
              <a:lnSpc>
                <a:spcPts val="6000"/>
              </a:lnSpc>
            </a:pPr>
            <a:r>
              <a:rPr lang="en-US" sz="4000" b="1" i="0">
                <a:effectLst/>
                <a:latin typeface="__Inter_d65c78"/>
              </a:rPr>
              <a:t>loop for user interaction.</a:t>
            </a:r>
          </a:p>
          <a:p>
            <a:pPr marL="571500" indent="-571500">
              <a:lnSpc>
                <a:spcPts val="6000"/>
              </a:lnSpc>
              <a:buFont typeface="Arial" panose="020B0604020202020204" pitchFamily="34" charset="0"/>
              <a:buChar char="•"/>
            </a:pPr>
            <a:endParaRPr lang="en-US" sz="4000" b="1" i="0">
              <a:effectLst/>
              <a:latin typeface="__Inter_d65c78"/>
            </a:endParaRPr>
          </a:p>
          <a:p>
            <a:pPr marL="685800" indent="-685800" algn="ctr">
              <a:lnSpc>
                <a:spcPts val="6000"/>
              </a:lnSpc>
              <a:buFont typeface="Arial" panose="020B0604020202020204" pitchFamily="34" charset="0"/>
              <a:buChar char="•"/>
            </a:pPr>
            <a:endParaRPr lang="en-US" sz="5000">
              <a:latin typeface="Nunito Sans"/>
              <a:ea typeface="Nunito Sans"/>
              <a:cs typeface="Nunito Sans"/>
              <a:sym typeface="Nunito Sans"/>
            </a:endParaRPr>
          </a:p>
          <a:p>
            <a:pPr>
              <a:buNone/>
            </a:pPr>
            <a:br>
              <a:rPr lang="en-US" sz="5400" b="0" i="0">
                <a:solidFill>
                  <a:srgbClr val="D1D5DB"/>
                </a:solidFill>
                <a:effectLst/>
                <a:latin typeface="__Inter_d65c78"/>
              </a:rPr>
            </a:br>
            <a:endParaRPr lang="en-US" sz="5400" b="1">
              <a:solidFill>
                <a:srgbClr val="FFFFFF"/>
              </a:solidFill>
              <a:latin typeface="__Inter_d65c78"/>
            </a:endParaRPr>
          </a:p>
        </p:txBody>
      </p: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432705E0-F371-1200-B930-FA784880CD3A}"/>
              </a:ext>
            </a:extLst>
          </p:cNvPr>
          <p:cNvCxnSpPr>
            <a:cxnSpLocks/>
          </p:cNvCxnSpPr>
          <p:nvPr/>
        </p:nvCxnSpPr>
        <p:spPr>
          <a:xfrm>
            <a:off x="8648700" y="6853713"/>
            <a:ext cx="2146043" cy="914400"/>
          </a:xfrm>
          <a:prstGeom prst="bentConnector3">
            <a:avLst>
              <a:gd name="adj1" fmla="val -48"/>
            </a:avLst>
          </a:prstGeom>
          <a:ln w="38100">
            <a:tailEnd type="triangle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pic>
        <p:nvPicPr>
          <p:cNvPr id="12" name="Picture 11">
            <a:extLst>
              <a:ext uri="{FF2B5EF4-FFF2-40B4-BE49-F238E27FC236}">
                <a16:creationId xmlns:a16="http://schemas.microsoft.com/office/drawing/2014/main" id="{AF5A87B6-7CE7-210C-CFFD-D350C98CB418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829129" y="2937868"/>
            <a:ext cx="6422194" cy="510131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14" name="TextBox 4">
            <a:extLst>
              <a:ext uri="{FF2B5EF4-FFF2-40B4-BE49-F238E27FC236}">
                <a16:creationId xmlns:a16="http://schemas.microsoft.com/office/drawing/2014/main" id="{BD001AB9-C585-8B9E-7255-D458197AFAD8}"/>
              </a:ext>
            </a:extLst>
          </p:cNvPr>
          <p:cNvSpPr txBox="1"/>
          <p:nvPr/>
        </p:nvSpPr>
        <p:spPr>
          <a:xfrm>
            <a:off x="1066800" y="-2770284"/>
            <a:ext cx="16687800" cy="13511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000"/>
              </a:lnSpc>
            </a:pPr>
            <a:r>
              <a:rPr lang="en-US" sz="9600">
                <a:solidFill>
                  <a:srgbClr val="051D40"/>
                </a:solidFill>
                <a:latin typeface="Bernoru SemiCondensed" panose="020B0604020202020204" charset="0"/>
                <a:ea typeface="Genty"/>
                <a:cs typeface="Genty"/>
                <a:sym typeface="Genty"/>
              </a:rPr>
              <a:t>Workflow of the Program</a:t>
            </a:r>
          </a:p>
        </p:txBody>
      </p:sp>
    </p:spTree>
    <p:extLst>
      <p:ext uri="{BB962C8B-B14F-4D97-AF65-F5344CB8AC3E}">
        <p14:creationId xmlns:p14="http://schemas.microsoft.com/office/powerpoint/2010/main" val="41644960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5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25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7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D6905366-66D7-A6C0-66D5-555522B9315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1B1D4D02-5932-4008-FA4D-5577D48F1AA1}"/>
              </a:ext>
            </a:extLst>
          </p:cNvPr>
          <p:cNvSpPr/>
          <p:nvPr/>
        </p:nvSpPr>
        <p:spPr>
          <a:xfrm>
            <a:off x="14935200" y="6943361"/>
            <a:ext cx="8424068" cy="8413538"/>
          </a:xfrm>
          <a:custGeom>
            <a:avLst/>
            <a:gdLst/>
            <a:ahLst/>
            <a:cxnLst/>
            <a:rect l="l" t="t" r="r" b="b"/>
            <a:pathLst>
              <a:path w="8424068" h="8413538">
                <a:moveTo>
                  <a:pt x="0" y="0"/>
                </a:moveTo>
                <a:lnTo>
                  <a:pt x="8424068" y="0"/>
                </a:lnTo>
                <a:lnTo>
                  <a:pt x="8424068" y="8413538"/>
                </a:lnTo>
                <a:lnTo>
                  <a:pt x="0" y="84135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92F66AFB-D70D-21A2-2F29-6D7C54C2EE0D}"/>
              </a:ext>
            </a:extLst>
          </p:cNvPr>
          <p:cNvSpPr/>
          <p:nvPr/>
        </p:nvSpPr>
        <p:spPr>
          <a:xfrm>
            <a:off x="-6164763" y="-2880597"/>
            <a:ext cx="8424068" cy="8413538"/>
          </a:xfrm>
          <a:custGeom>
            <a:avLst/>
            <a:gdLst/>
            <a:ahLst/>
            <a:cxnLst/>
            <a:rect l="l" t="t" r="r" b="b"/>
            <a:pathLst>
              <a:path w="8424068" h="8413538">
                <a:moveTo>
                  <a:pt x="0" y="0"/>
                </a:moveTo>
                <a:lnTo>
                  <a:pt x="8424068" y="0"/>
                </a:lnTo>
                <a:lnTo>
                  <a:pt x="8424068" y="8413539"/>
                </a:lnTo>
                <a:lnTo>
                  <a:pt x="0" y="84135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C712D281-ED69-11C7-BBCA-ECD29CC70F43}"/>
              </a:ext>
            </a:extLst>
          </p:cNvPr>
          <p:cNvSpPr txBox="1"/>
          <p:nvPr/>
        </p:nvSpPr>
        <p:spPr>
          <a:xfrm>
            <a:off x="1056650" y="650603"/>
            <a:ext cx="16687800" cy="13511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000"/>
              </a:lnSpc>
            </a:pPr>
            <a:r>
              <a:rPr lang="en-US" sz="9600">
                <a:solidFill>
                  <a:srgbClr val="051D40"/>
                </a:solidFill>
                <a:latin typeface="Bernoru SemiCondensed" panose="020B0604020202020204" charset="0"/>
                <a:ea typeface="Genty"/>
                <a:cs typeface="Genty"/>
                <a:sym typeface="Genty"/>
              </a:rPr>
              <a:t>Workflow of the Program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DE40565B-2A55-E990-0C66-F145EFAD5EA8}"/>
              </a:ext>
            </a:extLst>
          </p:cNvPr>
          <p:cNvGrpSpPr/>
          <p:nvPr/>
        </p:nvGrpSpPr>
        <p:grpSpPr>
          <a:xfrm>
            <a:off x="1993545" y="2080990"/>
            <a:ext cx="5169255" cy="1980954"/>
            <a:chOff x="1961414" y="2080990"/>
            <a:chExt cx="6687286" cy="1980954"/>
          </a:xfrm>
        </p:grpSpPr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05EA1FF5-73B6-7499-7E93-0E526B17B386}"/>
                </a:ext>
              </a:extLst>
            </p:cNvPr>
            <p:cNvGrpSpPr/>
            <p:nvPr/>
          </p:nvGrpSpPr>
          <p:grpSpPr>
            <a:xfrm>
              <a:off x="1961414" y="2080990"/>
              <a:ext cx="6687286" cy="1492974"/>
              <a:chOff x="-37279" y="-38100"/>
              <a:chExt cx="1761261" cy="393211"/>
            </a:xfrm>
          </p:grpSpPr>
          <p:sp>
            <p:nvSpPr>
              <p:cNvPr id="6" name="Freeform 6">
                <a:extLst>
                  <a:ext uri="{FF2B5EF4-FFF2-40B4-BE49-F238E27FC236}">
                    <a16:creationId xmlns:a16="http://schemas.microsoft.com/office/drawing/2014/main" id="{5FA0A253-0B88-48E0-DAD1-B697F021103F}"/>
                  </a:ext>
                </a:extLst>
              </p:cNvPr>
              <p:cNvSpPr/>
              <p:nvPr/>
            </p:nvSpPr>
            <p:spPr>
              <a:xfrm>
                <a:off x="-37279" y="-5451"/>
                <a:ext cx="1723982" cy="355111"/>
              </a:xfrm>
              <a:custGeom>
                <a:avLst/>
                <a:gdLst/>
                <a:ahLst/>
                <a:cxnLst/>
                <a:rect l="l" t="t" r="r" b="b"/>
                <a:pathLst>
                  <a:path w="1723982" h="355111">
                    <a:moveTo>
                      <a:pt x="60320" y="0"/>
                    </a:moveTo>
                    <a:lnTo>
                      <a:pt x="1663662" y="0"/>
                    </a:lnTo>
                    <a:cubicBezTo>
                      <a:pt x="1696975" y="0"/>
                      <a:pt x="1723982" y="27006"/>
                      <a:pt x="1723982" y="60320"/>
                    </a:cubicBezTo>
                    <a:lnTo>
                      <a:pt x="1723982" y="294791"/>
                    </a:lnTo>
                    <a:cubicBezTo>
                      <a:pt x="1723982" y="310789"/>
                      <a:pt x="1717627" y="326132"/>
                      <a:pt x="1706314" y="337444"/>
                    </a:cubicBezTo>
                    <a:cubicBezTo>
                      <a:pt x="1695002" y="348756"/>
                      <a:pt x="1679660" y="355111"/>
                      <a:pt x="1663662" y="355111"/>
                    </a:cubicBezTo>
                    <a:lnTo>
                      <a:pt x="60320" y="355111"/>
                    </a:lnTo>
                    <a:cubicBezTo>
                      <a:pt x="27006" y="355111"/>
                      <a:pt x="0" y="328105"/>
                      <a:pt x="0" y="294791"/>
                    </a:cubicBezTo>
                    <a:lnTo>
                      <a:pt x="0" y="60320"/>
                    </a:lnTo>
                    <a:cubicBezTo>
                      <a:pt x="0" y="27006"/>
                      <a:pt x="27006" y="0"/>
                      <a:pt x="60320" y="0"/>
                    </a:cubicBezTo>
                    <a:close/>
                  </a:path>
                </a:pathLst>
              </a:custGeom>
              <a:solidFill>
                <a:srgbClr val="B1D4E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" name="TextBox 7">
                <a:extLst>
                  <a:ext uri="{FF2B5EF4-FFF2-40B4-BE49-F238E27FC236}">
                    <a16:creationId xmlns:a16="http://schemas.microsoft.com/office/drawing/2014/main" id="{38DF194C-7FAA-72B8-1244-9AFB48642D71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723982" cy="39321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FF19A5B2-004E-B93E-F395-C03B5705EDC3}"/>
                </a:ext>
              </a:extLst>
            </p:cNvPr>
            <p:cNvSpPr txBox="1"/>
            <p:nvPr/>
          </p:nvSpPr>
          <p:spPr>
            <a:xfrm>
              <a:off x="2514600" y="2523061"/>
              <a:ext cx="5258257" cy="15388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000"/>
                </a:lnSpc>
              </a:pPr>
              <a:r>
                <a:rPr lang="en-US" sz="5000">
                  <a:solidFill>
                    <a:srgbClr val="051D40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Initialization:</a:t>
              </a:r>
            </a:p>
            <a:p>
              <a:pPr algn="ctr">
                <a:lnSpc>
                  <a:spcPts val="6000"/>
                </a:lnSpc>
              </a:pPr>
              <a:r>
                <a:rPr lang="en-US" sz="5000">
                  <a:solidFill>
                    <a:srgbClr val="051D40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 </a:t>
              </a: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B3F9AF64-B85E-AF39-C44A-CDC453D39859}"/>
              </a:ext>
            </a:extLst>
          </p:cNvPr>
          <p:cNvSpPr txBox="1"/>
          <p:nvPr/>
        </p:nvSpPr>
        <p:spPr>
          <a:xfrm>
            <a:off x="1524000" y="3795437"/>
            <a:ext cx="8424068" cy="6278642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000"/>
              </a:lnSpc>
            </a:pPr>
            <a:r>
              <a:rPr lang="en-US" sz="4400" b="1" i="0">
                <a:effectLst/>
                <a:latin typeface="__Inter_d65c78"/>
              </a:rPr>
              <a:t>The program initializes the </a:t>
            </a:r>
            <a:r>
              <a:rPr lang="en-US" sz="4400" b="1" i="0" err="1">
                <a:solidFill>
                  <a:schemeClr val="accent1"/>
                </a:solidFill>
                <a:effectLst/>
                <a:latin typeface="__Inter_d65c78"/>
              </a:rPr>
              <a:t>ncurses</a:t>
            </a:r>
            <a:r>
              <a:rPr lang="en-US" sz="4400" b="1" i="0">
                <a:effectLst/>
                <a:latin typeface="__Inter_d65c78"/>
              </a:rPr>
              <a:t> </a:t>
            </a:r>
          </a:p>
          <a:p>
            <a:pPr>
              <a:lnSpc>
                <a:spcPts val="6000"/>
              </a:lnSpc>
            </a:pPr>
            <a:r>
              <a:rPr lang="en-US" sz="4400" b="1" i="0">
                <a:effectLst/>
                <a:latin typeface="__Inter_d65c78"/>
              </a:rPr>
              <a:t>environment and sets up color pairs for UI elements.</a:t>
            </a:r>
          </a:p>
          <a:p>
            <a:pPr>
              <a:lnSpc>
                <a:spcPts val="6000"/>
              </a:lnSpc>
            </a:pPr>
            <a:r>
              <a:rPr lang="en-US" sz="4400" b="1" i="0">
                <a:effectLst/>
                <a:latin typeface="__Inter_d65c78"/>
              </a:rPr>
              <a:t>It creates windows for the menu, stack display, and message output.</a:t>
            </a:r>
            <a:endParaRPr lang="en-US" sz="3200" b="1" i="0">
              <a:effectLst/>
              <a:latin typeface="__Inter_d65c78"/>
            </a:endParaRPr>
          </a:p>
          <a:p>
            <a:pPr marL="685800" indent="-685800" algn="ctr">
              <a:lnSpc>
                <a:spcPts val="6000"/>
              </a:lnSpc>
              <a:buFont typeface="Arial" panose="020B0604020202020204" pitchFamily="34" charset="0"/>
              <a:buChar char="•"/>
            </a:pPr>
            <a:endParaRPr lang="en-US" sz="5000">
              <a:latin typeface="Nunito Sans"/>
              <a:ea typeface="Nunito Sans"/>
              <a:cs typeface="Nunito Sans"/>
              <a:sym typeface="Nunito Sans"/>
            </a:endParaRPr>
          </a:p>
          <a:p>
            <a:pPr>
              <a:buNone/>
            </a:pPr>
            <a:br>
              <a:rPr lang="en-US" sz="5400" b="0" i="0">
                <a:solidFill>
                  <a:srgbClr val="D1D5DB"/>
                </a:solidFill>
                <a:effectLst/>
                <a:latin typeface="__Inter_d65c78"/>
              </a:rPr>
            </a:br>
            <a:endParaRPr lang="en-US" sz="5400" b="1">
              <a:solidFill>
                <a:srgbClr val="FFFFFF"/>
              </a:solidFill>
              <a:latin typeface="__Inter_d65c78"/>
            </a:endParaRPr>
          </a:p>
        </p:txBody>
      </p:sp>
      <p:pic>
        <p:nvPicPr>
          <p:cNvPr id="24" name="Picture 23">
            <a:extLst>
              <a:ext uri="{FF2B5EF4-FFF2-40B4-BE49-F238E27FC236}">
                <a16:creationId xmlns:a16="http://schemas.microsoft.com/office/drawing/2014/main" id="{28534CC4-4B60-FF32-951A-DC25A8E7C6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09919" y="2811148"/>
            <a:ext cx="7641788" cy="4001058"/>
          </a:xfrm>
          <a:prstGeom prst="rect">
            <a:avLst/>
          </a:prstGeom>
        </p:spPr>
      </p:pic>
      <p:sp>
        <p:nvSpPr>
          <p:cNvPr id="9" name="TextBox 4">
            <a:extLst>
              <a:ext uri="{FF2B5EF4-FFF2-40B4-BE49-F238E27FC236}">
                <a16:creationId xmlns:a16="http://schemas.microsoft.com/office/drawing/2014/main" id="{9D894480-BA9E-5ACC-7EB0-A27C49E87E5A}"/>
              </a:ext>
            </a:extLst>
          </p:cNvPr>
          <p:cNvSpPr txBox="1"/>
          <p:nvPr/>
        </p:nvSpPr>
        <p:spPr>
          <a:xfrm>
            <a:off x="800100" y="12264426"/>
            <a:ext cx="16687800" cy="13511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000"/>
              </a:lnSpc>
            </a:pPr>
            <a:r>
              <a:rPr lang="en-US" sz="9600">
                <a:solidFill>
                  <a:srgbClr val="051D40"/>
                </a:solidFill>
                <a:latin typeface="Bernoru SemiCondensed" panose="020B0604020202020204" charset="0"/>
                <a:ea typeface="Genty"/>
                <a:cs typeface="Genty"/>
                <a:sym typeface="Genty"/>
              </a:rPr>
              <a:t>Libraries and features</a:t>
            </a:r>
          </a:p>
        </p:txBody>
      </p:sp>
    </p:spTree>
    <p:extLst>
      <p:ext uri="{BB962C8B-B14F-4D97-AF65-F5344CB8AC3E}">
        <p14:creationId xmlns:p14="http://schemas.microsoft.com/office/powerpoint/2010/main" val="17605075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25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7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BB05503-14BA-14C7-94ED-5B4FCC4DDC0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>
            <a:extLst>
              <a:ext uri="{FF2B5EF4-FFF2-40B4-BE49-F238E27FC236}">
                <a16:creationId xmlns:a16="http://schemas.microsoft.com/office/drawing/2014/main" id="{7E7AF855-2493-D9E2-3799-C2A0F5E47452}"/>
              </a:ext>
            </a:extLst>
          </p:cNvPr>
          <p:cNvSpPr/>
          <p:nvPr/>
        </p:nvSpPr>
        <p:spPr>
          <a:xfrm>
            <a:off x="16294455" y="-5496178"/>
            <a:ext cx="8424068" cy="8413538"/>
          </a:xfrm>
          <a:custGeom>
            <a:avLst/>
            <a:gdLst/>
            <a:ahLst/>
            <a:cxnLst/>
            <a:rect l="l" t="t" r="r" b="b"/>
            <a:pathLst>
              <a:path w="8424068" h="8413538">
                <a:moveTo>
                  <a:pt x="0" y="0"/>
                </a:moveTo>
                <a:lnTo>
                  <a:pt x="8424068" y="0"/>
                </a:lnTo>
                <a:lnTo>
                  <a:pt x="8424068" y="8413538"/>
                </a:lnTo>
                <a:lnTo>
                  <a:pt x="0" y="84135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>
            <a:extLst>
              <a:ext uri="{FF2B5EF4-FFF2-40B4-BE49-F238E27FC236}">
                <a16:creationId xmlns:a16="http://schemas.microsoft.com/office/drawing/2014/main" id="{5DDFF130-FC9E-E6B3-8F53-F5B933C70E63}"/>
              </a:ext>
            </a:extLst>
          </p:cNvPr>
          <p:cNvSpPr/>
          <p:nvPr/>
        </p:nvSpPr>
        <p:spPr>
          <a:xfrm>
            <a:off x="-1790878" y="8430446"/>
            <a:ext cx="8424068" cy="8413538"/>
          </a:xfrm>
          <a:custGeom>
            <a:avLst/>
            <a:gdLst/>
            <a:ahLst/>
            <a:cxnLst/>
            <a:rect l="l" t="t" r="r" b="b"/>
            <a:pathLst>
              <a:path w="8424068" h="8413538">
                <a:moveTo>
                  <a:pt x="0" y="0"/>
                </a:moveTo>
                <a:lnTo>
                  <a:pt x="8424068" y="0"/>
                </a:lnTo>
                <a:lnTo>
                  <a:pt x="8424068" y="8413539"/>
                </a:lnTo>
                <a:lnTo>
                  <a:pt x="0" y="8413539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>
            <a:extLst>
              <a:ext uri="{FF2B5EF4-FFF2-40B4-BE49-F238E27FC236}">
                <a16:creationId xmlns:a16="http://schemas.microsoft.com/office/drawing/2014/main" id="{89BC703F-DA61-774D-3504-534EB0876818}"/>
              </a:ext>
            </a:extLst>
          </p:cNvPr>
          <p:cNvSpPr txBox="1"/>
          <p:nvPr/>
        </p:nvSpPr>
        <p:spPr>
          <a:xfrm>
            <a:off x="1056650" y="650603"/>
            <a:ext cx="16687800" cy="13511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000"/>
              </a:lnSpc>
            </a:pPr>
            <a:r>
              <a:rPr lang="en-US" sz="9600">
                <a:solidFill>
                  <a:srgbClr val="051D40"/>
                </a:solidFill>
                <a:latin typeface="Bernoru SemiCondensed" panose="020B0604020202020204" charset="0"/>
                <a:ea typeface="Genty"/>
                <a:cs typeface="Genty"/>
                <a:sym typeface="Genty"/>
              </a:rPr>
              <a:t>Workflow of the Program</a:t>
            </a:r>
          </a:p>
        </p:txBody>
      </p:sp>
      <p:grpSp>
        <p:nvGrpSpPr>
          <p:cNvPr id="21" name="Group 20">
            <a:extLst>
              <a:ext uri="{FF2B5EF4-FFF2-40B4-BE49-F238E27FC236}">
                <a16:creationId xmlns:a16="http://schemas.microsoft.com/office/drawing/2014/main" id="{29A80919-36F4-009E-1127-714E8CF829AE}"/>
              </a:ext>
            </a:extLst>
          </p:cNvPr>
          <p:cNvGrpSpPr/>
          <p:nvPr/>
        </p:nvGrpSpPr>
        <p:grpSpPr>
          <a:xfrm>
            <a:off x="1993545" y="2080990"/>
            <a:ext cx="5169255" cy="1980954"/>
            <a:chOff x="1961414" y="2080990"/>
            <a:chExt cx="6687286" cy="1980954"/>
          </a:xfrm>
        </p:grpSpPr>
        <p:grpSp>
          <p:nvGrpSpPr>
            <p:cNvPr id="5" name="Group 5">
              <a:extLst>
                <a:ext uri="{FF2B5EF4-FFF2-40B4-BE49-F238E27FC236}">
                  <a16:creationId xmlns:a16="http://schemas.microsoft.com/office/drawing/2014/main" id="{364EF81A-B6D7-BAE0-A5AA-EDF22F006E81}"/>
                </a:ext>
              </a:extLst>
            </p:cNvPr>
            <p:cNvGrpSpPr/>
            <p:nvPr/>
          </p:nvGrpSpPr>
          <p:grpSpPr>
            <a:xfrm>
              <a:off x="1961414" y="2080990"/>
              <a:ext cx="6687286" cy="1492974"/>
              <a:chOff x="-37279" y="-38100"/>
              <a:chExt cx="1761261" cy="393211"/>
            </a:xfrm>
          </p:grpSpPr>
          <p:sp>
            <p:nvSpPr>
              <p:cNvPr id="6" name="Freeform 6">
                <a:extLst>
                  <a:ext uri="{FF2B5EF4-FFF2-40B4-BE49-F238E27FC236}">
                    <a16:creationId xmlns:a16="http://schemas.microsoft.com/office/drawing/2014/main" id="{E7983B86-51C9-D298-8F3D-DC84797B583D}"/>
                  </a:ext>
                </a:extLst>
              </p:cNvPr>
              <p:cNvSpPr/>
              <p:nvPr/>
            </p:nvSpPr>
            <p:spPr>
              <a:xfrm>
                <a:off x="-37279" y="-5451"/>
                <a:ext cx="1723982" cy="355111"/>
              </a:xfrm>
              <a:custGeom>
                <a:avLst/>
                <a:gdLst/>
                <a:ahLst/>
                <a:cxnLst/>
                <a:rect l="l" t="t" r="r" b="b"/>
                <a:pathLst>
                  <a:path w="1723982" h="355111">
                    <a:moveTo>
                      <a:pt x="60320" y="0"/>
                    </a:moveTo>
                    <a:lnTo>
                      <a:pt x="1663662" y="0"/>
                    </a:lnTo>
                    <a:cubicBezTo>
                      <a:pt x="1696975" y="0"/>
                      <a:pt x="1723982" y="27006"/>
                      <a:pt x="1723982" y="60320"/>
                    </a:cubicBezTo>
                    <a:lnTo>
                      <a:pt x="1723982" y="294791"/>
                    </a:lnTo>
                    <a:cubicBezTo>
                      <a:pt x="1723982" y="310789"/>
                      <a:pt x="1717627" y="326132"/>
                      <a:pt x="1706314" y="337444"/>
                    </a:cubicBezTo>
                    <a:cubicBezTo>
                      <a:pt x="1695002" y="348756"/>
                      <a:pt x="1679660" y="355111"/>
                      <a:pt x="1663662" y="355111"/>
                    </a:cubicBezTo>
                    <a:lnTo>
                      <a:pt x="60320" y="355111"/>
                    </a:lnTo>
                    <a:cubicBezTo>
                      <a:pt x="27006" y="355111"/>
                      <a:pt x="0" y="328105"/>
                      <a:pt x="0" y="294791"/>
                    </a:cubicBezTo>
                    <a:lnTo>
                      <a:pt x="0" y="60320"/>
                    </a:lnTo>
                    <a:cubicBezTo>
                      <a:pt x="0" y="27006"/>
                      <a:pt x="27006" y="0"/>
                      <a:pt x="60320" y="0"/>
                    </a:cubicBezTo>
                    <a:close/>
                  </a:path>
                </a:pathLst>
              </a:custGeom>
              <a:solidFill>
                <a:srgbClr val="B1D4E0"/>
              </a:solidFill>
            </p:spPr>
            <p:txBody>
              <a:bodyPr/>
              <a:lstStyle/>
              <a:p>
                <a:endParaRPr lang="en-US"/>
              </a:p>
            </p:txBody>
          </p:sp>
          <p:sp>
            <p:nvSpPr>
              <p:cNvPr id="7" name="TextBox 7">
                <a:extLst>
                  <a:ext uri="{FF2B5EF4-FFF2-40B4-BE49-F238E27FC236}">
                    <a16:creationId xmlns:a16="http://schemas.microsoft.com/office/drawing/2014/main" id="{9BFD10CD-1525-CFD8-F60B-F071EB1A0468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723982" cy="393211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8" name="TextBox 8">
              <a:extLst>
                <a:ext uri="{FF2B5EF4-FFF2-40B4-BE49-F238E27FC236}">
                  <a16:creationId xmlns:a16="http://schemas.microsoft.com/office/drawing/2014/main" id="{B9B67ED9-53BB-06EC-A37E-0F1447AFDB59}"/>
                </a:ext>
              </a:extLst>
            </p:cNvPr>
            <p:cNvSpPr txBox="1"/>
            <p:nvPr/>
          </p:nvSpPr>
          <p:spPr>
            <a:xfrm>
              <a:off x="2514600" y="2523061"/>
              <a:ext cx="5258257" cy="1538883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6000"/>
                </a:lnSpc>
              </a:pPr>
              <a:r>
                <a:rPr lang="en-US" sz="5000">
                  <a:solidFill>
                    <a:srgbClr val="051D40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Main loop:</a:t>
              </a:r>
            </a:p>
            <a:p>
              <a:pPr algn="ctr">
                <a:lnSpc>
                  <a:spcPts val="6000"/>
                </a:lnSpc>
              </a:pPr>
              <a:r>
                <a:rPr lang="en-US" sz="5000">
                  <a:solidFill>
                    <a:srgbClr val="051D40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 </a:t>
              </a:r>
            </a:p>
          </p:txBody>
        </p:sp>
      </p:grpSp>
      <p:sp>
        <p:nvSpPr>
          <p:cNvPr id="22" name="TextBox 21">
            <a:extLst>
              <a:ext uri="{FF2B5EF4-FFF2-40B4-BE49-F238E27FC236}">
                <a16:creationId xmlns:a16="http://schemas.microsoft.com/office/drawing/2014/main" id="{42CADB06-3405-2A94-A9BD-F88665B02AE9}"/>
              </a:ext>
            </a:extLst>
          </p:cNvPr>
          <p:cNvSpPr txBox="1"/>
          <p:nvPr/>
        </p:nvSpPr>
        <p:spPr>
          <a:xfrm>
            <a:off x="1524000" y="3795437"/>
            <a:ext cx="8424068" cy="704808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>
              <a:lnSpc>
                <a:spcPts val="6000"/>
              </a:lnSpc>
            </a:pPr>
            <a:r>
              <a:rPr lang="en-US" sz="4400" b="1" i="0">
                <a:effectLst/>
                <a:latin typeface="__Inter_d65c78"/>
              </a:rPr>
              <a:t>The program enters a loop where it continuously displays the menu and waits for user input.</a:t>
            </a:r>
          </a:p>
          <a:p>
            <a:pPr>
              <a:lnSpc>
                <a:spcPts val="6000"/>
              </a:lnSpc>
            </a:pPr>
            <a:r>
              <a:rPr lang="en-US" sz="4400" b="1" i="0">
                <a:effectLst/>
                <a:latin typeface="__Inter_d65c78"/>
              </a:rPr>
              <a:t>The user selects an option from the menu, which triggers the corresponding operation.</a:t>
            </a:r>
          </a:p>
          <a:p>
            <a:pPr marL="685800" indent="-685800" algn="ctr">
              <a:lnSpc>
                <a:spcPts val="6000"/>
              </a:lnSpc>
              <a:buFont typeface="Arial" panose="020B0604020202020204" pitchFamily="34" charset="0"/>
              <a:buChar char="•"/>
            </a:pPr>
            <a:endParaRPr lang="en-US" sz="5000">
              <a:latin typeface="Nunito Sans"/>
              <a:ea typeface="Nunito Sans"/>
              <a:cs typeface="Nunito Sans"/>
              <a:sym typeface="Nunito Sans"/>
            </a:endParaRPr>
          </a:p>
          <a:p>
            <a:pPr>
              <a:buNone/>
            </a:pPr>
            <a:br>
              <a:rPr lang="en-US" sz="5400" b="0" i="0">
                <a:solidFill>
                  <a:srgbClr val="D1D5DB"/>
                </a:solidFill>
                <a:effectLst/>
                <a:latin typeface="__Inter_d65c78"/>
              </a:rPr>
            </a:br>
            <a:endParaRPr lang="en-US" sz="5400" b="1">
              <a:solidFill>
                <a:srgbClr val="FFFFFF"/>
              </a:solidFill>
              <a:latin typeface="__Inter_d65c78"/>
            </a:endParaRP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ACF12264-11AA-F714-F1AA-0E160729A540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81752" y="2765900"/>
            <a:ext cx="8173591" cy="4553578"/>
          </a:xfrm>
          <a:prstGeom prst="rect">
            <a:avLst/>
          </a:prstGeom>
          <a:ln w="38100" cap="sq">
            <a:solidFill>
              <a:srgbClr val="000000"/>
            </a:solidFill>
            <a:prstDash val="solid"/>
            <a:miter lim="800000"/>
          </a:ln>
          <a:effectLst>
            <a:outerShdw blurRad="50800" dist="38100" dir="2700000" algn="tl" rotWithShape="0">
              <a:srgbClr val="000000">
                <a:alpha val="43000"/>
              </a:srgbClr>
            </a:outerShdw>
          </a:effectLst>
        </p:spPr>
      </p:pic>
      <p:sp>
        <p:nvSpPr>
          <p:cNvPr id="9" name="TextBox 8">
            <a:extLst>
              <a:ext uri="{FF2B5EF4-FFF2-40B4-BE49-F238E27FC236}">
                <a16:creationId xmlns:a16="http://schemas.microsoft.com/office/drawing/2014/main" id="{82FBE7EC-FA68-EFB9-768B-AC5C1D015D8B}"/>
              </a:ext>
            </a:extLst>
          </p:cNvPr>
          <p:cNvSpPr txBox="1"/>
          <p:nvPr/>
        </p:nvSpPr>
        <p:spPr>
          <a:xfrm>
            <a:off x="3649600" y="-2058850"/>
            <a:ext cx="10384637" cy="1538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000"/>
              </a:lnSpc>
            </a:pPr>
            <a:r>
              <a:rPr lang="en-US" sz="12000">
                <a:solidFill>
                  <a:srgbClr val="051D40"/>
                </a:solidFill>
                <a:latin typeface="Bernoru SemiCondensed" panose="020B0604020202020204" charset="0"/>
                <a:ea typeface="Genty"/>
                <a:cs typeface="Genty"/>
                <a:sym typeface="Genty"/>
              </a:rPr>
              <a:t>Output:</a:t>
            </a:r>
          </a:p>
        </p:txBody>
      </p:sp>
    </p:spTree>
    <p:extLst>
      <p:ext uri="{BB962C8B-B14F-4D97-AF65-F5344CB8AC3E}">
        <p14:creationId xmlns:p14="http://schemas.microsoft.com/office/powerpoint/2010/main" val="371588841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5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1" dur="25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2" fill="hold">
                            <p:stCondLst>
                              <p:cond delay="500"/>
                            </p:stCondLst>
                            <p:childTnLst>
                              <p:par>
                                <p:cTn id="13" presetID="22" presetClass="entr" presetSubtype="4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5" dur="25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2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7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9DC3C39F-7B28-E014-6824-6679B8D3FC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>
            <a:extLst>
              <a:ext uri="{FF2B5EF4-FFF2-40B4-BE49-F238E27FC236}">
                <a16:creationId xmlns:a16="http://schemas.microsoft.com/office/drawing/2014/main" id="{16566E34-51DA-82C9-EEE4-8CF1216A9DE2}"/>
              </a:ext>
            </a:extLst>
          </p:cNvPr>
          <p:cNvSpPr txBox="1"/>
          <p:nvPr/>
        </p:nvSpPr>
        <p:spPr>
          <a:xfrm>
            <a:off x="3801485" y="503101"/>
            <a:ext cx="10384637" cy="1538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000"/>
              </a:lnSpc>
            </a:pPr>
            <a:r>
              <a:rPr lang="en-US" sz="12000">
                <a:solidFill>
                  <a:srgbClr val="051D40"/>
                </a:solidFill>
                <a:latin typeface="Bernoru SemiCondensed" panose="020B0604020202020204" charset="0"/>
                <a:ea typeface="Genty"/>
                <a:cs typeface="Genty"/>
                <a:sym typeface="Genty"/>
              </a:rPr>
              <a:t>Output:</a:t>
            </a:r>
          </a:p>
        </p:txBody>
      </p:sp>
      <p:grpSp>
        <p:nvGrpSpPr>
          <p:cNvPr id="11" name="Group 10">
            <a:extLst>
              <a:ext uri="{FF2B5EF4-FFF2-40B4-BE49-F238E27FC236}">
                <a16:creationId xmlns:a16="http://schemas.microsoft.com/office/drawing/2014/main" id="{EDE812D7-6FC2-C6A2-4C26-6B73A66CE7B3}"/>
              </a:ext>
            </a:extLst>
          </p:cNvPr>
          <p:cNvGrpSpPr/>
          <p:nvPr/>
        </p:nvGrpSpPr>
        <p:grpSpPr>
          <a:xfrm>
            <a:off x="393700" y="2080083"/>
            <a:ext cx="8285500" cy="7741915"/>
            <a:chOff x="393700" y="2080083"/>
            <a:chExt cx="8285500" cy="7741915"/>
          </a:xfrm>
        </p:grpSpPr>
        <p:grpSp>
          <p:nvGrpSpPr>
            <p:cNvPr id="13" name="Group 5">
              <a:extLst>
                <a:ext uri="{FF2B5EF4-FFF2-40B4-BE49-F238E27FC236}">
                  <a16:creationId xmlns:a16="http://schemas.microsoft.com/office/drawing/2014/main" id="{6E9B6ADF-A36D-7B1C-5CFA-89C756F97D97}"/>
                </a:ext>
              </a:extLst>
            </p:cNvPr>
            <p:cNvGrpSpPr/>
            <p:nvPr/>
          </p:nvGrpSpPr>
          <p:grpSpPr>
            <a:xfrm>
              <a:off x="393700" y="2080083"/>
              <a:ext cx="8285500" cy="7741915"/>
              <a:chOff x="0" y="0"/>
              <a:chExt cx="1537717" cy="1177043"/>
            </a:xfrm>
          </p:grpSpPr>
          <p:sp>
            <p:nvSpPr>
              <p:cNvPr id="14" name="Freeform 6">
                <a:extLst>
                  <a:ext uri="{FF2B5EF4-FFF2-40B4-BE49-F238E27FC236}">
                    <a16:creationId xmlns:a16="http://schemas.microsoft.com/office/drawing/2014/main" id="{5850848C-3C35-7B4B-9F04-E4824E9287FD}"/>
                  </a:ext>
                </a:extLst>
              </p:cNvPr>
              <p:cNvSpPr/>
              <p:nvPr/>
            </p:nvSpPr>
            <p:spPr>
              <a:xfrm>
                <a:off x="0" y="0"/>
                <a:ext cx="1537717" cy="1177043"/>
              </a:xfrm>
              <a:custGeom>
                <a:avLst/>
                <a:gdLst/>
                <a:ahLst/>
                <a:cxnLst/>
                <a:rect l="l" t="t" r="r" b="b"/>
                <a:pathLst>
                  <a:path w="1537717" h="1177043">
                    <a:moveTo>
                      <a:pt x="74720" y="0"/>
                    </a:moveTo>
                    <a:lnTo>
                      <a:pt x="1462997" y="0"/>
                    </a:lnTo>
                    <a:cubicBezTo>
                      <a:pt x="1504264" y="0"/>
                      <a:pt x="1537717" y="33454"/>
                      <a:pt x="1537717" y="74720"/>
                    </a:cubicBezTo>
                    <a:lnTo>
                      <a:pt x="1537717" y="1102322"/>
                    </a:lnTo>
                    <a:cubicBezTo>
                      <a:pt x="1537717" y="1122139"/>
                      <a:pt x="1529845" y="1141145"/>
                      <a:pt x="1515832" y="1155158"/>
                    </a:cubicBezTo>
                    <a:cubicBezTo>
                      <a:pt x="1501819" y="1169170"/>
                      <a:pt x="1482814" y="1177043"/>
                      <a:pt x="1462997" y="1177043"/>
                    </a:cubicBezTo>
                    <a:lnTo>
                      <a:pt x="74720" y="1177043"/>
                    </a:lnTo>
                    <a:cubicBezTo>
                      <a:pt x="54903" y="1177043"/>
                      <a:pt x="35898" y="1169170"/>
                      <a:pt x="21885" y="1155158"/>
                    </a:cubicBezTo>
                    <a:cubicBezTo>
                      <a:pt x="7872" y="1141145"/>
                      <a:pt x="0" y="1122139"/>
                      <a:pt x="0" y="1102322"/>
                    </a:cubicBezTo>
                    <a:lnTo>
                      <a:pt x="0" y="74720"/>
                    </a:lnTo>
                    <a:cubicBezTo>
                      <a:pt x="0" y="54903"/>
                      <a:pt x="7872" y="35898"/>
                      <a:pt x="21885" y="21885"/>
                    </a:cubicBezTo>
                    <a:cubicBezTo>
                      <a:pt x="35898" y="7872"/>
                      <a:pt x="54903" y="0"/>
                      <a:pt x="74720" y="0"/>
                    </a:cubicBezTo>
                    <a:close/>
                  </a:path>
                </a:pathLst>
              </a:custGeom>
              <a:solidFill>
                <a:srgbClr val="B1D4E0"/>
              </a:solidFill>
            </p:spPr>
          </p:sp>
          <p:sp>
            <p:nvSpPr>
              <p:cNvPr id="15" name="TextBox 7">
                <a:extLst>
                  <a:ext uri="{FF2B5EF4-FFF2-40B4-BE49-F238E27FC236}">
                    <a16:creationId xmlns:a16="http://schemas.microsoft.com/office/drawing/2014/main" id="{DB57681D-5989-287B-85B8-50011944B96D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537717" cy="121514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7" name="TextBox 9">
              <a:extLst>
                <a:ext uri="{FF2B5EF4-FFF2-40B4-BE49-F238E27FC236}">
                  <a16:creationId xmlns:a16="http://schemas.microsoft.com/office/drawing/2014/main" id="{50646DDC-27B1-193F-69CC-50A6E7FD4FEA}"/>
                </a:ext>
              </a:extLst>
            </p:cNvPr>
            <p:cNvSpPr txBox="1"/>
            <p:nvPr/>
          </p:nvSpPr>
          <p:spPr>
            <a:xfrm>
              <a:off x="2004333" y="2247709"/>
              <a:ext cx="4699349" cy="5770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525"/>
                </a:lnSpc>
              </a:pPr>
              <a:r>
                <a:rPr lang="en-US" sz="4525">
                  <a:solidFill>
                    <a:srgbClr val="051D40"/>
                  </a:solidFill>
                  <a:latin typeface="Bernoru SemiCondensed" panose="020B0604020202020204" charset="0"/>
                  <a:ea typeface="Genty"/>
                  <a:cs typeface="Genty"/>
                  <a:sym typeface="Genty"/>
                </a:rPr>
                <a:t>PUSH</a:t>
              </a: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031EEC25-5690-F961-B722-1C97B47B734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6839" y="4457700"/>
              <a:ext cx="7859222" cy="4867954"/>
            </a:xfrm>
            <a:prstGeom prst="rect">
              <a:avLst/>
            </a:prstGeom>
          </p:spPr>
        </p:pic>
        <p:sp>
          <p:nvSpPr>
            <p:cNvPr id="7" name="TextBox 8">
              <a:extLst>
                <a:ext uri="{FF2B5EF4-FFF2-40B4-BE49-F238E27FC236}">
                  <a16:creationId xmlns:a16="http://schemas.microsoft.com/office/drawing/2014/main" id="{5391FD61-50FB-2725-2CA7-73862F926C6A}"/>
                </a:ext>
              </a:extLst>
            </p:cNvPr>
            <p:cNvSpPr txBox="1"/>
            <p:nvPr/>
          </p:nvSpPr>
          <p:spPr>
            <a:xfrm>
              <a:off x="2004333" y="3161820"/>
              <a:ext cx="4861131" cy="9233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051D40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Pushed 4 values A, B, 23, 67 </a:t>
              </a:r>
            </a:p>
          </p:txBody>
        </p:sp>
      </p:grpSp>
      <p:grpSp>
        <p:nvGrpSpPr>
          <p:cNvPr id="12" name="Group 11">
            <a:extLst>
              <a:ext uri="{FF2B5EF4-FFF2-40B4-BE49-F238E27FC236}">
                <a16:creationId xmlns:a16="http://schemas.microsoft.com/office/drawing/2014/main" id="{1A0CF988-3C49-ACE4-2345-64BF5D34F284}"/>
              </a:ext>
            </a:extLst>
          </p:cNvPr>
          <p:cNvGrpSpPr/>
          <p:nvPr/>
        </p:nvGrpSpPr>
        <p:grpSpPr>
          <a:xfrm>
            <a:off x="9169400" y="2011324"/>
            <a:ext cx="8763000" cy="7741914"/>
            <a:chOff x="9169400" y="2011324"/>
            <a:chExt cx="8763000" cy="7741914"/>
          </a:xfrm>
        </p:grpSpPr>
        <p:grpSp>
          <p:nvGrpSpPr>
            <p:cNvPr id="18" name="Group 5">
              <a:extLst>
                <a:ext uri="{FF2B5EF4-FFF2-40B4-BE49-F238E27FC236}">
                  <a16:creationId xmlns:a16="http://schemas.microsoft.com/office/drawing/2014/main" id="{400EDFE7-DE7C-E1B9-9421-108474AE9FBF}"/>
                </a:ext>
              </a:extLst>
            </p:cNvPr>
            <p:cNvGrpSpPr/>
            <p:nvPr/>
          </p:nvGrpSpPr>
          <p:grpSpPr>
            <a:xfrm>
              <a:off x="9169400" y="2011324"/>
              <a:ext cx="8763000" cy="7741914"/>
              <a:chOff x="0" y="0"/>
              <a:chExt cx="1537717" cy="1177043"/>
            </a:xfrm>
          </p:grpSpPr>
          <p:sp>
            <p:nvSpPr>
              <p:cNvPr id="19" name="Freeform 6">
                <a:extLst>
                  <a:ext uri="{FF2B5EF4-FFF2-40B4-BE49-F238E27FC236}">
                    <a16:creationId xmlns:a16="http://schemas.microsoft.com/office/drawing/2014/main" id="{09B77FFF-3E26-B8FF-A6BE-DDD22C236420}"/>
                  </a:ext>
                </a:extLst>
              </p:cNvPr>
              <p:cNvSpPr/>
              <p:nvPr/>
            </p:nvSpPr>
            <p:spPr>
              <a:xfrm>
                <a:off x="0" y="0"/>
                <a:ext cx="1537717" cy="1177043"/>
              </a:xfrm>
              <a:custGeom>
                <a:avLst/>
                <a:gdLst/>
                <a:ahLst/>
                <a:cxnLst/>
                <a:rect l="l" t="t" r="r" b="b"/>
                <a:pathLst>
                  <a:path w="1537717" h="1177043">
                    <a:moveTo>
                      <a:pt x="74720" y="0"/>
                    </a:moveTo>
                    <a:lnTo>
                      <a:pt x="1462997" y="0"/>
                    </a:lnTo>
                    <a:cubicBezTo>
                      <a:pt x="1504264" y="0"/>
                      <a:pt x="1537717" y="33454"/>
                      <a:pt x="1537717" y="74720"/>
                    </a:cubicBezTo>
                    <a:lnTo>
                      <a:pt x="1537717" y="1102322"/>
                    </a:lnTo>
                    <a:cubicBezTo>
                      <a:pt x="1537717" y="1122139"/>
                      <a:pt x="1529845" y="1141145"/>
                      <a:pt x="1515832" y="1155158"/>
                    </a:cubicBezTo>
                    <a:cubicBezTo>
                      <a:pt x="1501819" y="1169170"/>
                      <a:pt x="1482814" y="1177043"/>
                      <a:pt x="1462997" y="1177043"/>
                    </a:cubicBezTo>
                    <a:lnTo>
                      <a:pt x="74720" y="1177043"/>
                    </a:lnTo>
                    <a:cubicBezTo>
                      <a:pt x="54903" y="1177043"/>
                      <a:pt x="35898" y="1169170"/>
                      <a:pt x="21885" y="1155158"/>
                    </a:cubicBezTo>
                    <a:cubicBezTo>
                      <a:pt x="7872" y="1141145"/>
                      <a:pt x="0" y="1122139"/>
                      <a:pt x="0" y="1102322"/>
                    </a:cubicBezTo>
                    <a:lnTo>
                      <a:pt x="0" y="74720"/>
                    </a:lnTo>
                    <a:cubicBezTo>
                      <a:pt x="0" y="54903"/>
                      <a:pt x="7872" y="35898"/>
                      <a:pt x="21885" y="21885"/>
                    </a:cubicBezTo>
                    <a:cubicBezTo>
                      <a:pt x="35898" y="7872"/>
                      <a:pt x="54903" y="0"/>
                      <a:pt x="74720" y="0"/>
                    </a:cubicBezTo>
                    <a:close/>
                  </a:path>
                </a:pathLst>
              </a:custGeom>
              <a:solidFill>
                <a:srgbClr val="B1D4E0"/>
              </a:solidFill>
            </p:spPr>
          </p:sp>
          <p:sp>
            <p:nvSpPr>
              <p:cNvPr id="20" name="TextBox 7">
                <a:extLst>
                  <a:ext uri="{FF2B5EF4-FFF2-40B4-BE49-F238E27FC236}">
                    <a16:creationId xmlns:a16="http://schemas.microsoft.com/office/drawing/2014/main" id="{DBB3B8EF-05C1-D6F5-7714-B7475767B0CF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537717" cy="121514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21" name="TextBox 9">
              <a:extLst>
                <a:ext uri="{FF2B5EF4-FFF2-40B4-BE49-F238E27FC236}">
                  <a16:creationId xmlns:a16="http://schemas.microsoft.com/office/drawing/2014/main" id="{7875627D-33D3-7DB1-F9CF-86B2F7227DA2}"/>
                </a:ext>
              </a:extLst>
            </p:cNvPr>
            <p:cNvSpPr txBox="1"/>
            <p:nvPr/>
          </p:nvSpPr>
          <p:spPr>
            <a:xfrm>
              <a:off x="11353800" y="2176626"/>
              <a:ext cx="4699349" cy="5770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525"/>
                </a:lnSpc>
              </a:pPr>
              <a:r>
                <a:rPr lang="en-US" sz="4525">
                  <a:solidFill>
                    <a:srgbClr val="051D40"/>
                  </a:solidFill>
                  <a:latin typeface="Bernoru SemiCondensed" panose="020B0604020202020204" charset="0"/>
                  <a:ea typeface="Genty"/>
                  <a:cs typeface="Genty"/>
                  <a:sym typeface="Genty"/>
                </a:rPr>
                <a:t>POP</a:t>
              </a: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4C2E4D41-8F53-F962-783E-25FF4F5683E7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802442" y="4457700"/>
              <a:ext cx="7802064" cy="4753638"/>
            </a:xfrm>
            <a:prstGeom prst="rect">
              <a:avLst/>
            </a:prstGeom>
          </p:spPr>
        </p:pic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7B3805DB-7EA2-C881-895E-430BE5360079}"/>
                </a:ext>
              </a:extLst>
            </p:cNvPr>
            <p:cNvSpPr txBox="1"/>
            <p:nvPr/>
          </p:nvSpPr>
          <p:spPr>
            <a:xfrm>
              <a:off x="10972800" y="3088000"/>
              <a:ext cx="4861131" cy="9233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051D40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Popped the last element, in this case 67</a:t>
              </a:r>
            </a:p>
          </p:txBody>
        </p:sp>
      </p:grpSp>
      <p:sp>
        <p:nvSpPr>
          <p:cNvPr id="2" name="TextBox 4">
            <a:extLst>
              <a:ext uri="{FF2B5EF4-FFF2-40B4-BE49-F238E27FC236}">
                <a16:creationId xmlns:a16="http://schemas.microsoft.com/office/drawing/2014/main" id="{90FF6E65-EF69-49D4-FC84-8C4F3F8F08C9}"/>
              </a:ext>
            </a:extLst>
          </p:cNvPr>
          <p:cNvSpPr txBox="1"/>
          <p:nvPr/>
        </p:nvSpPr>
        <p:spPr>
          <a:xfrm>
            <a:off x="800100" y="11096460"/>
            <a:ext cx="16687800" cy="13511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12000"/>
              </a:lnSpc>
            </a:pPr>
            <a:r>
              <a:rPr lang="en-US" sz="9600">
                <a:solidFill>
                  <a:srgbClr val="051D40"/>
                </a:solidFill>
                <a:latin typeface="Bernoru SemiCondensed" panose="020B0604020202020204" charset="0"/>
                <a:ea typeface="Genty"/>
                <a:cs typeface="Genty"/>
                <a:sym typeface="Genty"/>
              </a:rPr>
              <a:t>Workflow of the Program</a:t>
            </a:r>
          </a:p>
        </p:txBody>
      </p:sp>
      <p:sp>
        <p:nvSpPr>
          <p:cNvPr id="5" name="Freeform 2">
            <a:extLst>
              <a:ext uri="{FF2B5EF4-FFF2-40B4-BE49-F238E27FC236}">
                <a16:creationId xmlns:a16="http://schemas.microsoft.com/office/drawing/2014/main" id="{E53B1DE0-7C81-2547-1383-BA25FEF9DFA2}"/>
              </a:ext>
            </a:extLst>
          </p:cNvPr>
          <p:cNvSpPr/>
          <p:nvPr/>
        </p:nvSpPr>
        <p:spPr>
          <a:xfrm>
            <a:off x="21031200" y="6438900"/>
            <a:ext cx="8424068" cy="8413538"/>
          </a:xfrm>
          <a:custGeom>
            <a:avLst/>
            <a:gdLst/>
            <a:ahLst/>
            <a:cxnLst/>
            <a:rect l="l" t="t" r="r" b="b"/>
            <a:pathLst>
              <a:path w="8424068" h="8413538">
                <a:moveTo>
                  <a:pt x="0" y="0"/>
                </a:moveTo>
                <a:lnTo>
                  <a:pt x="8424068" y="0"/>
                </a:lnTo>
                <a:lnTo>
                  <a:pt x="8424068" y="8413538"/>
                </a:lnTo>
                <a:lnTo>
                  <a:pt x="0" y="8413538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3">
            <a:extLst>
              <a:ext uri="{FF2B5EF4-FFF2-40B4-BE49-F238E27FC236}">
                <a16:creationId xmlns:a16="http://schemas.microsoft.com/office/drawing/2014/main" id="{1FE29838-0951-1515-768D-6AEEE247F408}"/>
              </a:ext>
            </a:extLst>
          </p:cNvPr>
          <p:cNvSpPr/>
          <p:nvPr/>
        </p:nvSpPr>
        <p:spPr>
          <a:xfrm>
            <a:off x="-9982200" y="5825740"/>
            <a:ext cx="8424068" cy="8413538"/>
          </a:xfrm>
          <a:custGeom>
            <a:avLst/>
            <a:gdLst/>
            <a:ahLst/>
            <a:cxnLst/>
            <a:rect l="l" t="t" r="r" b="b"/>
            <a:pathLst>
              <a:path w="8424068" h="8413538">
                <a:moveTo>
                  <a:pt x="0" y="0"/>
                </a:moveTo>
                <a:lnTo>
                  <a:pt x="8424068" y="0"/>
                </a:lnTo>
                <a:lnTo>
                  <a:pt x="8424068" y="8413539"/>
                </a:lnTo>
                <a:lnTo>
                  <a:pt x="0" y="8413539"/>
                </a:lnTo>
                <a:lnTo>
                  <a:pt x="0" y="0"/>
                </a:lnTo>
                <a:close/>
              </a:path>
            </a:pathLst>
          </a:custGeom>
          <a:blipFill>
            <a:blip r:embed="rId4"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/>
            </a:stretch>
          </a:blipFill>
        </p:spPr>
      </p:sp>
    </p:spTree>
    <p:extLst>
      <p:ext uri="{BB962C8B-B14F-4D97-AF65-F5344CB8AC3E}">
        <p14:creationId xmlns:p14="http://schemas.microsoft.com/office/powerpoint/2010/main" val="15088990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25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/>
          <p:cNvSpPr txBox="1"/>
          <p:nvPr/>
        </p:nvSpPr>
        <p:spPr>
          <a:xfrm>
            <a:off x="3801485" y="503101"/>
            <a:ext cx="10384637" cy="1538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000"/>
              </a:lnSpc>
            </a:pPr>
            <a:r>
              <a:rPr lang="en-US" sz="12000">
                <a:solidFill>
                  <a:srgbClr val="051D40"/>
                </a:solidFill>
                <a:latin typeface="Bernoru SemiCondensed" panose="020B0604020202020204" charset="0"/>
                <a:ea typeface="Genty"/>
                <a:cs typeface="Genty"/>
                <a:sym typeface="Genty"/>
              </a:rPr>
              <a:t>Output: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0865521E-9E71-E827-D8BF-F852515820EC}"/>
              </a:ext>
            </a:extLst>
          </p:cNvPr>
          <p:cNvGrpSpPr/>
          <p:nvPr/>
        </p:nvGrpSpPr>
        <p:grpSpPr>
          <a:xfrm>
            <a:off x="393700" y="2080083"/>
            <a:ext cx="8285500" cy="7741915"/>
            <a:chOff x="393700" y="2080083"/>
            <a:chExt cx="8285500" cy="7741915"/>
          </a:xfrm>
        </p:grpSpPr>
        <p:grpSp>
          <p:nvGrpSpPr>
            <p:cNvPr id="13" name="Group 5">
              <a:extLst>
                <a:ext uri="{FF2B5EF4-FFF2-40B4-BE49-F238E27FC236}">
                  <a16:creationId xmlns:a16="http://schemas.microsoft.com/office/drawing/2014/main" id="{21862D3F-7C00-009D-77AC-45CFC34F0C40}"/>
                </a:ext>
              </a:extLst>
            </p:cNvPr>
            <p:cNvGrpSpPr/>
            <p:nvPr/>
          </p:nvGrpSpPr>
          <p:grpSpPr>
            <a:xfrm>
              <a:off x="393700" y="2080083"/>
              <a:ext cx="8285500" cy="7741915"/>
              <a:chOff x="0" y="0"/>
              <a:chExt cx="1537717" cy="1177043"/>
            </a:xfrm>
          </p:grpSpPr>
          <p:sp>
            <p:nvSpPr>
              <p:cNvPr id="14" name="Freeform 6">
                <a:extLst>
                  <a:ext uri="{FF2B5EF4-FFF2-40B4-BE49-F238E27FC236}">
                    <a16:creationId xmlns:a16="http://schemas.microsoft.com/office/drawing/2014/main" id="{E5F3DC32-94E5-867D-B972-D1BEBFA1899B}"/>
                  </a:ext>
                </a:extLst>
              </p:cNvPr>
              <p:cNvSpPr/>
              <p:nvPr/>
            </p:nvSpPr>
            <p:spPr>
              <a:xfrm>
                <a:off x="0" y="0"/>
                <a:ext cx="1537717" cy="1177043"/>
              </a:xfrm>
              <a:custGeom>
                <a:avLst/>
                <a:gdLst/>
                <a:ahLst/>
                <a:cxnLst/>
                <a:rect l="l" t="t" r="r" b="b"/>
                <a:pathLst>
                  <a:path w="1537717" h="1177043">
                    <a:moveTo>
                      <a:pt x="74720" y="0"/>
                    </a:moveTo>
                    <a:lnTo>
                      <a:pt x="1462997" y="0"/>
                    </a:lnTo>
                    <a:cubicBezTo>
                      <a:pt x="1504264" y="0"/>
                      <a:pt x="1537717" y="33454"/>
                      <a:pt x="1537717" y="74720"/>
                    </a:cubicBezTo>
                    <a:lnTo>
                      <a:pt x="1537717" y="1102322"/>
                    </a:lnTo>
                    <a:cubicBezTo>
                      <a:pt x="1537717" y="1122139"/>
                      <a:pt x="1529845" y="1141145"/>
                      <a:pt x="1515832" y="1155158"/>
                    </a:cubicBezTo>
                    <a:cubicBezTo>
                      <a:pt x="1501819" y="1169170"/>
                      <a:pt x="1482814" y="1177043"/>
                      <a:pt x="1462997" y="1177043"/>
                    </a:cubicBezTo>
                    <a:lnTo>
                      <a:pt x="74720" y="1177043"/>
                    </a:lnTo>
                    <a:cubicBezTo>
                      <a:pt x="54903" y="1177043"/>
                      <a:pt x="35898" y="1169170"/>
                      <a:pt x="21885" y="1155158"/>
                    </a:cubicBezTo>
                    <a:cubicBezTo>
                      <a:pt x="7872" y="1141145"/>
                      <a:pt x="0" y="1122139"/>
                      <a:pt x="0" y="1102322"/>
                    </a:cubicBezTo>
                    <a:lnTo>
                      <a:pt x="0" y="74720"/>
                    </a:lnTo>
                    <a:cubicBezTo>
                      <a:pt x="0" y="54903"/>
                      <a:pt x="7872" y="35898"/>
                      <a:pt x="21885" y="21885"/>
                    </a:cubicBezTo>
                    <a:cubicBezTo>
                      <a:pt x="35898" y="7872"/>
                      <a:pt x="54903" y="0"/>
                      <a:pt x="74720" y="0"/>
                    </a:cubicBezTo>
                    <a:close/>
                  </a:path>
                </a:pathLst>
              </a:custGeom>
              <a:solidFill>
                <a:srgbClr val="B1D4E0"/>
              </a:solidFill>
            </p:spPr>
          </p:sp>
          <p:sp>
            <p:nvSpPr>
              <p:cNvPr id="15" name="TextBox 7">
                <a:extLst>
                  <a:ext uri="{FF2B5EF4-FFF2-40B4-BE49-F238E27FC236}">
                    <a16:creationId xmlns:a16="http://schemas.microsoft.com/office/drawing/2014/main" id="{8E1BFCE1-2EC1-78D2-8410-322F3AE710A8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537717" cy="121514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7" name="TextBox 9">
              <a:extLst>
                <a:ext uri="{FF2B5EF4-FFF2-40B4-BE49-F238E27FC236}">
                  <a16:creationId xmlns:a16="http://schemas.microsoft.com/office/drawing/2014/main" id="{D7A26C44-DDA3-BA0A-80E8-01EB28C73E5F}"/>
                </a:ext>
              </a:extLst>
            </p:cNvPr>
            <p:cNvSpPr txBox="1"/>
            <p:nvPr/>
          </p:nvSpPr>
          <p:spPr>
            <a:xfrm>
              <a:off x="2004333" y="2247709"/>
              <a:ext cx="4699349" cy="5770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525"/>
                </a:lnSpc>
              </a:pPr>
              <a:r>
                <a:rPr lang="en-US" sz="4525">
                  <a:solidFill>
                    <a:srgbClr val="051D40"/>
                  </a:solidFill>
                  <a:latin typeface="Bernoru SemiCondensed" panose="020B0604020202020204" charset="0"/>
                  <a:ea typeface="Genty"/>
                  <a:cs typeface="Genty"/>
                  <a:sym typeface="Genty"/>
                </a:rPr>
                <a:t>ADD</a:t>
              </a:r>
            </a:p>
          </p:txBody>
        </p:sp>
        <p:pic>
          <p:nvPicPr>
            <p:cNvPr id="22" name="Picture 21">
              <a:extLst>
                <a:ext uri="{FF2B5EF4-FFF2-40B4-BE49-F238E27FC236}">
                  <a16:creationId xmlns:a16="http://schemas.microsoft.com/office/drawing/2014/main" id="{F6005CA7-3EA1-EC61-4022-83F213A22DE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78668" y="4396780"/>
              <a:ext cx="7821116" cy="4648849"/>
            </a:xfrm>
            <a:prstGeom prst="rect">
              <a:avLst/>
            </a:prstGeom>
          </p:spPr>
        </p:pic>
        <p:sp>
          <p:nvSpPr>
            <p:cNvPr id="23" name="TextBox 8">
              <a:extLst>
                <a:ext uri="{FF2B5EF4-FFF2-40B4-BE49-F238E27FC236}">
                  <a16:creationId xmlns:a16="http://schemas.microsoft.com/office/drawing/2014/main" id="{703C3AD8-AB4D-B3C3-B509-C917E7F4D002}"/>
                </a:ext>
              </a:extLst>
            </p:cNvPr>
            <p:cNvSpPr txBox="1"/>
            <p:nvPr/>
          </p:nvSpPr>
          <p:spPr>
            <a:xfrm>
              <a:off x="2004333" y="3161820"/>
              <a:ext cx="4861131" cy="9233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051D40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Added top two values , in this case B and 23</a:t>
              </a:r>
            </a:p>
          </p:txBody>
        </p:sp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25211E81-0DDF-2A4A-AA65-72694FF20DC1}"/>
              </a:ext>
            </a:extLst>
          </p:cNvPr>
          <p:cNvGrpSpPr/>
          <p:nvPr/>
        </p:nvGrpSpPr>
        <p:grpSpPr>
          <a:xfrm>
            <a:off x="9169400" y="2011324"/>
            <a:ext cx="8763000" cy="7741914"/>
            <a:chOff x="9169400" y="2011324"/>
            <a:chExt cx="8763000" cy="7741914"/>
          </a:xfrm>
        </p:grpSpPr>
        <p:grpSp>
          <p:nvGrpSpPr>
            <p:cNvPr id="18" name="Group 5">
              <a:extLst>
                <a:ext uri="{FF2B5EF4-FFF2-40B4-BE49-F238E27FC236}">
                  <a16:creationId xmlns:a16="http://schemas.microsoft.com/office/drawing/2014/main" id="{C159F160-1AA4-175A-CAFD-87258F6B5D21}"/>
                </a:ext>
              </a:extLst>
            </p:cNvPr>
            <p:cNvGrpSpPr/>
            <p:nvPr/>
          </p:nvGrpSpPr>
          <p:grpSpPr>
            <a:xfrm>
              <a:off x="9169400" y="2011324"/>
              <a:ext cx="8763000" cy="7741914"/>
              <a:chOff x="0" y="0"/>
              <a:chExt cx="1537717" cy="1177043"/>
            </a:xfrm>
          </p:grpSpPr>
          <p:sp>
            <p:nvSpPr>
              <p:cNvPr id="19" name="Freeform 6">
                <a:extLst>
                  <a:ext uri="{FF2B5EF4-FFF2-40B4-BE49-F238E27FC236}">
                    <a16:creationId xmlns:a16="http://schemas.microsoft.com/office/drawing/2014/main" id="{8D47ADD4-8FC5-A64E-055F-CB8F2E5AD522}"/>
                  </a:ext>
                </a:extLst>
              </p:cNvPr>
              <p:cNvSpPr/>
              <p:nvPr/>
            </p:nvSpPr>
            <p:spPr>
              <a:xfrm>
                <a:off x="0" y="0"/>
                <a:ext cx="1537717" cy="1177043"/>
              </a:xfrm>
              <a:custGeom>
                <a:avLst/>
                <a:gdLst/>
                <a:ahLst/>
                <a:cxnLst/>
                <a:rect l="l" t="t" r="r" b="b"/>
                <a:pathLst>
                  <a:path w="1537717" h="1177043">
                    <a:moveTo>
                      <a:pt x="74720" y="0"/>
                    </a:moveTo>
                    <a:lnTo>
                      <a:pt x="1462997" y="0"/>
                    </a:lnTo>
                    <a:cubicBezTo>
                      <a:pt x="1504264" y="0"/>
                      <a:pt x="1537717" y="33454"/>
                      <a:pt x="1537717" y="74720"/>
                    </a:cubicBezTo>
                    <a:lnTo>
                      <a:pt x="1537717" y="1102322"/>
                    </a:lnTo>
                    <a:cubicBezTo>
                      <a:pt x="1537717" y="1122139"/>
                      <a:pt x="1529845" y="1141145"/>
                      <a:pt x="1515832" y="1155158"/>
                    </a:cubicBezTo>
                    <a:cubicBezTo>
                      <a:pt x="1501819" y="1169170"/>
                      <a:pt x="1482814" y="1177043"/>
                      <a:pt x="1462997" y="1177043"/>
                    </a:cubicBezTo>
                    <a:lnTo>
                      <a:pt x="74720" y="1177043"/>
                    </a:lnTo>
                    <a:cubicBezTo>
                      <a:pt x="54903" y="1177043"/>
                      <a:pt x="35898" y="1169170"/>
                      <a:pt x="21885" y="1155158"/>
                    </a:cubicBezTo>
                    <a:cubicBezTo>
                      <a:pt x="7872" y="1141145"/>
                      <a:pt x="0" y="1122139"/>
                      <a:pt x="0" y="1102322"/>
                    </a:cubicBezTo>
                    <a:lnTo>
                      <a:pt x="0" y="74720"/>
                    </a:lnTo>
                    <a:cubicBezTo>
                      <a:pt x="0" y="54903"/>
                      <a:pt x="7872" y="35898"/>
                      <a:pt x="21885" y="21885"/>
                    </a:cubicBezTo>
                    <a:cubicBezTo>
                      <a:pt x="35898" y="7872"/>
                      <a:pt x="54903" y="0"/>
                      <a:pt x="74720" y="0"/>
                    </a:cubicBezTo>
                    <a:close/>
                  </a:path>
                </a:pathLst>
              </a:custGeom>
              <a:solidFill>
                <a:srgbClr val="B1D4E0"/>
              </a:solidFill>
            </p:spPr>
          </p:sp>
          <p:sp>
            <p:nvSpPr>
              <p:cNvPr id="20" name="TextBox 7">
                <a:extLst>
                  <a:ext uri="{FF2B5EF4-FFF2-40B4-BE49-F238E27FC236}">
                    <a16:creationId xmlns:a16="http://schemas.microsoft.com/office/drawing/2014/main" id="{CB2E8BD8-4BE8-1E0C-ED4F-09DD40C9D929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537717" cy="121514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21" name="TextBox 9">
              <a:extLst>
                <a:ext uri="{FF2B5EF4-FFF2-40B4-BE49-F238E27FC236}">
                  <a16:creationId xmlns:a16="http://schemas.microsoft.com/office/drawing/2014/main" id="{A53BE75D-8A7E-A912-6D92-B1F698038AD7}"/>
                </a:ext>
              </a:extLst>
            </p:cNvPr>
            <p:cNvSpPr txBox="1"/>
            <p:nvPr/>
          </p:nvSpPr>
          <p:spPr>
            <a:xfrm>
              <a:off x="11353800" y="2176626"/>
              <a:ext cx="4699349" cy="5770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525"/>
                </a:lnSpc>
              </a:pPr>
              <a:r>
                <a:rPr lang="en-US" sz="4525">
                  <a:solidFill>
                    <a:srgbClr val="051D40"/>
                  </a:solidFill>
                  <a:latin typeface="Bernoru SemiCondensed" panose="020B0604020202020204" charset="0"/>
                  <a:ea typeface="Genty"/>
                  <a:cs typeface="Genty"/>
                  <a:sym typeface="Genty"/>
                </a:rPr>
                <a:t>SUBTRACT </a:t>
              </a:r>
            </a:p>
          </p:txBody>
        </p:sp>
        <p:sp>
          <p:nvSpPr>
            <p:cNvPr id="24" name="TextBox 8">
              <a:extLst>
                <a:ext uri="{FF2B5EF4-FFF2-40B4-BE49-F238E27FC236}">
                  <a16:creationId xmlns:a16="http://schemas.microsoft.com/office/drawing/2014/main" id="{019B3413-E8B3-2213-D9C4-AA1F136C1C23}"/>
                </a:ext>
              </a:extLst>
            </p:cNvPr>
            <p:cNvSpPr txBox="1"/>
            <p:nvPr/>
          </p:nvSpPr>
          <p:spPr>
            <a:xfrm>
              <a:off x="11353800" y="2978907"/>
              <a:ext cx="4861131" cy="9233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051D40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Subtracted top two values, in this case (B+23) from A</a:t>
              </a:r>
            </a:p>
          </p:txBody>
        </p:sp>
        <p:pic>
          <p:nvPicPr>
            <p:cNvPr id="26" name="Picture 25">
              <a:extLst>
                <a:ext uri="{FF2B5EF4-FFF2-40B4-BE49-F238E27FC236}">
                  <a16:creationId xmlns:a16="http://schemas.microsoft.com/office/drawing/2014/main" id="{C804EAB1-8FD0-4CFA-4E09-EA5D4E92F0A9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578420" y="4234833"/>
              <a:ext cx="7944959" cy="4810796"/>
            </a:xfrm>
            <a:prstGeom prst="rect">
              <a:avLst/>
            </a:prstGeom>
          </p:spPr>
        </p:pic>
      </p:grp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7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E2E60449-6194-120C-550D-BA6E69E8D8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>
            <a:extLst>
              <a:ext uri="{FF2B5EF4-FFF2-40B4-BE49-F238E27FC236}">
                <a16:creationId xmlns:a16="http://schemas.microsoft.com/office/drawing/2014/main" id="{FB793E5B-6BCF-84B5-E580-781310E0AB5D}"/>
              </a:ext>
            </a:extLst>
          </p:cNvPr>
          <p:cNvSpPr txBox="1"/>
          <p:nvPr/>
        </p:nvSpPr>
        <p:spPr>
          <a:xfrm>
            <a:off x="3801485" y="503101"/>
            <a:ext cx="10384637" cy="1538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000"/>
              </a:lnSpc>
            </a:pPr>
            <a:r>
              <a:rPr lang="en-US" sz="12000">
                <a:solidFill>
                  <a:srgbClr val="051D40"/>
                </a:solidFill>
                <a:latin typeface="Bernoru SemiCondensed" panose="020B0604020202020204" charset="0"/>
                <a:ea typeface="Genty"/>
                <a:cs typeface="Genty"/>
                <a:sym typeface="Genty"/>
              </a:rPr>
              <a:t>Output: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174D265A-82E0-CD54-64C8-AA5E31D546EC}"/>
              </a:ext>
            </a:extLst>
          </p:cNvPr>
          <p:cNvGrpSpPr/>
          <p:nvPr/>
        </p:nvGrpSpPr>
        <p:grpSpPr>
          <a:xfrm>
            <a:off x="446476" y="2041984"/>
            <a:ext cx="8285500" cy="7741915"/>
            <a:chOff x="446476" y="2041984"/>
            <a:chExt cx="8285500" cy="7741915"/>
          </a:xfrm>
        </p:grpSpPr>
        <p:grpSp>
          <p:nvGrpSpPr>
            <p:cNvPr id="13" name="Group 5">
              <a:extLst>
                <a:ext uri="{FF2B5EF4-FFF2-40B4-BE49-F238E27FC236}">
                  <a16:creationId xmlns:a16="http://schemas.microsoft.com/office/drawing/2014/main" id="{67BD6AE0-9E47-5846-33F8-6D6CDBFCDD6D}"/>
                </a:ext>
              </a:extLst>
            </p:cNvPr>
            <p:cNvGrpSpPr/>
            <p:nvPr/>
          </p:nvGrpSpPr>
          <p:grpSpPr>
            <a:xfrm>
              <a:off x="446476" y="2041984"/>
              <a:ext cx="8285500" cy="7741915"/>
              <a:chOff x="0" y="0"/>
              <a:chExt cx="1537717" cy="1177043"/>
            </a:xfrm>
          </p:grpSpPr>
          <p:sp>
            <p:nvSpPr>
              <p:cNvPr id="14" name="Freeform 6">
                <a:extLst>
                  <a:ext uri="{FF2B5EF4-FFF2-40B4-BE49-F238E27FC236}">
                    <a16:creationId xmlns:a16="http://schemas.microsoft.com/office/drawing/2014/main" id="{EF3D8BC5-14A3-D97D-E7EB-F09687037485}"/>
                  </a:ext>
                </a:extLst>
              </p:cNvPr>
              <p:cNvSpPr/>
              <p:nvPr/>
            </p:nvSpPr>
            <p:spPr>
              <a:xfrm>
                <a:off x="0" y="0"/>
                <a:ext cx="1537717" cy="1177043"/>
              </a:xfrm>
              <a:custGeom>
                <a:avLst/>
                <a:gdLst/>
                <a:ahLst/>
                <a:cxnLst/>
                <a:rect l="l" t="t" r="r" b="b"/>
                <a:pathLst>
                  <a:path w="1537717" h="1177043">
                    <a:moveTo>
                      <a:pt x="74720" y="0"/>
                    </a:moveTo>
                    <a:lnTo>
                      <a:pt x="1462997" y="0"/>
                    </a:lnTo>
                    <a:cubicBezTo>
                      <a:pt x="1504264" y="0"/>
                      <a:pt x="1537717" y="33454"/>
                      <a:pt x="1537717" y="74720"/>
                    </a:cubicBezTo>
                    <a:lnTo>
                      <a:pt x="1537717" y="1102322"/>
                    </a:lnTo>
                    <a:cubicBezTo>
                      <a:pt x="1537717" y="1122139"/>
                      <a:pt x="1529845" y="1141145"/>
                      <a:pt x="1515832" y="1155158"/>
                    </a:cubicBezTo>
                    <a:cubicBezTo>
                      <a:pt x="1501819" y="1169170"/>
                      <a:pt x="1482814" y="1177043"/>
                      <a:pt x="1462997" y="1177043"/>
                    </a:cubicBezTo>
                    <a:lnTo>
                      <a:pt x="74720" y="1177043"/>
                    </a:lnTo>
                    <a:cubicBezTo>
                      <a:pt x="54903" y="1177043"/>
                      <a:pt x="35898" y="1169170"/>
                      <a:pt x="21885" y="1155158"/>
                    </a:cubicBezTo>
                    <a:cubicBezTo>
                      <a:pt x="7872" y="1141145"/>
                      <a:pt x="0" y="1122139"/>
                      <a:pt x="0" y="1102322"/>
                    </a:cubicBezTo>
                    <a:lnTo>
                      <a:pt x="0" y="74720"/>
                    </a:lnTo>
                    <a:cubicBezTo>
                      <a:pt x="0" y="54903"/>
                      <a:pt x="7872" y="35898"/>
                      <a:pt x="21885" y="21885"/>
                    </a:cubicBezTo>
                    <a:cubicBezTo>
                      <a:pt x="35898" y="7872"/>
                      <a:pt x="54903" y="0"/>
                      <a:pt x="74720" y="0"/>
                    </a:cubicBezTo>
                    <a:close/>
                  </a:path>
                </a:pathLst>
              </a:custGeom>
              <a:solidFill>
                <a:srgbClr val="B1D4E0"/>
              </a:solidFill>
            </p:spPr>
          </p:sp>
          <p:sp>
            <p:nvSpPr>
              <p:cNvPr id="15" name="TextBox 7">
                <a:extLst>
                  <a:ext uri="{FF2B5EF4-FFF2-40B4-BE49-F238E27FC236}">
                    <a16:creationId xmlns:a16="http://schemas.microsoft.com/office/drawing/2014/main" id="{D011FB33-EF7F-69D6-C87F-8E81D1BEF1D2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537717" cy="121514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7" name="TextBox 9">
              <a:extLst>
                <a:ext uri="{FF2B5EF4-FFF2-40B4-BE49-F238E27FC236}">
                  <a16:creationId xmlns:a16="http://schemas.microsoft.com/office/drawing/2014/main" id="{80859E3E-E554-4757-C01C-CCAAB661B4E9}"/>
                </a:ext>
              </a:extLst>
            </p:cNvPr>
            <p:cNvSpPr txBox="1"/>
            <p:nvPr/>
          </p:nvSpPr>
          <p:spPr>
            <a:xfrm>
              <a:off x="2004333" y="2247709"/>
              <a:ext cx="4699349" cy="5770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525"/>
                </a:lnSpc>
              </a:pPr>
              <a:r>
                <a:rPr lang="en-US" sz="4525">
                  <a:solidFill>
                    <a:srgbClr val="051D40"/>
                  </a:solidFill>
                  <a:latin typeface="Bernoru SemiCondensed" panose="020B0604020202020204" charset="0"/>
                  <a:ea typeface="Genty"/>
                  <a:cs typeface="Genty"/>
                  <a:sym typeface="Genty"/>
                </a:rPr>
                <a:t>MULTIPLY </a:t>
              </a:r>
            </a:p>
          </p:txBody>
        </p:sp>
        <p:sp>
          <p:nvSpPr>
            <p:cNvPr id="6" name="TextBox 8">
              <a:extLst>
                <a:ext uri="{FF2B5EF4-FFF2-40B4-BE49-F238E27FC236}">
                  <a16:creationId xmlns:a16="http://schemas.microsoft.com/office/drawing/2014/main" id="{1C4078C6-1993-2FB3-8C50-A8892DD55319}"/>
                </a:ext>
              </a:extLst>
            </p:cNvPr>
            <p:cNvSpPr txBox="1"/>
            <p:nvPr/>
          </p:nvSpPr>
          <p:spPr>
            <a:xfrm>
              <a:off x="2004333" y="3161820"/>
              <a:ext cx="4861131" cy="923330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051D40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Multiplies top two values , in this case 4 and 5 </a:t>
              </a:r>
            </a:p>
          </p:txBody>
        </p:sp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9371D62F-FCA5-BE32-8314-C663118982D5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607776" y="4310350"/>
              <a:ext cx="7962900" cy="4781550"/>
            </a:xfrm>
            <a:prstGeom prst="rect">
              <a:avLst/>
            </a:prstGeom>
          </p:spPr>
        </p:pic>
      </p:grpSp>
      <p:grpSp>
        <p:nvGrpSpPr>
          <p:cNvPr id="4" name="Group 3">
            <a:extLst>
              <a:ext uri="{FF2B5EF4-FFF2-40B4-BE49-F238E27FC236}">
                <a16:creationId xmlns:a16="http://schemas.microsoft.com/office/drawing/2014/main" id="{ABF780CD-746E-1AEA-DA49-EABC0F23C136}"/>
              </a:ext>
            </a:extLst>
          </p:cNvPr>
          <p:cNvGrpSpPr/>
          <p:nvPr/>
        </p:nvGrpSpPr>
        <p:grpSpPr>
          <a:xfrm>
            <a:off x="9169400" y="2011324"/>
            <a:ext cx="8763000" cy="7741914"/>
            <a:chOff x="9169400" y="2011324"/>
            <a:chExt cx="8763000" cy="7741914"/>
          </a:xfrm>
        </p:grpSpPr>
        <p:grpSp>
          <p:nvGrpSpPr>
            <p:cNvPr id="18" name="Group 5">
              <a:extLst>
                <a:ext uri="{FF2B5EF4-FFF2-40B4-BE49-F238E27FC236}">
                  <a16:creationId xmlns:a16="http://schemas.microsoft.com/office/drawing/2014/main" id="{ECA8E1F0-1F91-6524-F97B-B8FA07974BF3}"/>
                </a:ext>
              </a:extLst>
            </p:cNvPr>
            <p:cNvGrpSpPr/>
            <p:nvPr/>
          </p:nvGrpSpPr>
          <p:grpSpPr>
            <a:xfrm>
              <a:off x="9169400" y="2011324"/>
              <a:ext cx="8763000" cy="7741914"/>
              <a:chOff x="0" y="0"/>
              <a:chExt cx="1537717" cy="1177043"/>
            </a:xfrm>
          </p:grpSpPr>
          <p:sp>
            <p:nvSpPr>
              <p:cNvPr id="19" name="Freeform 6">
                <a:extLst>
                  <a:ext uri="{FF2B5EF4-FFF2-40B4-BE49-F238E27FC236}">
                    <a16:creationId xmlns:a16="http://schemas.microsoft.com/office/drawing/2014/main" id="{11AA22F7-8AD8-CE12-47B1-BB12C4F2982B}"/>
                  </a:ext>
                </a:extLst>
              </p:cNvPr>
              <p:cNvSpPr/>
              <p:nvPr/>
            </p:nvSpPr>
            <p:spPr>
              <a:xfrm>
                <a:off x="0" y="0"/>
                <a:ext cx="1537717" cy="1177043"/>
              </a:xfrm>
              <a:custGeom>
                <a:avLst/>
                <a:gdLst/>
                <a:ahLst/>
                <a:cxnLst/>
                <a:rect l="l" t="t" r="r" b="b"/>
                <a:pathLst>
                  <a:path w="1537717" h="1177043">
                    <a:moveTo>
                      <a:pt x="74720" y="0"/>
                    </a:moveTo>
                    <a:lnTo>
                      <a:pt x="1462997" y="0"/>
                    </a:lnTo>
                    <a:cubicBezTo>
                      <a:pt x="1504264" y="0"/>
                      <a:pt x="1537717" y="33454"/>
                      <a:pt x="1537717" y="74720"/>
                    </a:cubicBezTo>
                    <a:lnTo>
                      <a:pt x="1537717" y="1102322"/>
                    </a:lnTo>
                    <a:cubicBezTo>
                      <a:pt x="1537717" y="1122139"/>
                      <a:pt x="1529845" y="1141145"/>
                      <a:pt x="1515832" y="1155158"/>
                    </a:cubicBezTo>
                    <a:cubicBezTo>
                      <a:pt x="1501819" y="1169170"/>
                      <a:pt x="1482814" y="1177043"/>
                      <a:pt x="1462997" y="1177043"/>
                    </a:cubicBezTo>
                    <a:lnTo>
                      <a:pt x="74720" y="1177043"/>
                    </a:lnTo>
                    <a:cubicBezTo>
                      <a:pt x="54903" y="1177043"/>
                      <a:pt x="35898" y="1169170"/>
                      <a:pt x="21885" y="1155158"/>
                    </a:cubicBezTo>
                    <a:cubicBezTo>
                      <a:pt x="7872" y="1141145"/>
                      <a:pt x="0" y="1122139"/>
                      <a:pt x="0" y="1102322"/>
                    </a:cubicBezTo>
                    <a:lnTo>
                      <a:pt x="0" y="74720"/>
                    </a:lnTo>
                    <a:cubicBezTo>
                      <a:pt x="0" y="54903"/>
                      <a:pt x="7872" y="35898"/>
                      <a:pt x="21885" y="21885"/>
                    </a:cubicBezTo>
                    <a:cubicBezTo>
                      <a:pt x="35898" y="7872"/>
                      <a:pt x="54903" y="0"/>
                      <a:pt x="74720" y="0"/>
                    </a:cubicBezTo>
                    <a:close/>
                  </a:path>
                </a:pathLst>
              </a:custGeom>
              <a:solidFill>
                <a:srgbClr val="B1D4E0"/>
              </a:solidFill>
            </p:spPr>
          </p:sp>
          <p:sp>
            <p:nvSpPr>
              <p:cNvPr id="20" name="TextBox 7">
                <a:extLst>
                  <a:ext uri="{FF2B5EF4-FFF2-40B4-BE49-F238E27FC236}">
                    <a16:creationId xmlns:a16="http://schemas.microsoft.com/office/drawing/2014/main" id="{9F7FF28E-7201-CDDD-1EF6-A12AF710101C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537717" cy="121514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21" name="TextBox 9">
              <a:extLst>
                <a:ext uri="{FF2B5EF4-FFF2-40B4-BE49-F238E27FC236}">
                  <a16:creationId xmlns:a16="http://schemas.microsoft.com/office/drawing/2014/main" id="{80C2A439-A648-46E2-6F12-CA327F29D16C}"/>
                </a:ext>
              </a:extLst>
            </p:cNvPr>
            <p:cNvSpPr txBox="1"/>
            <p:nvPr/>
          </p:nvSpPr>
          <p:spPr>
            <a:xfrm>
              <a:off x="11353800" y="2176626"/>
              <a:ext cx="4699349" cy="5770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525"/>
                </a:lnSpc>
              </a:pPr>
              <a:r>
                <a:rPr lang="en-US" sz="4525">
                  <a:solidFill>
                    <a:srgbClr val="051D40"/>
                  </a:solidFill>
                  <a:latin typeface="Bernoru SemiCondensed" panose="020B0604020202020204" charset="0"/>
                  <a:ea typeface="Genty"/>
                  <a:cs typeface="Genty"/>
                  <a:sym typeface="Genty"/>
                </a:rPr>
                <a:t>DIVIDE </a:t>
              </a:r>
            </a:p>
          </p:txBody>
        </p:sp>
        <p:sp>
          <p:nvSpPr>
            <p:cNvPr id="10" name="TextBox 8">
              <a:extLst>
                <a:ext uri="{FF2B5EF4-FFF2-40B4-BE49-F238E27FC236}">
                  <a16:creationId xmlns:a16="http://schemas.microsoft.com/office/drawing/2014/main" id="{06D10A14-E13C-21F9-1FD4-B206F7EBC0B1}"/>
                </a:ext>
              </a:extLst>
            </p:cNvPr>
            <p:cNvSpPr txBox="1"/>
            <p:nvPr/>
          </p:nvSpPr>
          <p:spPr>
            <a:xfrm>
              <a:off x="11422536" y="2824790"/>
              <a:ext cx="4861131" cy="1384995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051D40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Divide 2</a:t>
              </a:r>
              <a:r>
                <a:rPr lang="en-US" sz="3000" baseline="30000">
                  <a:solidFill>
                    <a:srgbClr val="051D40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nd</a:t>
              </a:r>
              <a:r>
                <a:rPr lang="en-US" sz="3000">
                  <a:solidFill>
                    <a:srgbClr val="051D40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  top value from the top value, in this case A and 0.88</a:t>
              </a:r>
            </a:p>
          </p:txBody>
        </p:sp>
        <p:pic>
          <p:nvPicPr>
            <p:cNvPr id="12" name="Picture 11">
              <a:extLst>
                <a:ext uri="{FF2B5EF4-FFF2-40B4-BE49-F238E27FC236}">
                  <a16:creationId xmlns:a16="http://schemas.microsoft.com/office/drawing/2014/main" id="{6A6643AB-2349-ECED-3151-101C5EEA03D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626600" y="4284950"/>
              <a:ext cx="7848600" cy="4714875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66357756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8" fill="hold">
                            <p:stCondLst>
                              <p:cond delay="250"/>
                            </p:stCondLst>
                            <p:childTnLst>
                              <p:par>
                                <p:cTn id="9" presetID="16" presetClass="entr" presetSubtype="21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1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7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6C45BB0-31E1-F788-FDCF-28EC58E3088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>
            <a:extLst>
              <a:ext uri="{FF2B5EF4-FFF2-40B4-BE49-F238E27FC236}">
                <a16:creationId xmlns:a16="http://schemas.microsoft.com/office/drawing/2014/main" id="{E5D190C0-F138-1D48-1FC8-716A2FE753C2}"/>
              </a:ext>
            </a:extLst>
          </p:cNvPr>
          <p:cNvSpPr txBox="1"/>
          <p:nvPr/>
        </p:nvSpPr>
        <p:spPr>
          <a:xfrm>
            <a:off x="3801485" y="503101"/>
            <a:ext cx="10384637" cy="1538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000"/>
              </a:lnSpc>
            </a:pPr>
            <a:r>
              <a:rPr lang="en-US" sz="12000">
                <a:solidFill>
                  <a:srgbClr val="051D40"/>
                </a:solidFill>
                <a:latin typeface="Bernoru SemiCondensed" panose="020B0604020202020204" charset="0"/>
                <a:ea typeface="Genty"/>
                <a:cs typeface="Genty"/>
                <a:sym typeface="Genty"/>
              </a:rPr>
              <a:t>Output:</a:t>
            </a:r>
          </a:p>
        </p:txBody>
      </p:sp>
      <p:grpSp>
        <p:nvGrpSpPr>
          <p:cNvPr id="2" name="Group 1">
            <a:extLst>
              <a:ext uri="{FF2B5EF4-FFF2-40B4-BE49-F238E27FC236}">
                <a16:creationId xmlns:a16="http://schemas.microsoft.com/office/drawing/2014/main" id="{452C696E-35C1-9B67-0A87-541D03D04872}"/>
              </a:ext>
            </a:extLst>
          </p:cNvPr>
          <p:cNvGrpSpPr/>
          <p:nvPr/>
        </p:nvGrpSpPr>
        <p:grpSpPr>
          <a:xfrm>
            <a:off x="393700" y="2080083"/>
            <a:ext cx="17589500" cy="7741915"/>
            <a:chOff x="393700" y="2080083"/>
            <a:chExt cx="17589500" cy="7741915"/>
          </a:xfrm>
        </p:grpSpPr>
        <p:grpSp>
          <p:nvGrpSpPr>
            <p:cNvPr id="13" name="Group 5">
              <a:extLst>
                <a:ext uri="{FF2B5EF4-FFF2-40B4-BE49-F238E27FC236}">
                  <a16:creationId xmlns:a16="http://schemas.microsoft.com/office/drawing/2014/main" id="{069E3C5D-6459-79D2-28C8-BDDC1DB39367}"/>
                </a:ext>
              </a:extLst>
            </p:cNvPr>
            <p:cNvGrpSpPr/>
            <p:nvPr/>
          </p:nvGrpSpPr>
          <p:grpSpPr>
            <a:xfrm>
              <a:off x="393700" y="2080083"/>
              <a:ext cx="17589500" cy="7741915"/>
              <a:chOff x="0" y="0"/>
              <a:chExt cx="1537717" cy="1177043"/>
            </a:xfrm>
          </p:grpSpPr>
          <p:sp>
            <p:nvSpPr>
              <p:cNvPr id="14" name="Freeform 6">
                <a:extLst>
                  <a:ext uri="{FF2B5EF4-FFF2-40B4-BE49-F238E27FC236}">
                    <a16:creationId xmlns:a16="http://schemas.microsoft.com/office/drawing/2014/main" id="{68C92CDF-E72E-E4C9-1FC3-6482D13BC4D3}"/>
                  </a:ext>
                </a:extLst>
              </p:cNvPr>
              <p:cNvSpPr/>
              <p:nvPr/>
            </p:nvSpPr>
            <p:spPr>
              <a:xfrm>
                <a:off x="0" y="0"/>
                <a:ext cx="1537717" cy="1177043"/>
              </a:xfrm>
              <a:custGeom>
                <a:avLst/>
                <a:gdLst/>
                <a:ahLst/>
                <a:cxnLst/>
                <a:rect l="l" t="t" r="r" b="b"/>
                <a:pathLst>
                  <a:path w="1537717" h="1177043">
                    <a:moveTo>
                      <a:pt x="74720" y="0"/>
                    </a:moveTo>
                    <a:lnTo>
                      <a:pt x="1462997" y="0"/>
                    </a:lnTo>
                    <a:cubicBezTo>
                      <a:pt x="1504264" y="0"/>
                      <a:pt x="1537717" y="33454"/>
                      <a:pt x="1537717" y="74720"/>
                    </a:cubicBezTo>
                    <a:lnTo>
                      <a:pt x="1537717" y="1102322"/>
                    </a:lnTo>
                    <a:cubicBezTo>
                      <a:pt x="1537717" y="1122139"/>
                      <a:pt x="1529845" y="1141145"/>
                      <a:pt x="1515832" y="1155158"/>
                    </a:cubicBezTo>
                    <a:cubicBezTo>
                      <a:pt x="1501819" y="1169170"/>
                      <a:pt x="1482814" y="1177043"/>
                      <a:pt x="1462997" y="1177043"/>
                    </a:cubicBezTo>
                    <a:lnTo>
                      <a:pt x="74720" y="1177043"/>
                    </a:lnTo>
                    <a:cubicBezTo>
                      <a:pt x="54903" y="1177043"/>
                      <a:pt x="35898" y="1169170"/>
                      <a:pt x="21885" y="1155158"/>
                    </a:cubicBezTo>
                    <a:cubicBezTo>
                      <a:pt x="7872" y="1141145"/>
                      <a:pt x="0" y="1122139"/>
                      <a:pt x="0" y="1102322"/>
                    </a:cubicBezTo>
                    <a:lnTo>
                      <a:pt x="0" y="74720"/>
                    </a:lnTo>
                    <a:cubicBezTo>
                      <a:pt x="0" y="54903"/>
                      <a:pt x="7872" y="35898"/>
                      <a:pt x="21885" y="21885"/>
                    </a:cubicBezTo>
                    <a:cubicBezTo>
                      <a:pt x="35898" y="7872"/>
                      <a:pt x="54903" y="0"/>
                      <a:pt x="74720" y="0"/>
                    </a:cubicBezTo>
                    <a:close/>
                  </a:path>
                </a:pathLst>
              </a:custGeom>
              <a:solidFill>
                <a:srgbClr val="B1D4E0"/>
              </a:solidFill>
            </p:spPr>
          </p:sp>
          <p:sp>
            <p:nvSpPr>
              <p:cNvPr id="15" name="TextBox 7">
                <a:extLst>
                  <a:ext uri="{FF2B5EF4-FFF2-40B4-BE49-F238E27FC236}">
                    <a16:creationId xmlns:a16="http://schemas.microsoft.com/office/drawing/2014/main" id="{315B72CE-1C8C-FB80-B758-6ED77B9D9435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537717" cy="121514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7" name="TextBox 9">
              <a:extLst>
                <a:ext uri="{FF2B5EF4-FFF2-40B4-BE49-F238E27FC236}">
                  <a16:creationId xmlns:a16="http://schemas.microsoft.com/office/drawing/2014/main" id="{F662B112-08E2-92B9-075B-BDCB40AF0826}"/>
                </a:ext>
              </a:extLst>
            </p:cNvPr>
            <p:cNvSpPr txBox="1"/>
            <p:nvPr/>
          </p:nvSpPr>
          <p:spPr>
            <a:xfrm>
              <a:off x="6400800" y="2292584"/>
              <a:ext cx="4699349" cy="5770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525"/>
                </a:lnSpc>
              </a:pPr>
              <a:r>
                <a:rPr lang="en-US" sz="4525">
                  <a:solidFill>
                    <a:srgbClr val="051D40"/>
                  </a:solidFill>
                  <a:latin typeface="Bernoru SemiCondensed" panose="020B0604020202020204" charset="0"/>
                  <a:ea typeface="Genty"/>
                  <a:cs typeface="Genty"/>
                  <a:sym typeface="Genty"/>
                </a:rPr>
                <a:t>INFIX to POSTFIX </a:t>
              </a:r>
            </a:p>
          </p:txBody>
        </p:sp>
        <p:pic>
          <p:nvPicPr>
            <p:cNvPr id="4" name="Picture 3">
              <a:extLst>
                <a:ext uri="{FF2B5EF4-FFF2-40B4-BE49-F238E27FC236}">
                  <a16:creationId xmlns:a16="http://schemas.microsoft.com/office/drawing/2014/main" id="{74E70DCE-7AD7-6995-A5F6-537A3B1C2BBB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533399" y="4377305"/>
              <a:ext cx="8096250" cy="4752975"/>
            </a:xfrm>
            <a:prstGeom prst="rect">
              <a:avLst/>
            </a:prstGeom>
          </p:spPr>
        </p:pic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7E963D89-DD8A-A5BE-D896-39F17B0E9E46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9721851" y="4272530"/>
              <a:ext cx="8020050" cy="4857750"/>
            </a:xfrm>
            <a:prstGeom prst="rect">
              <a:avLst/>
            </a:prstGeom>
          </p:spPr>
        </p:pic>
        <p:sp>
          <p:nvSpPr>
            <p:cNvPr id="7" name="TextBox 8">
              <a:extLst>
                <a:ext uri="{FF2B5EF4-FFF2-40B4-BE49-F238E27FC236}">
                  <a16:creationId xmlns:a16="http://schemas.microsoft.com/office/drawing/2014/main" id="{F626404F-A19B-5102-80A8-EBC5510EE710}"/>
                </a:ext>
              </a:extLst>
            </p:cNvPr>
            <p:cNvSpPr txBox="1"/>
            <p:nvPr/>
          </p:nvSpPr>
          <p:spPr>
            <a:xfrm>
              <a:off x="2004333" y="3161820"/>
              <a:ext cx="14226267" cy="923330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051D40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User Gives an expression then the program shows the postfix expression step by step </a:t>
              </a:r>
            </a:p>
          </p:txBody>
        </p:sp>
        <p:sp>
          <p:nvSpPr>
            <p:cNvPr id="9" name="TextBox 8">
              <a:extLst>
                <a:ext uri="{FF2B5EF4-FFF2-40B4-BE49-F238E27FC236}">
                  <a16:creationId xmlns:a16="http://schemas.microsoft.com/office/drawing/2014/main" id="{F6A10238-3D1D-3544-CE83-1D27397C0629}"/>
                </a:ext>
              </a:extLst>
            </p:cNvPr>
            <p:cNvSpPr txBox="1"/>
            <p:nvPr/>
          </p:nvSpPr>
          <p:spPr>
            <a:xfrm>
              <a:off x="8604249" y="6201851"/>
              <a:ext cx="1196067" cy="46166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051D40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. . .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026046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5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7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8EB3BD4-9D38-595D-937D-BFFC5A83D9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>
            <a:extLst>
              <a:ext uri="{FF2B5EF4-FFF2-40B4-BE49-F238E27FC236}">
                <a16:creationId xmlns:a16="http://schemas.microsoft.com/office/drawing/2014/main" id="{AB8F3D9B-F7E1-C09D-1E49-B23F1FCD2824}"/>
              </a:ext>
            </a:extLst>
          </p:cNvPr>
          <p:cNvSpPr txBox="1"/>
          <p:nvPr/>
        </p:nvSpPr>
        <p:spPr>
          <a:xfrm>
            <a:off x="3801485" y="503101"/>
            <a:ext cx="10384637" cy="1538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000"/>
              </a:lnSpc>
            </a:pPr>
            <a:r>
              <a:rPr lang="en-US" sz="12000">
                <a:solidFill>
                  <a:srgbClr val="051D40"/>
                </a:solidFill>
                <a:latin typeface="Bernoru SemiCondensed" panose="020B0604020202020204" charset="0"/>
                <a:ea typeface="Genty"/>
                <a:cs typeface="Genty"/>
                <a:sym typeface="Genty"/>
              </a:rPr>
              <a:t>Output:</a:t>
            </a:r>
          </a:p>
        </p:txBody>
      </p:sp>
      <p:grpSp>
        <p:nvGrpSpPr>
          <p:cNvPr id="5" name="Group 4">
            <a:extLst>
              <a:ext uri="{FF2B5EF4-FFF2-40B4-BE49-F238E27FC236}">
                <a16:creationId xmlns:a16="http://schemas.microsoft.com/office/drawing/2014/main" id="{2EA4A213-7A69-BCD2-D48F-251FE4AE8787}"/>
              </a:ext>
            </a:extLst>
          </p:cNvPr>
          <p:cNvGrpSpPr/>
          <p:nvPr/>
        </p:nvGrpSpPr>
        <p:grpSpPr>
          <a:xfrm>
            <a:off x="393700" y="2080083"/>
            <a:ext cx="17589500" cy="7741915"/>
            <a:chOff x="393700" y="2080083"/>
            <a:chExt cx="17589500" cy="7741915"/>
          </a:xfrm>
        </p:grpSpPr>
        <p:grpSp>
          <p:nvGrpSpPr>
            <p:cNvPr id="13" name="Group 5">
              <a:extLst>
                <a:ext uri="{FF2B5EF4-FFF2-40B4-BE49-F238E27FC236}">
                  <a16:creationId xmlns:a16="http://schemas.microsoft.com/office/drawing/2014/main" id="{CD93438E-D2F0-6C4D-D046-29BEE6629110}"/>
                </a:ext>
              </a:extLst>
            </p:cNvPr>
            <p:cNvGrpSpPr/>
            <p:nvPr/>
          </p:nvGrpSpPr>
          <p:grpSpPr>
            <a:xfrm>
              <a:off x="393700" y="2080083"/>
              <a:ext cx="17589500" cy="7741915"/>
              <a:chOff x="0" y="0"/>
              <a:chExt cx="1537717" cy="1177043"/>
            </a:xfrm>
          </p:grpSpPr>
          <p:sp>
            <p:nvSpPr>
              <p:cNvPr id="14" name="Freeform 6">
                <a:extLst>
                  <a:ext uri="{FF2B5EF4-FFF2-40B4-BE49-F238E27FC236}">
                    <a16:creationId xmlns:a16="http://schemas.microsoft.com/office/drawing/2014/main" id="{26879248-6960-6E72-287B-7E0B6AD81844}"/>
                  </a:ext>
                </a:extLst>
              </p:cNvPr>
              <p:cNvSpPr/>
              <p:nvPr/>
            </p:nvSpPr>
            <p:spPr>
              <a:xfrm>
                <a:off x="0" y="0"/>
                <a:ext cx="1537717" cy="1177043"/>
              </a:xfrm>
              <a:custGeom>
                <a:avLst/>
                <a:gdLst/>
                <a:ahLst/>
                <a:cxnLst/>
                <a:rect l="l" t="t" r="r" b="b"/>
                <a:pathLst>
                  <a:path w="1537717" h="1177043">
                    <a:moveTo>
                      <a:pt x="74720" y="0"/>
                    </a:moveTo>
                    <a:lnTo>
                      <a:pt x="1462997" y="0"/>
                    </a:lnTo>
                    <a:cubicBezTo>
                      <a:pt x="1504264" y="0"/>
                      <a:pt x="1537717" y="33454"/>
                      <a:pt x="1537717" y="74720"/>
                    </a:cubicBezTo>
                    <a:lnTo>
                      <a:pt x="1537717" y="1102322"/>
                    </a:lnTo>
                    <a:cubicBezTo>
                      <a:pt x="1537717" y="1122139"/>
                      <a:pt x="1529845" y="1141145"/>
                      <a:pt x="1515832" y="1155158"/>
                    </a:cubicBezTo>
                    <a:cubicBezTo>
                      <a:pt x="1501819" y="1169170"/>
                      <a:pt x="1482814" y="1177043"/>
                      <a:pt x="1462997" y="1177043"/>
                    </a:cubicBezTo>
                    <a:lnTo>
                      <a:pt x="74720" y="1177043"/>
                    </a:lnTo>
                    <a:cubicBezTo>
                      <a:pt x="54903" y="1177043"/>
                      <a:pt x="35898" y="1169170"/>
                      <a:pt x="21885" y="1155158"/>
                    </a:cubicBezTo>
                    <a:cubicBezTo>
                      <a:pt x="7872" y="1141145"/>
                      <a:pt x="0" y="1122139"/>
                      <a:pt x="0" y="1102322"/>
                    </a:cubicBezTo>
                    <a:lnTo>
                      <a:pt x="0" y="74720"/>
                    </a:lnTo>
                    <a:cubicBezTo>
                      <a:pt x="0" y="54903"/>
                      <a:pt x="7872" y="35898"/>
                      <a:pt x="21885" y="21885"/>
                    </a:cubicBezTo>
                    <a:cubicBezTo>
                      <a:pt x="35898" y="7872"/>
                      <a:pt x="54903" y="0"/>
                      <a:pt x="74720" y="0"/>
                    </a:cubicBezTo>
                    <a:close/>
                  </a:path>
                </a:pathLst>
              </a:custGeom>
              <a:solidFill>
                <a:srgbClr val="B1D4E0"/>
              </a:solidFill>
            </p:spPr>
          </p:sp>
          <p:sp>
            <p:nvSpPr>
              <p:cNvPr id="15" name="TextBox 7">
                <a:extLst>
                  <a:ext uri="{FF2B5EF4-FFF2-40B4-BE49-F238E27FC236}">
                    <a16:creationId xmlns:a16="http://schemas.microsoft.com/office/drawing/2014/main" id="{2D0CBF2B-BA57-3DC6-9AA1-FC04C78A08F5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537717" cy="121514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7" name="TextBox 9">
              <a:extLst>
                <a:ext uri="{FF2B5EF4-FFF2-40B4-BE49-F238E27FC236}">
                  <a16:creationId xmlns:a16="http://schemas.microsoft.com/office/drawing/2014/main" id="{BE941610-1809-9966-EFD8-6289DEFD2877}"/>
                </a:ext>
              </a:extLst>
            </p:cNvPr>
            <p:cNvSpPr txBox="1"/>
            <p:nvPr/>
          </p:nvSpPr>
          <p:spPr>
            <a:xfrm>
              <a:off x="6400800" y="2292584"/>
              <a:ext cx="4699349" cy="577081"/>
            </a:xfrm>
            <a:prstGeom prst="rect">
              <a:avLst/>
            </a:prstGeom>
          </p:spPr>
          <p:txBody>
            <a:bodyPr lIns="0" tIns="0" rIns="0" bIns="0" rtlCol="0" anchor="t">
              <a:spAutoFit/>
            </a:bodyPr>
            <a:lstStyle/>
            <a:p>
              <a:pPr algn="ctr">
                <a:lnSpc>
                  <a:spcPts val="4525"/>
                </a:lnSpc>
              </a:pPr>
              <a:r>
                <a:rPr lang="en-US" sz="4525">
                  <a:solidFill>
                    <a:srgbClr val="051D40"/>
                  </a:solidFill>
                  <a:latin typeface="Bernoru SemiCondensed" panose="020B0604020202020204" charset="0"/>
                  <a:ea typeface="Genty"/>
                  <a:cs typeface="Genty"/>
                  <a:sym typeface="Genty"/>
                </a:rPr>
                <a:t>POSTFIX to INFIX </a:t>
              </a:r>
            </a:p>
          </p:txBody>
        </p:sp>
        <p:sp>
          <p:nvSpPr>
            <p:cNvPr id="2" name="TextBox 8">
              <a:extLst>
                <a:ext uri="{FF2B5EF4-FFF2-40B4-BE49-F238E27FC236}">
                  <a16:creationId xmlns:a16="http://schemas.microsoft.com/office/drawing/2014/main" id="{EAA8ACA3-B890-C487-E3CB-2A9FC48432F4}"/>
                </a:ext>
              </a:extLst>
            </p:cNvPr>
            <p:cNvSpPr txBox="1"/>
            <p:nvPr/>
          </p:nvSpPr>
          <p:spPr>
            <a:xfrm>
              <a:off x="2004333" y="3161820"/>
              <a:ext cx="14226267" cy="46166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051D40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User Gives an expression then the program shows the infix expression step by step </a:t>
              </a:r>
            </a:p>
          </p:txBody>
        </p:sp>
        <p:sp>
          <p:nvSpPr>
            <p:cNvPr id="4" name="TextBox 3">
              <a:extLst>
                <a:ext uri="{FF2B5EF4-FFF2-40B4-BE49-F238E27FC236}">
                  <a16:creationId xmlns:a16="http://schemas.microsoft.com/office/drawing/2014/main" id="{A706E4AB-DDAA-F76B-B750-6E4565DB75CF}"/>
                </a:ext>
              </a:extLst>
            </p:cNvPr>
            <p:cNvSpPr txBox="1"/>
            <p:nvPr/>
          </p:nvSpPr>
          <p:spPr>
            <a:xfrm>
              <a:off x="8604249" y="6201851"/>
              <a:ext cx="1196067" cy="46166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600"/>
                </a:lnSpc>
              </a:pPr>
              <a:r>
                <a:rPr lang="en-US" sz="3000">
                  <a:solidFill>
                    <a:srgbClr val="051D40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. . .</a:t>
              </a:r>
            </a:p>
          </p:txBody>
        </p:sp>
        <p:pic>
          <p:nvPicPr>
            <p:cNvPr id="6" name="Picture 5">
              <a:extLst>
                <a:ext uri="{FF2B5EF4-FFF2-40B4-BE49-F238E27FC236}">
                  <a16:creationId xmlns:a16="http://schemas.microsoft.com/office/drawing/2014/main" id="{7241F493-F8E5-6C6C-BCF7-DB1E69E35E94}"/>
                </a:ext>
              </a:extLst>
            </p:cNvPr>
            <p:cNvPicPr>
              <a:picLocks noChangeAspect="1"/>
            </p:cNvPicPr>
            <p:nvPr/>
          </p:nvPicPr>
          <p:blipFill>
            <a:blip r:embed="rId2"/>
            <a:stretch>
              <a:fillRect/>
            </a:stretch>
          </p:blipFill>
          <p:spPr>
            <a:xfrm>
              <a:off x="9601200" y="3976802"/>
              <a:ext cx="8183117" cy="5001323"/>
            </a:xfrm>
            <a:prstGeom prst="rect">
              <a:avLst/>
            </a:prstGeom>
          </p:spPr>
        </p:pic>
        <p:pic>
          <p:nvPicPr>
            <p:cNvPr id="9" name="Picture 8">
              <a:extLst>
                <a:ext uri="{FF2B5EF4-FFF2-40B4-BE49-F238E27FC236}">
                  <a16:creationId xmlns:a16="http://schemas.microsoft.com/office/drawing/2014/main" id="{2FE5FFC4-4F2B-A3D9-A6B2-6F70513658C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rcRect r="5104"/>
            <a:stretch/>
          </p:blipFill>
          <p:spPr>
            <a:xfrm>
              <a:off x="662608" y="4013333"/>
              <a:ext cx="8125966" cy="4838700"/>
            </a:xfrm>
            <a:prstGeom prst="rect">
              <a:avLst/>
            </a:prstGeom>
          </p:spPr>
        </p:pic>
      </p:grpSp>
    </p:spTree>
    <p:extLst>
      <p:ext uri="{BB962C8B-B14F-4D97-AF65-F5344CB8AC3E}">
        <p14:creationId xmlns:p14="http://schemas.microsoft.com/office/powerpoint/2010/main" val="247087970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7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8C8B604-FBBA-3F9B-3672-B960F79A7F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>
            <a:extLst>
              <a:ext uri="{FF2B5EF4-FFF2-40B4-BE49-F238E27FC236}">
                <a16:creationId xmlns:a16="http://schemas.microsoft.com/office/drawing/2014/main" id="{E4014431-E34B-88AF-4322-0A2BB26AB1FC}"/>
              </a:ext>
            </a:extLst>
          </p:cNvPr>
          <p:cNvSpPr txBox="1"/>
          <p:nvPr/>
        </p:nvSpPr>
        <p:spPr>
          <a:xfrm>
            <a:off x="3801485" y="503101"/>
            <a:ext cx="10384637" cy="1538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000"/>
              </a:lnSpc>
            </a:pPr>
            <a:r>
              <a:rPr lang="en-US" sz="12000">
                <a:solidFill>
                  <a:srgbClr val="051D40"/>
                </a:solidFill>
                <a:latin typeface="Bernoru SemiCondensed" panose="020B0604020202020204" charset="0"/>
                <a:ea typeface="Genty"/>
                <a:cs typeface="Genty"/>
                <a:sym typeface="Genty"/>
              </a:rPr>
              <a:t>Output:</a:t>
            </a:r>
          </a:p>
        </p:txBody>
      </p:sp>
      <p:sp>
        <p:nvSpPr>
          <p:cNvPr id="3" name="Freeform 2">
            <a:extLst>
              <a:ext uri="{FF2B5EF4-FFF2-40B4-BE49-F238E27FC236}">
                <a16:creationId xmlns:a16="http://schemas.microsoft.com/office/drawing/2014/main" id="{BC052F02-B936-369D-8FFA-5457186CFFFA}"/>
              </a:ext>
            </a:extLst>
          </p:cNvPr>
          <p:cNvSpPr/>
          <p:nvPr/>
        </p:nvSpPr>
        <p:spPr>
          <a:xfrm>
            <a:off x="20107644" y="-3923071"/>
            <a:ext cx="8424068" cy="8413538"/>
          </a:xfrm>
          <a:custGeom>
            <a:avLst/>
            <a:gdLst/>
            <a:ahLst/>
            <a:cxnLst/>
            <a:rect l="l" t="t" r="r" b="b"/>
            <a:pathLst>
              <a:path w="8424068" h="8413538">
                <a:moveTo>
                  <a:pt x="0" y="0"/>
                </a:moveTo>
                <a:lnTo>
                  <a:pt x="8424068" y="0"/>
                </a:lnTo>
                <a:lnTo>
                  <a:pt x="8424068" y="8413538"/>
                </a:lnTo>
                <a:lnTo>
                  <a:pt x="0" y="84135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Freeform 3">
            <a:extLst>
              <a:ext uri="{FF2B5EF4-FFF2-40B4-BE49-F238E27FC236}">
                <a16:creationId xmlns:a16="http://schemas.microsoft.com/office/drawing/2014/main" id="{59524D9C-9175-14CA-94F0-064C01295AB3}"/>
              </a:ext>
            </a:extLst>
          </p:cNvPr>
          <p:cNvSpPr/>
          <p:nvPr/>
        </p:nvSpPr>
        <p:spPr>
          <a:xfrm rot="5400000">
            <a:off x="-9491911" y="4211623"/>
            <a:ext cx="7766021" cy="7756313"/>
          </a:xfrm>
          <a:custGeom>
            <a:avLst/>
            <a:gdLst/>
            <a:ahLst/>
            <a:cxnLst/>
            <a:rect l="l" t="t" r="r" b="b"/>
            <a:pathLst>
              <a:path w="7766021" h="7756313">
                <a:moveTo>
                  <a:pt x="0" y="0"/>
                </a:moveTo>
                <a:lnTo>
                  <a:pt x="7766020" y="0"/>
                </a:lnTo>
                <a:lnTo>
                  <a:pt x="7766020" y="7756313"/>
                </a:lnTo>
                <a:lnTo>
                  <a:pt x="0" y="77563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0" name="TextBox 8">
            <a:extLst>
              <a:ext uri="{FF2B5EF4-FFF2-40B4-BE49-F238E27FC236}">
                <a16:creationId xmlns:a16="http://schemas.microsoft.com/office/drawing/2014/main" id="{A1AE1E3E-20FC-6E83-8F16-50BC70DE6298}"/>
              </a:ext>
            </a:extLst>
          </p:cNvPr>
          <p:cNvSpPr txBox="1"/>
          <p:nvPr/>
        </p:nvSpPr>
        <p:spPr>
          <a:xfrm>
            <a:off x="3925147" y="10985806"/>
            <a:ext cx="10384637" cy="1538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000"/>
              </a:lnSpc>
            </a:pPr>
            <a:r>
              <a:rPr lang="en-US" sz="12000">
                <a:solidFill>
                  <a:srgbClr val="051D40"/>
                </a:solidFill>
                <a:latin typeface="Bernoru SemiCondensed" panose="020B0604020202020204" charset="0"/>
                <a:ea typeface="Genty"/>
                <a:cs typeface="Genty"/>
                <a:sym typeface="Genty"/>
              </a:rPr>
              <a:t>Importance: </a:t>
            </a:r>
          </a:p>
        </p:txBody>
      </p:sp>
      <p:grpSp>
        <p:nvGrpSpPr>
          <p:cNvPr id="12" name="Group 11">
            <a:extLst>
              <a:ext uri="{FF2B5EF4-FFF2-40B4-BE49-F238E27FC236}">
                <a16:creationId xmlns:a16="http://schemas.microsoft.com/office/drawing/2014/main" id="{ADB0E064-D1C0-09F3-D906-0EA13AE759FC}"/>
              </a:ext>
            </a:extLst>
          </p:cNvPr>
          <p:cNvGrpSpPr/>
          <p:nvPr/>
        </p:nvGrpSpPr>
        <p:grpSpPr>
          <a:xfrm>
            <a:off x="1752600" y="2080083"/>
            <a:ext cx="14226267" cy="7741915"/>
            <a:chOff x="1752600" y="2080083"/>
            <a:chExt cx="14226267" cy="7741915"/>
          </a:xfrm>
        </p:grpSpPr>
        <p:grpSp>
          <p:nvGrpSpPr>
            <p:cNvPr id="16" name="Group 5">
              <a:extLst>
                <a:ext uri="{FF2B5EF4-FFF2-40B4-BE49-F238E27FC236}">
                  <a16:creationId xmlns:a16="http://schemas.microsoft.com/office/drawing/2014/main" id="{98D4E8C5-0984-AF80-2450-A982867B43CC}"/>
                </a:ext>
              </a:extLst>
            </p:cNvPr>
            <p:cNvGrpSpPr/>
            <p:nvPr/>
          </p:nvGrpSpPr>
          <p:grpSpPr>
            <a:xfrm>
              <a:off x="3429000" y="2080083"/>
              <a:ext cx="11082915" cy="7741915"/>
              <a:chOff x="0" y="0"/>
              <a:chExt cx="1537717" cy="1177043"/>
            </a:xfrm>
          </p:grpSpPr>
          <p:sp>
            <p:nvSpPr>
              <p:cNvPr id="21" name="Freeform 6">
                <a:extLst>
                  <a:ext uri="{FF2B5EF4-FFF2-40B4-BE49-F238E27FC236}">
                    <a16:creationId xmlns:a16="http://schemas.microsoft.com/office/drawing/2014/main" id="{19076804-C38F-20A5-737E-C925D718913F}"/>
                  </a:ext>
                </a:extLst>
              </p:cNvPr>
              <p:cNvSpPr/>
              <p:nvPr/>
            </p:nvSpPr>
            <p:spPr>
              <a:xfrm>
                <a:off x="0" y="0"/>
                <a:ext cx="1537717" cy="1177043"/>
              </a:xfrm>
              <a:custGeom>
                <a:avLst/>
                <a:gdLst/>
                <a:ahLst/>
                <a:cxnLst/>
                <a:rect l="l" t="t" r="r" b="b"/>
                <a:pathLst>
                  <a:path w="1537717" h="1177043">
                    <a:moveTo>
                      <a:pt x="74720" y="0"/>
                    </a:moveTo>
                    <a:lnTo>
                      <a:pt x="1462997" y="0"/>
                    </a:lnTo>
                    <a:cubicBezTo>
                      <a:pt x="1504264" y="0"/>
                      <a:pt x="1537717" y="33454"/>
                      <a:pt x="1537717" y="74720"/>
                    </a:cubicBezTo>
                    <a:lnTo>
                      <a:pt x="1537717" y="1102322"/>
                    </a:lnTo>
                    <a:cubicBezTo>
                      <a:pt x="1537717" y="1122139"/>
                      <a:pt x="1529845" y="1141145"/>
                      <a:pt x="1515832" y="1155158"/>
                    </a:cubicBezTo>
                    <a:cubicBezTo>
                      <a:pt x="1501819" y="1169170"/>
                      <a:pt x="1482814" y="1177043"/>
                      <a:pt x="1462997" y="1177043"/>
                    </a:cubicBezTo>
                    <a:lnTo>
                      <a:pt x="74720" y="1177043"/>
                    </a:lnTo>
                    <a:cubicBezTo>
                      <a:pt x="54903" y="1177043"/>
                      <a:pt x="35898" y="1169170"/>
                      <a:pt x="21885" y="1155158"/>
                    </a:cubicBezTo>
                    <a:cubicBezTo>
                      <a:pt x="7872" y="1141145"/>
                      <a:pt x="0" y="1122139"/>
                      <a:pt x="0" y="1102322"/>
                    </a:cubicBezTo>
                    <a:lnTo>
                      <a:pt x="0" y="74720"/>
                    </a:lnTo>
                    <a:cubicBezTo>
                      <a:pt x="0" y="54903"/>
                      <a:pt x="7872" y="35898"/>
                      <a:pt x="21885" y="21885"/>
                    </a:cubicBezTo>
                    <a:cubicBezTo>
                      <a:pt x="35898" y="7872"/>
                      <a:pt x="54903" y="0"/>
                      <a:pt x="74720" y="0"/>
                    </a:cubicBezTo>
                    <a:close/>
                  </a:path>
                </a:pathLst>
              </a:custGeom>
              <a:solidFill>
                <a:srgbClr val="B1D4E0"/>
              </a:solidFill>
            </p:spPr>
          </p:sp>
          <p:sp>
            <p:nvSpPr>
              <p:cNvPr id="22" name="TextBox 7">
                <a:extLst>
                  <a:ext uri="{FF2B5EF4-FFF2-40B4-BE49-F238E27FC236}">
                    <a16:creationId xmlns:a16="http://schemas.microsoft.com/office/drawing/2014/main" id="{A1D33A4D-05ED-143C-81B5-082B2D73BE75}"/>
                  </a:ext>
                </a:extLst>
              </p:cNvPr>
              <p:cNvSpPr txBox="1"/>
              <p:nvPr/>
            </p:nvSpPr>
            <p:spPr>
              <a:xfrm>
                <a:off x="0" y="-38100"/>
                <a:ext cx="1537717" cy="121514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  <a:spcBef>
                    <a:spcPct val="0"/>
                  </a:spcBef>
                </a:pPr>
                <a:endParaRPr/>
              </a:p>
            </p:txBody>
          </p:sp>
        </p:grpSp>
        <p:sp>
          <p:nvSpPr>
            <p:cNvPr id="18" name="TextBox 9">
              <a:extLst>
                <a:ext uri="{FF2B5EF4-FFF2-40B4-BE49-F238E27FC236}">
                  <a16:creationId xmlns:a16="http://schemas.microsoft.com/office/drawing/2014/main" id="{88B2C6AF-87ED-1EAC-D661-4996205E3FB5}"/>
                </a:ext>
              </a:extLst>
            </p:cNvPr>
            <p:cNvSpPr txBox="1"/>
            <p:nvPr/>
          </p:nvSpPr>
          <p:spPr>
            <a:xfrm>
              <a:off x="3776085" y="2400300"/>
              <a:ext cx="9874250" cy="577081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4525"/>
                </a:lnSpc>
              </a:pPr>
              <a:r>
                <a:rPr lang="en-US" sz="4525" dirty="0">
                  <a:solidFill>
                    <a:srgbClr val="051D40"/>
                  </a:solidFill>
                  <a:latin typeface="Bernoru SemiCondensed" panose="020B0604020202020204" charset="0"/>
                  <a:ea typeface="Genty"/>
                  <a:cs typeface="Genty"/>
                  <a:sym typeface="Genty"/>
                </a:rPr>
                <a:t>Evaluate POSTFIX(numeric )  </a:t>
              </a:r>
            </a:p>
          </p:txBody>
        </p:sp>
        <p:pic>
          <p:nvPicPr>
            <p:cNvPr id="19" name="Picture 18">
              <a:extLst>
                <a:ext uri="{FF2B5EF4-FFF2-40B4-BE49-F238E27FC236}">
                  <a16:creationId xmlns:a16="http://schemas.microsoft.com/office/drawing/2014/main" id="{0A1CF656-5ACA-6BA8-E50A-074092265297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5078951" y="4533900"/>
              <a:ext cx="7783011" cy="4934639"/>
            </a:xfrm>
            <a:prstGeom prst="rect">
              <a:avLst/>
            </a:prstGeom>
          </p:spPr>
        </p:pic>
        <p:sp>
          <p:nvSpPr>
            <p:cNvPr id="20" name="TextBox 8">
              <a:extLst>
                <a:ext uri="{FF2B5EF4-FFF2-40B4-BE49-F238E27FC236}">
                  <a16:creationId xmlns:a16="http://schemas.microsoft.com/office/drawing/2014/main" id="{0C394DE9-C6E8-2525-B3F0-D2C993107EBB}"/>
                </a:ext>
              </a:extLst>
            </p:cNvPr>
            <p:cNvSpPr txBox="1"/>
            <p:nvPr/>
          </p:nvSpPr>
          <p:spPr>
            <a:xfrm>
              <a:off x="1752600" y="3367670"/>
              <a:ext cx="14226267" cy="461665"/>
            </a:xfrm>
            <a:prstGeom prst="rect">
              <a:avLst/>
            </a:prstGeom>
          </p:spPr>
          <p:txBody>
            <a:bodyPr wrap="square" lIns="0" tIns="0" rIns="0" bIns="0" rtlCol="0" anchor="t">
              <a:spAutoFit/>
            </a:bodyPr>
            <a:lstStyle/>
            <a:p>
              <a:pPr algn="ctr">
                <a:lnSpc>
                  <a:spcPts val="3600"/>
                </a:lnSpc>
              </a:pPr>
              <a:r>
                <a:rPr lang="en-US" sz="3000" dirty="0">
                  <a:solidFill>
                    <a:srgbClr val="051D40"/>
                  </a:solidFill>
                  <a:latin typeface="Nunito Sans"/>
                  <a:ea typeface="Nunito Sans"/>
                  <a:cs typeface="Nunito Sans"/>
                  <a:sym typeface="Nunito Sans"/>
                </a:rPr>
                <a:t>Evaluate numerical postfix expression to result  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1466444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5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7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CAAE1127-8F81-7953-294E-81DD9AB596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>
            <a:extLst>
              <a:ext uri="{FF2B5EF4-FFF2-40B4-BE49-F238E27FC236}">
                <a16:creationId xmlns:a16="http://schemas.microsoft.com/office/drawing/2014/main" id="{86DB8790-71D3-7B07-278D-00912858B573}"/>
              </a:ext>
            </a:extLst>
          </p:cNvPr>
          <p:cNvSpPr txBox="1"/>
          <p:nvPr/>
        </p:nvSpPr>
        <p:spPr>
          <a:xfrm>
            <a:off x="3801485" y="503101"/>
            <a:ext cx="10384637" cy="1538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000"/>
              </a:lnSpc>
            </a:pPr>
            <a:r>
              <a:rPr lang="en-US" sz="12000">
                <a:solidFill>
                  <a:srgbClr val="051D40"/>
                </a:solidFill>
                <a:latin typeface="Bernoru SemiCondensed" panose="020B0604020202020204" charset="0"/>
                <a:ea typeface="Genty"/>
                <a:cs typeface="Genty"/>
                <a:sym typeface="Genty"/>
              </a:rPr>
              <a:t>Importance: </a:t>
            </a:r>
          </a:p>
        </p:txBody>
      </p:sp>
      <p:sp>
        <p:nvSpPr>
          <p:cNvPr id="2" name="Freeform 2">
            <a:extLst>
              <a:ext uri="{FF2B5EF4-FFF2-40B4-BE49-F238E27FC236}">
                <a16:creationId xmlns:a16="http://schemas.microsoft.com/office/drawing/2014/main" id="{228D874B-E961-1876-FB2B-218ABE96BD49}"/>
              </a:ext>
            </a:extLst>
          </p:cNvPr>
          <p:cNvSpPr/>
          <p:nvPr/>
        </p:nvSpPr>
        <p:spPr>
          <a:xfrm>
            <a:off x="10201027" y="7841631"/>
            <a:ext cx="8424068" cy="8413538"/>
          </a:xfrm>
          <a:custGeom>
            <a:avLst/>
            <a:gdLst/>
            <a:ahLst/>
            <a:cxnLst/>
            <a:rect l="l" t="t" r="r" b="b"/>
            <a:pathLst>
              <a:path w="8424068" h="8413538">
                <a:moveTo>
                  <a:pt x="0" y="0"/>
                </a:moveTo>
                <a:lnTo>
                  <a:pt x="8424068" y="0"/>
                </a:lnTo>
                <a:lnTo>
                  <a:pt x="8424068" y="8413538"/>
                </a:lnTo>
                <a:lnTo>
                  <a:pt x="0" y="84135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3">
            <a:extLst>
              <a:ext uri="{FF2B5EF4-FFF2-40B4-BE49-F238E27FC236}">
                <a16:creationId xmlns:a16="http://schemas.microsoft.com/office/drawing/2014/main" id="{7ED25447-05C3-4725-274A-0A4BB5795E81}"/>
              </a:ext>
            </a:extLst>
          </p:cNvPr>
          <p:cNvSpPr/>
          <p:nvPr/>
        </p:nvSpPr>
        <p:spPr>
          <a:xfrm rot="5400000">
            <a:off x="-3413453" y="-5291692"/>
            <a:ext cx="7766021" cy="7756313"/>
          </a:xfrm>
          <a:custGeom>
            <a:avLst/>
            <a:gdLst/>
            <a:ahLst/>
            <a:cxnLst/>
            <a:rect l="l" t="t" r="r" b="b"/>
            <a:pathLst>
              <a:path w="7766021" h="7756313">
                <a:moveTo>
                  <a:pt x="0" y="0"/>
                </a:moveTo>
                <a:lnTo>
                  <a:pt x="7766020" y="0"/>
                </a:lnTo>
                <a:lnTo>
                  <a:pt x="7766020" y="7756313"/>
                </a:lnTo>
                <a:lnTo>
                  <a:pt x="0" y="77563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4D8A43B4-EEC5-03B5-3B08-8ED53445E387}"/>
              </a:ext>
            </a:extLst>
          </p:cNvPr>
          <p:cNvSpPr txBox="1"/>
          <p:nvPr/>
        </p:nvSpPr>
        <p:spPr>
          <a:xfrm>
            <a:off x="1400431" y="2469475"/>
            <a:ext cx="16418011" cy="6155531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>
              <a:lnSpc>
                <a:spcPts val="6000"/>
              </a:lnSpc>
              <a:buFont typeface="Arial" panose="020B0604020202020204" pitchFamily="34" charset="0"/>
              <a:buChar char="•"/>
            </a:pPr>
            <a:r>
              <a:rPr lang="en-US" sz="4400" b="1">
                <a:solidFill>
                  <a:schemeClr val="accent1"/>
                </a:solidFill>
                <a:latin typeface="__Inter_d65c78"/>
              </a:rPr>
              <a:t>Complexity: </a:t>
            </a:r>
            <a:r>
              <a:rPr lang="en-US" sz="4400" b="1">
                <a:latin typeface="__Inter_d65c78"/>
              </a:rPr>
              <a:t>Managing deeply nested expressions can be difficult.</a:t>
            </a:r>
          </a:p>
          <a:p>
            <a:pPr marL="571500" indent="-571500">
              <a:lnSpc>
                <a:spcPts val="6000"/>
              </a:lnSpc>
              <a:buFont typeface="Arial" panose="020B0604020202020204" pitchFamily="34" charset="0"/>
              <a:buChar char="•"/>
            </a:pPr>
            <a:r>
              <a:rPr lang="en-US" sz="4400" b="1">
                <a:solidFill>
                  <a:schemeClr val="accent1"/>
                </a:solidFill>
                <a:latin typeface="__Inter_d65c78"/>
              </a:rPr>
              <a:t>Precedence and Associativity: </a:t>
            </a:r>
            <a:r>
              <a:rPr lang="en-US" sz="4400" b="1">
                <a:latin typeface="__Inter_d65c78"/>
              </a:rPr>
              <a:t>Ensuring correct operator precedence and associativity requires careful handling.</a:t>
            </a:r>
          </a:p>
          <a:p>
            <a:pPr marL="571500" indent="-571500">
              <a:lnSpc>
                <a:spcPts val="6000"/>
              </a:lnSpc>
              <a:buFont typeface="Arial" panose="020B0604020202020204" pitchFamily="34" charset="0"/>
              <a:buChar char="•"/>
            </a:pPr>
            <a:r>
              <a:rPr lang="en-US" sz="4400" b="1">
                <a:solidFill>
                  <a:schemeClr val="accent1"/>
                </a:solidFill>
                <a:latin typeface="__Inter_d65c78"/>
              </a:rPr>
              <a:t>Error Handling: </a:t>
            </a:r>
            <a:r>
              <a:rPr lang="en-US" sz="4400" b="1">
                <a:latin typeface="__Inter_d65c78"/>
              </a:rPr>
              <a:t>Basic implementations may not handle errors gracefully, leading to incorrect results.</a:t>
            </a:r>
          </a:p>
          <a:p>
            <a:pPr marL="571500" indent="-571500">
              <a:lnSpc>
                <a:spcPts val="6000"/>
              </a:lnSpc>
              <a:buFont typeface="Arial" panose="020B0604020202020204" pitchFamily="34" charset="0"/>
              <a:buChar char="•"/>
            </a:pPr>
            <a:r>
              <a:rPr lang="en-US" sz="4400" b="1">
                <a:solidFill>
                  <a:schemeClr val="accent1"/>
                </a:solidFill>
                <a:latin typeface="__Inter_d65c78"/>
              </a:rPr>
              <a:t>Data Type Limitations: </a:t>
            </a:r>
            <a:r>
              <a:rPr lang="en-US" sz="4400" b="1">
                <a:latin typeface="__Inter_d65c78"/>
              </a:rPr>
              <a:t>Primarily designed for numeric expressions, with limited support for non-numeric data.</a:t>
            </a:r>
            <a:br>
              <a:rPr lang="en-US" sz="5400" b="0" i="0">
                <a:solidFill>
                  <a:srgbClr val="D1D5DB"/>
                </a:solidFill>
                <a:effectLst/>
                <a:latin typeface="__Inter_d65c78"/>
              </a:rPr>
            </a:br>
            <a:endParaRPr lang="en-US" sz="5400" b="1">
              <a:solidFill>
                <a:srgbClr val="FFFFFF"/>
              </a:solidFill>
              <a:latin typeface="__Inter_d65c78"/>
            </a:endParaRPr>
          </a:p>
        </p:txBody>
      </p:sp>
      <p:sp>
        <p:nvSpPr>
          <p:cNvPr id="19" name="TextBox 8">
            <a:extLst>
              <a:ext uri="{FF2B5EF4-FFF2-40B4-BE49-F238E27FC236}">
                <a16:creationId xmlns:a16="http://schemas.microsoft.com/office/drawing/2014/main" id="{A0C0A50A-51E7-AB0F-D5C6-A158568DCD9C}"/>
              </a:ext>
            </a:extLst>
          </p:cNvPr>
          <p:cNvSpPr txBox="1"/>
          <p:nvPr/>
        </p:nvSpPr>
        <p:spPr>
          <a:xfrm>
            <a:off x="-183610" y="10901204"/>
            <a:ext cx="10384637" cy="1538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000"/>
              </a:lnSpc>
            </a:pPr>
            <a:r>
              <a:rPr lang="en-US" sz="12000">
                <a:solidFill>
                  <a:srgbClr val="051D40"/>
                </a:solidFill>
                <a:latin typeface="Bernoru SemiCondensed" panose="020B0604020202020204" charset="0"/>
                <a:ea typeface="Genty"/>
                <a:cs typeface="Genty"/>
                <a:sym typeface="Genty"/>
              </a:rPr>
              <a:t>Conclusion: </a:t>
            </a:r>
          </a:p>
        </p:txBody>
      </p:sp>
      <p:sp>
        <p:nvSpPr>
          <p:cNvPr id="20" name="TextBox 8">
            <a:extLst>
              <a:ext uri="{FF2B5EF4-FFF2-40B4-BE49-F238E27FC236}">
                <a16:creationId xmlns:a16="http://schemas.microsoft.com/office/drawing/2014/main" id="{033EFC94-97B2-0474-6D5F-BE5A5597FDC1}"/>
              </a:ext>
            </a:extLst>
          </p:cNvPr>
          <p:cNvSpPr txBox="1"/>
          <p:nvPr/>
        </p:nvSpPr>
        <p:spPr>
          <a:xfrm>
            <a:off x="5890759" y="-2115049"/>
            <a:ext cx="10384637" cy="1538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000"/>
              </a:lnSpc>
            </a:pPr>
            <a:r>
              <a:rPr lang="en-US" sz="12000">
                <a:solidFill>
                  <a:srgbClr val="051D40"/>
                </a:solidFill>
                <a:latin typeface="Bernoru SemiCondensed" panose="020B0604020202020204" charset="0"/>
                <a:ea typeface="Genty"/>
                <a:cs typeface="Genty"/>
                <a:sym typeface="Genty"/>
              </a:rPr>
              <a:t>Output:</a:t>
            </a:r>
          </a:p>
        </p:txBody>
      </p:sp>
    </p:spTree>
    <p:extLst>
      <p:ext uri="{BB962C8B-B14F-4D97-AF65-F5344CB8AC3E}">
        <p14:creationId xmlns:p14="http://schemas.microsoft.com/office/powerpoint/2010/main" val="4204638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5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/>
    </p:bld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7FF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88C46DE-F250-0330-E52A-51D2C5B7993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extBox 8">
            <a:extLst>
              <a:ext uri="{FF2B5EF4-FFF2-40B4-BE49-F238E27FC236}">
                <a16:creationId xmlns:a16="http://schemas.microsoft.com/office/drawing/2014/main" id="{1C904535-6852-2128-666B-DD985645F905}"/>
              </a:ext>
            </a:extLst>
          </p:cNvPr>
          <p:cNvSpPr txBox="1"/>
          <p:nvPr/>
        </p:nvSpPr>
        <p:spPr>
          <a:xfrm>
            <a:off x="3752058" y="992332"/>
            <a:ext cx="10384637" cy="1538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000"/>
              </a:lnSpc>
            </a:pPr>
            <a:r>
              <a:rPr lang="en-US" sz="12000">
                <a:solidFill>
                  <a:srgbClr val="051D40"/>
                </a:solidFill>
                <a:latin typeface="Bernoru SemiCondensed" panose="020B0604020202020204" charset="0"/>
                <a:ea typeface="Genty"/>
                <a:cs typeface="Genty"/>
                <a:sym typeface="Genty"/>
              </a:rPr>
              <a:t>Conclusion: </a:t>
            </a:r>
          </a:p>
        </p:txBody>
      </p:sp>
      <p:sp>
        <p:nvSpPr>
          <p:cNvPr id="2" name="Freeform 2">
            <a:extLst>
              <a:ext uri="{FF2B5EF4-FFF2-40B4-BE49-F238E27FC236}">
                <a16:creationId xmlns:a16="http://schemas.microsoft.com/office/drawing/2014/main" id="{D9CAAE40-12F3-CAFA-C0B7-69A0FF977AF7}"/>
              </a:ext>
            </a:extLst>
          </p:cNvPr>
          <p:cNvSpPr/>
          <p:nvPr/>
        </p:nvSpPr>
        <p:spPr>
          <a:xfrm>
            <a:off x="12585563" y="-6211199"/>
            <a:ext cx="8424068" cy="8413538"/>
          </a:xfrm>
          <a:custGeom>
            <a:avLst/>
            <a:gdLst/>
            <a:ahLst/>
            <a:cxnLst/>
            <a:rect l="l" t="t" r="r" b="b"/>
            <a:pathLst>
              <a:path w="8424068" h="8413538">
                <a:moveTo>
                  <a:pt x="0" y="0"/>
                </a:moveTo>
                <a:lnTo>
                  <a:pt x="8424068" y="0"/>
                </a:lnTo>
                <a:lnTo>
                  <a:pt x="8424068" y="8413538"/>
                </a:lnTo>
                <a:lnTo>
                  <a:pt x="0" y="84135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6" name="Freeform 3">
            <a:extLst>
              <a:ext uri="{FF2B5EF4-FFF2-40B4-BE49-F238E27FC236}">
                <a16:creationId xmlns:a16="http://schemas.microsoft.com/office/drawing/2014/main" id="{828DF785-E281-EA3F-7DE7-C71C8B194E72}"/>
              </a:ext>
            </a:extLst>
          </p:cNvPr>
          <p:cNvSpPr/>
          <p:nvPr/>
        </p:nvSpPr>
        <p:spPr>
          <a:xfrm rot="5400000">
            <a:off x="-1902790" y="8592341"/>
            <a:ext cx="7766021" cy="7756313"/>
          </a:xfrm>
          <a:custGeom>
            <a:avLst/>
            <a:gdLst/>
            <a:ahLst/>
            <a:cxnLst/>
            <a:rect l="l" t="t" r="r" b="b"/>
            <a:pathLst>
              <a:path w="7766021" h="7756313">
                <a:moveTo>
                  <a:pt x="0" y="0"/>
                </a:moveTo>
                <a:lnTo>
                  <a:pt x="7766020" y="0"/>
                </a:lnTo>
                <a:lnTo>
                  <a:pt x="7766020" y="7756313"/>
                </a:lnTo>
                <a:lnTo>
                  <a:pt x="0" y="77563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7" name="TextBox 4">
            <a:extLst>
              <a:ext uri="{FF2B5EF4-FFF2-40B4-BE49-F238E27FC236}">
                <a16:creationId xmlns:a16="http://schemas.microsoft.com/office/drawing/2014/main" id="{92CF2800-5FE6-99DA-5801-3AC3F829C358}"/>
              </a:ext>
            </a:extLst>
          </p:cNvPr>
          <p:cNvSpPr txBox="1"/>
          <p:nvPr/>
        </p:nvSpPr>
        <p:spPr>
          <a:xfrm>
            <a:off x="-10444147" y="3182065"/>
            <a:ext cx="8698781" cy="5184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000"/>
              </a:lnSpc>
            </a:pPr>
            <a:r>
              <a:rPr lang="en-US" sz="20000">
                <a:solidFill>
                  <a:srgbClr val="051D40"/>
                </a:solidFill>
                <a:latin typeface="Genty"/>
                <a:ea typeface="Genty"/>
                <a:cs typeface="Genty"/>
                <a:sym typeface="Genty"/>
              </a:rPr>
              <a:t>Thank You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B98DFAA8-C8B1-F869-78D0-7DBD43841446}"/>
              </a:ext>
            </a:extLst>
          </p:cNvPr>
          <p:cNvSpPr txBox="1"/>
          <p:nvPr/>
        </p:nvSpPr>
        <p:spPr>
          <a:xfrm>
            <a:off x="1400431" y="2469475"/>
            <a:ext cx="16418011" cy="781752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marL="571500" indent="-571500">
              <a:lnSpc>
                <a:spcPts val="6000"/>
              </a:lnSpc>
              <a:buFont typeface="Arial" panose="020B0604020202020204" pitchFamily="34" charset="0"/>
              <a:buChar char="•"/>
            </a:pPr>
            <a:r>
              <a:rPr lang="en-US" sz="4400" b="1">
                <a:latin typeface="__Inter_d65c78"/>
              </a:rPr>
              <a:t>Core Concept:</a:t>
            </a:r>
            <a:r>
              <a:rPr lang="en-US" sz="4400">
                <a:latin typeface="__Inter_d65c78"/>
              </a:rPr>
              <a:t> Understanding infix, postfix, and infix conversions is essential for parsing and evaluating expressions in programming.</a:t>
            </a:r>
          </a:p>
          <a:p>
            <a:pPr marL="571500" indent="-571500">
              <a:lnSpc>
                <a:spcPts val="6000"/>
              </a:lnSpc>
              <a:buFont typeface="Arial" panose="020B0604020202020204" pitchFamily="34" charset="0"/>
              <a:buChar char="•"/>
            </a:pPr>
            <a:endParaRPr lang="en-US" sz="4400" b="1">
              <a:latin typeface="__Inter_d65c78"/>
            </a:endParaRPr>
          </a:p>
          <a:p>
            <a:pPr marL="571500" indent="-571500">
              <a:lnSpc>
                <a:spcPts val="6000"/>
              </a:lnSpc>
              <a:buFont typeface="Arial" panose="020B0604020202020204" pitchFamily="34" charset="0"/>
              <a:buChar char="•"/>
            </a:pPr>
            <a:r>
              <a:rPr lang="en-US" sz="4400" b="1">
                <a:latin typeface="__Inter_d65c78"/>
              </a:rPr>
              <a:t>Efficiency: </a:t>
            </a:r>
            <a:r>
              <a:rPr lang="en-US" sz="4400">
                <a:latin typeface="__Inter_d65c78"/>
              </a:rPr>
              <a:t>Postfix allows for efficient evaluation without parentheses, optimizing computational processes.</a:t>
            </a:r>
          </a:p>
          <a:p>
            <a:pPr marL="571500" indent="-571500">
              <a:lnSpc>
                <a:spcPts val="6000"/>
              </a:lnSpc>
              <a:buFont typeface="Arial" panose="020B0604020202020204" pitchFamily="34" charset="0"/>
              <a:buChar char="•"/>
            </a:pPr>
            <a:endParaRPr lang="en-US" sz="4400" b="1">
              <a:latin typeface="__Inter_d65c78"/>
            </a:endParaRPr>
          </a:p>
          <a:p>
            <a:pPr marL="571500" indent="-571500">
              <a:lnSpc>
                <a:spcPts val="6000"/>
              </a:lnSpc>
              <a:buFont typeface="Arial" panose="020B0604020202020204" pitchFamily="34" charset="0"/>
              <a:buChar char="•"/>
            </a:pPr>
            <a:r>
              <a:rPr lang="en-US" sz="4400" b="1">
                <a:latin typeface="__Inter_d65c78"/>
              </a:rPr>
              <a:t>Stack Utilization: </a:t>
            </a:r>
            <a:r>
              <a:rPr lang="en-US" sz="4400">
                <a:latin typeface="__Inter_d65c78"/>
              </a:rPr>
              <a:t>Demonstrates practical use of stacks, a key data structure in computer science.</a:t>
            </a:r>
            <a:endParaRPr lang="en-US" sz="5000">
              <a:latin typeface="Nunito Sans"/>
              <a:ea typeface="Nunito Sans"/>
              <a:cs typeface="Nunito Sans"/>
              <a:sym typeface="Nunito Sans"/>
            </a:endParaRPr>
          </a:p>
          <a:p>
            <a:pPr>
              <a:buNone/>
            </a:pPr>
            <a:br>
              <a:rPr lang="en-US" sz="5400" b="0" i="0">
                <a:solidFill>
                  <a:srgbClr val="D1D5DB"/>
                </a:solidFill>
                <a:effectLst/>
                <a:latin typeface="__Inter_d65c78"/>
              </a:rPr>
            </a:br>
            <a:endParaRPr lang="en-US" sz="5400" b="1">
              <a:solidFill>
                <a:srgbClr val="FFFFFF"/>
              </a:solidFill>
              <a:latin typeface="__Inter_d65c78"/>
            </a:endParaRPr>
          </a:p>
        </p:txBody>
      </p:sp>
    </p:spTree>
    <p:extLst>
      <p:ext uri="{BB962C8B-B14F-4D97-AF65-F5344CB8AC3E}">
        <p14:creationId xmlns:p14="http://schemas.microsoft.com/office/powerpoint/2010/main" val="9362130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25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EF7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13563600" y="2171700"/>
            <a:ext cx="8424068" cy="8413538"/>
          </a:xfrm>
          <a:custGeom>
            <a:avLst/>
            <a:gdLst/>
            <a:ahLst/>
            <a:cxnLst/>
            <a:rect l="l" t="t" r="r" b="b"/>
            <a:pathLst>
              <a:path w="8424068" h="8413538">
                <a:moveTo>
                  <a:pt x="0" y="0"/>
                </a:moveTo>
                <a:lnTo>
                  <a:pt x="8424068" y="0"/>
                </a:lnTo>
                <a:lnTo>
                  <a:pt x="8424068" y="8413538"/>
                </a:lnTo>
                <a:lnTo>
                  <a:pt x="0" y="8413538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-3429000" y="0"/>
            <a:ext cx="7766021" cy="7756313"/>
          </a:xfrm>
          <a:custGeom>
            <a:avLst/>
            <a:gdLst/>
            <a:ahLst/>
            <a:cxnLst/>
            <a:rect l="l" t="t" r="r" b="b"/>
            <a:pathLst>
              <a:path w="7766021" h="7756313">
                <a:moveTo>
                  <a:pt x="0" y="0"/>
                </a:moveTo>
                <a:lnTo>
                  <a:pt x="7766020" y="0"/>
                </a:lnTo>
                <a:lnTo>
                  <a:pt x="7766020" y="7756313"/>
                </a:lnTo>
                <a:lnTo>
                  <a:pt x="0" y="7756313"/>
                </a:lnTo>
                <a:lnTo>
                  <a:pt x="0" y="0"/>
                </a:lnTo>
                <a:close/>
              </a:path>
            </a:pathLst>
          </a:custGeom>
          <a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4794610" y="2746375"/>
            <a:ext cx="8698781" cy="518477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0000"/>
              </a:lnSpc>
            </a:pPr>
            <a:r>
              <a:rPr lang="en-US" sz="20000">
                <a:solidFill>
                  <a:srgbClr val="051D40"/>
                </a:solidFill>
                <a:latin typeface="Genty"/>
                <a:ea typeface="Genty"/>
                <a:cs typeface="Genty"/>
                <a:sym typeface="Genty"/>
              </a:rPr>
              <a:t>Thank You</a:t>
            </a:r>
          </a:p>
        </p:txBody>
      </p:sp>
      <p:sp>
        <p:nvSpPr>
          <p:cNvPr id="6" name="TextBox 8">
            <a:extLst>
              <a:ext uri="{FF2B5EF4-FFF2-40B4-BE49-F238E27FC236}">
                <a16:creationId xmlns:a16="http://schemas.microsoft.com/office/drawing/2014/main" id="{754B1FE7-3111-7AFF-317D-5075C0ADAF8D}"/>
              </a:ext>
            </a:extLst>
          </p:cNvPr>
          <p:cNvSpPr txBox="1"/>
          <p:nvPr/>
        </p:nvSpPr>
        <p:spPr>
          <a:xfrm>
            <a:off x="4794610" y="-3589932"/>
            <a:ext cx="10384637" cy="1538883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12000"/>
              </a:lnSpc>
            </a:pPr>
            <a:r>
              <a:rPr lang="en-US" sz="12000">
                <a:solidFill>
                  <a:srgbClr val="051D40"/>
                </a:solidFill>
                <a:latin typeface="Bernoru SemiCondensed" panose="020B0604020202020204" charset="0"/>
                <a:ea typeface="Genty"/>
                <a:cs typeface="Genty"/>
                <a:sym typeface="Genty"/>
              </a:rPr>
              <a:t>Conclusion: </a:t>
            </a:r>
          </a:p>
        </p:txBody>
      </p:sp>
    </p:spTree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818</Words>
  <Application>Microsoft Office PowerPoint</Application>
  <PresentationFormat>Custom</PresentationFormat>
  <Paragraphs>186</Paragraphs>
  <Slides>28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28</vt:i4>
      </vt:variant>
    </vt:vector>
  </HeadingPairs>
  <TitlesOfParts>
    <vt:vector size="37" baseType="lpstr">
      <vt:lpstr>Google Sans</vt:lpstr>
      <vt:lpstr>Nunito Sans Bold</vt:lpstr>
      <vt:lpstr>Nunito Sans</vt:lpstr>
      <vt:lpstr>Arial</vt:lpstr>
      <vt:lpstr>Bernoru SemiCondensed</vt:lpstr>
      <vt:lpstr>Calibri</vt:lpstr>
      <vt:lpstr>Genty</vt:lpstr>
      <vt:lpstr>__Inter_d65c78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Stack machine ISA</dc:title>
  <dc:creator>User</dc:creator>
  <cp:lastModifiedBy>Mohua Akter </cp:lastModifiedBy>
  <cp:revision>2</cp:revision>
  <dcterms:created xsi:type="dcterms:W3CDTF">2006-08-16T00:00:00Z</dcterms:created>
  <dcterms:modified xsi:type="dcterms:W3CDTF">2025-05-20T19:21:33Z</dcterms:modified>
  <dc:identifier>DAGn3hk2f3k</dc:identifier>
</cp:coreProperties>
</file>